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95" r:id="rId4"/>
    <p:sldId id="259" r:id="rId5"/>
    <p:sldId id="260" r:id="rId6"/>
    <p:sldId id="261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2BAD79-43AE-4B1E-80F4-E3AFDC28B6AE}" type="datetimeFigureOut">
              <a:t>9/13/2026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75081F-37DF-404E-BAC5-79D385AF9DF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152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32EA5-3165-0C20-ED5D-7ECEB5F94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660053-366F-ED83-8548-92722129A6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3733E7-89D3-150D-048B-411DCE09D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224BCD-D83D-3B1F-E440-0BD86F4ACB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062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E364F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E364F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E364F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E364F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920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45560" y="172974"/>
            <a:ext cx="5407659" cy="426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E364F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0052" y="1493898"/>
            <a:ext cx="6339205" cy="4622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26" Type="http://schemas.openxmlformats.org/officeDocument/2006/relationships/image" Target="../media/image42.png"/><Relationship Id="rId39" Type="http://schemas.openxmlformats.org/officeDocument/2006/relationships/image" Target="../media/image55.png"/><Relationship Id="rId21" Type="http://schemas.openxmlformats.org/officeDocument/2006/relationships/image" Target="../media/image37.png"/><Relationship Id="rId34" Type="http://schemas.openxmlformats.org/officeDocument/2006/relationships/image" Target="../media/image50.png"/><Relationship Id="rId42" Type="http://schemas.openxmlformats.org/officeDocument/2006/relationships/image" Target="../media/image58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29" Type="http://schemas.openxmlformats.org/officeDocument/2006/relationships/image" Target="../media/image45.png"/><Relationship Id="rId41" Type="http://schemas.openxmlformats.org/officeDocument/2006/relationships/image" Target="../media/image5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24" Type="http://schemas.openxmlformats.org/officeDocument/2006/relationships/image" Target="../media/image40.png"/><Relationship Id="rId32" Type="http://schemas.openxmlformats.org/officeDocument/2006/relationships/image" Target="../media/image48.png"/><Relationship Id="rId37" Type="http://schemas.openxmlformats.org/officeDocument/2006/relationships/image" Target="../media/image53.png"/><Relationship Id="rId40" Type="http://schemas.openxmlformats.org/officeDocument/2006/relationships/image" Target="../media/image56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23" Type="http://schemas.openxmlformats.org/officeDocument/2006/relationships/image" Target="../media/image39.png"/><Relationship Id="rId28" Type="http://schemas.openxmlformats.org/officeDocument/2006/relationships/image" Target="../media/image44.png"/><Relationship Id="rId36" Type="http://schemas.openxmlformats.org/officeDocument/2006/relationships/image" Target="../media/image52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31" Type="http://schemas.openxmlformats.org/officeDocument/2006/relationships/image" Target="../media/image47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Relationship Id="rId22" Type="http://schemas.openxmlformats.org/officeDocument/2006/relationships/image" Target="../media/image38.png"/><Relationship Id="rId27" Type="http://schemas.openxmlformats.org/officeDocument/2006/relationships/image" Target="../media/image43.png"/><Relationship Id="rId30" Type="http://schemas.openxmlformats.org/officeDocument/2006/relationships/image" Target="../media/image46.png"/><Relationship Id="rId35" Type="http://schemas.openxmlformats.org/officeDocument/2006/relationships/image" Target="../media/image51.png"/><Relationship Id="rId43" Type="http://schemas.openxmlformats.org/officeDocument/2006/relationships/image" Target="../media/image59.png"/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5" Type="http://schemas.openxmlformats.org/officeDocument/2006/relationships/image" Target="../media/image41.png"/><Relationship Id="rId33" Type="http://schemas.openxmlformats.org/officeDocument/2006/relationships/image" Target="../media/image49.png"/><Relationship Id="rId38" Type="http://schemas.openxmlformats.org/officeDocument/2006/relationships/image" Target="../media/image5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6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12" Type="http://schemas.openxmlformats.org/officeDocument/2006/relationships/image" Target="../media/image7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11" Type="http://schemas.openxmlformats.org/officeDocument/2006/relationships/image" Target="../media/image74.png"/><Relationship Id="rId5" Type="http://schemas.openxmlformats.org/officeDocument/2006/relationships/image" Target="../media/image69.png"/><Relationship Id="rId10" Type="http://schemas.openxmlformats.org/officeDocument/2006/relationships/image" Target="../media/image73.png"/><Relationship Id="rId4" Type="http://schemas.openxmlformats.org/officeDocument/2006/relationships/image" Target="../media/image68.png"/><Relationship Id="rId9" Type="http://schemas.openxmlformats.org/officeDocument/2006/relationships/image" Target="../media/image6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community.wmo.int/site/knowledge-hub/programmes-and-initiatives/wmo-information-system-wis/wis2-overview" TargetMode="External"/><Relationship Id="rId3" Type="http://schemas.openxmlformats.org/officeDocument/2006/relationships/image" Target="../media/image77.png"/><Relationship Id="rId7" Type="http://schemas.openxmlformats.org/officeDocument/2006/relationships/hyperlink" Target="https://cds.climate.copernicus.eu/datasets/reanalysis-era5-single-levels?tab=overview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.atmos.washington.edu/wrfrt/gfsinit.html" TargetMode="External"/><Relationship Id="rId5" Type="http://schemas.openxmlformats.org/officeDocument/2006/relationships/hyperlink" Target="https://mausam.imd.gov.in/index_en.php" TargetMode="External"/><Relationship Id="rId10" Type="http://schemas.openxmlformats.org/officeDocument/2006/relationships/image" Target="../media/image79.png"/><Relationship Id="rId4" Type="http://schemas.openxmlformats.org/officeDocument/2006/relationships/image" Target="../media/image78.png"/><Relationship Id="rId9" Type="http://schemas.openxmlformats.org/officeDocument/2006/relationships/hyperlink" Target="https://www.data.gov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57818" y="847725"/>
            <a:ext cx="4638675" cy="5162550"/>
            <a:chOff x="5657818" y="847725"/>
            <a:chExt cx="4638675" cy="5162550"/>
          </a:xfrm>
        </p:grpSpPr>
        <p:sp>
          <p:nvSpPr>
            <p:cNvPr id="3" name="object 3"/>
            <p:cNvSpPr/>
            <p:nvPr/>
          </p:nvSpPr>
          <p:spPr>
            <a:xfrm>
              <a:off x="5657818" y="847725"/>
              <a:ext cx="4638675" cy="5162550"/>
            </a:xfrm>
            <a:custGeom>
              <a:avLst/>
              <a:gdLst/>
              <a:ahLst/>
              <a:cxnLst/>
              <a:rect l="l" t="t" r="r" b="b"/>
              <a:pathLst>
                <a:path w="4638675" h="5162550">
                  <a:moveTo>
                    <a:pt x="1873281" y="0"/>
                  </a:moveTo>
                  <a:lnTo>
                    <a:pt x="1179988" y="0"/>
                  </a:lnTo>
                  <a:lnTo>
                    <a:pt x="1147335" y="5790"/>
                  </a:lnTo>
                  <a:lnTo>
                    <a:pt x="1092174" y="48756"/>
                  </a:lnTo>
                  <a:lnTo>
                    <a:pt x="1072165" y="83692"/>
                  </a:lnTo>
                  <a:lnTo>
                    <a:pt x="726344" y="882523"/>
                  </a:lnTo>
                  <a:lnTo>
                    <a:pt x="713700" y="922043"/>
                  </a:lnTo>
                  <a:lnTo>
                    <a:pt x="709485" y="964184"/>
                  </a:lnTo>
                  <a:lnTo>
                    <a:pt x="713700" y="1006324"/>
                  </a:lnTo>
                  <a:lnTo>
                    <a:pt x="726344" y="1045845"/>
                  </a:lnTo>
                  <a:lnTo>
                    <a:pt x="1072165" y="1844675"/>
                  </a:lnTo>
                  <a:lnTo>
                    <a:pt x="1092184" y="1879615"/>
                  </a:lnTo>
                  <a:lnTo>
                    <a:pt x="1118520" y="1906397"/>
                  </a:lnTo>
                  <a:lnTo>
                    <a:pt x="1092866" y="1965960"/>
                  </a:lnTo>
                  <a:lnTo>
                    <a:pt x="786923" y="2672207"/>
                  </a:lnTo>
                  <a:lnTo>
                    <a:pt x="769379" y="2718113"/>
                  </a:lnTo>
                  <a:lnTo>
                    <a:pt x="756848" y="2766349"/>
                  </a:lnTo>
                  <a:lnTo>
                    <a:pt x="749329" y="2816140"/>
                  </a:lnTo>
                  <a:lnTo>
                    <a:pt x="746823" y="2866707"/>
                  </a:lnTo>
                  <a:lnTo>
                    <a:pt x="749329" y="2917274"/>
                  </a:lnTo>
                  <a:lnTo>
                    <a:pt x="756848" y="2967065"/>
                  </a:lnTo>
                  <a:lnTo>
                    <a:pt x="769379" y="3015301"/>
                  </a:lnTo>
                  <a:lnTo>
                    <a:pt x="786923" y="3061207"/>
                  </a:lnTo>
                  <a:lnTo>
                    <a:pt x="1610645" y="4963325"/>
                  </a:lnTo>
                  <a:lnTo>
                    <a:pt x="1636086" y="5013193"/>
                  </a:lnTo>
                  <a:lnTo>
                    <a:pt x="1666206" y="5056755"/>
                  </a:lnTo>
                  <a:lnTo>
                    <a:pt x="1700442" y="5093514"/>
                  </a:lnTo>
                  <a:lnTo>
                    <a:pt x="1738233" y="5122970"/>
                  </a:lnTo>
                  <a:lnTo>
                    <a:pt x="1779017" y="5144627"/>
                  </a:lnTo>
                  <a:lnTo>
                    <a:pt x="1822230" y="5157986"/>
                  </a:lnTo>
                  <a:lnTo>
                    <a:pt x="1867312" y="5162550"/>
                  </a:lnTo>
                  <a:lnTo>
                    <a:pt x="3518185" y="5162550"/>
                  </a:lnTo>
                  <a:lnTo>
                    <a:pt x="3562144" y="5157986"/>
                  </a:lnTo>
                  <a:lnTo>
                    <a:pt x="3604868" y="5144627"/>
                  </a:lnTo>
                  <a:lnTo>
                    <a:pt x="3645541" y="5122970"/>
                  </a:lnTo>
                  <a:lnTo>
                    <a:pt x="3683349" y="5093514"/>
                  </a:lnTo>
                  <a:lnTo>
                    <a:pt x="3717475" y="5056755"/>
                  </a:lnTo>
                  <a:lnTo>
                    <a:pt x="3747105" y="5013193"/>
                  </a:lnTo>
                  <a:lnTo>
                    <a:pt x="3771423" y="4963325"/>
                  </a:lnTo>
                  <a:lnTo>
                    <a:pt x="4598574" y="3061208"/>
                  </a:lnTo>
                  <a:lnTo>
                    <a:pt x="4616118" y="3015301"/>
                  </a:lnTo>
                  <a:lnTo>
                    <a:pt x="4628649" y="2967065"/>
                  </a:lnTo>
                  <a:lnTo>
                    <a:pt x="4636168" y="2917274"/>
                  </a:lnTo>
                  <a:lnTo>
                    <a:pt x="4638674" y="2866707"/>
                  </a:lnTo>
                  <a:lnTo>
                    <a:pt x="4636168" y="2816140"/>
                  </a:lnTo>
                  <a:lnTo>
                    <a:pt x="4628649" y="2766349"/>
                  </a:lnTo>
                  <a:lnTo>
                    <a:pt x="4616118" y="2718113"/>
                  </a:lnTo>
                  <a:lnTo>
                    <a:pt x="4598574" y="2672207"/>
                  </a:lnTo>
                  <a:lnTo>
                    <a:pt x="4271016" y="1918970"/>
                  </a:lnTo>
                  <a:lnTo>
                    <a:pt x="1177067" y="1918970"/>
                  </a:lnTo>
                  <a:lnTo>
                    <a:pt x="1168717" y="1918594"/>
                  </a:lnTo>
                  <a:lnTo>
                    <a:pt x="1160462" y="1917493"/>
                  </a:lnTo>
                  <a:lnTo>
                    <a:pt x="1152350" y="1915701"/>
                  </a:lnTo>
                  <a:lnTo>
                    <a:pt x="1144428" y="1913254"/>
                  </a:lnTo>
                  <a:lnTo>
                    <a:pt x="1125124" y="1902460"/>
                  </a:lnTo>
                  <a:lnTo>
                    <a:pt x="1143793" y="1859407"/>
                  </a:lnTo>
                  <a:lnTo>
                    <a:pt x="1168685" y="1801622"/>
                  </a:lnTo>
                  <a:lnTo>
                    <a:pt x="1131949" y="1761112"/>
                  </a:lnTo>
                  <a:lnTo>
                    <a:pt x="817149" y="1036574"/>
                  </a:lnTo>
                  <a:lnTo>
                    <a:pt x="802200" y="964184"/>
                  </a:lnTo>
                  <a:lnTo>
                    <a:pt x="805934" y="926792"/>
                  </a:lnTo>
                  <a:lnTo>
                    <a:pt x="1123727" y="183641"/>
                  </a:lnTo>
                  <a:lnTo>
                    <a:pt x="1164066" y="129254"/>
                  </a:lnTo>
                  <a:lnTo>
                    <a:pt x="1219358" y="109347"/>
                  </a:lnTo>
                  <a:lnTo>
                    <a:pt x="1990742" y="109347"/>
                  </a:lnTo>
                  <a:lnTo>
                    <a:pt x="1979580" y="83692"/>
                  </a:lnTo>
                  <a:lnTo>
                    <a:pt x="1960239" y="48756"/>
                  </a:lnTo>
                  <a:lnTo>
                    <a:pt x="1934860" y="22415"/>
                  </a:lnTo>
                  <a:lnTo>
                    <a:pt x="1905267" y="5790"/>
                  </a:lnTo>
                  <a:lnTo>
                    <a:pt x="1873281" y="0"/>
                  </a:lnTo>
                  <a:close/>
                </a:path>
                <a:path w="4638675" h="5162550">
                  <a:moveTo>
                    <a:pt x="673766" y="3129788"/>
                  </a:moveTo>
                  <a:lnTo>
                    <a:pt x="272446" y="3129788"/>
                  </a:lnTo>
                  <a:lnTo>
                    <a:pt x="253539" y="3133133"/>
                  </a:lnTo>
                  <a:lnTo>
                    <a:pt x="221583" y="3157970"/>
                  </a:lnTo>
                  <a:lnTo>
                    <a:pt x="9810" y="3640581"/>
                  </a:lnTo>
                  <a:lnTo>
                    <a:pt x="0" y="3687889"/>
                  </a:lnTo>
                  <a:lnTo>
                    <a:pt x="2452" y="3712305"/>
                  </a:lnTo>
                  <a:lnTo>
                    <a:pt x="209962" y="4197604"/>
                  </a:lnTo>
                  <a:lnTo>
                    <a:pt x="236347" y="4233037"/>
                  </a:lnTo>
                  <a:lnTo>
                    <a:pt x="272446" y="4245991"/>
                  </a:lnTo>
                  <a:lnTo>
                    <a:pt x="673766" y="4245991"/>
                  </a:lnTo>
                  <a:lnTo>
                    <a:pt x="724076" y="4217808"/>
                  </a:lnTo>
                  <a:lnTo>
                    <a:pt x="936402" y="3735197"/>
                  </a:lnTo>
                  <a:lnTo>
                    <a:pt x="946118" y="3687889"/>
                  </a:lnTo>
                  <a:lnTo>
                    <a:pt x="943689" y="3663473"/>
                  </a:lnTo>
                  <a:lnTo>
                    <a:pt x="735234" y="3178175"/>
                  </a:lnTo>
                  <a:lnTo>
                    <a:pt x="709406" y="3142742"/>
                  </a:lnTo>
                  <a:lnTo>
                    <a:pt x="673766" y="3129788"/>
                  </a:lnTo>
                  <a:close/>
                </a:path>
                <a:path w="4638675" h="5162550">
                  <a:moveTo>
                    <a:pt x="3518185" y="570864"/>
                  </a:moveTo>
                  <a:lnTo>
                    <a:pt x="2192686" y="570864"/>
                  </a:lnTo>
                  <a:lnTo>
                    <a:pt x="2324131" y="873125"/>
                  </a:lnTo>
                  <a:lnTo>
                    <a:pt x="2336776" y="912645"/>
                  </a:lnTo>
                  <a:lnTo>
                    <a:pt x="2340986" y="954833"/>
                  </a:lnTo>
                  <a:lnTo>
                    <a:pt x="2336776" y="996926"/>
                  </a:lnTo>
                  <a:lnTo>
                    <a:pt x="2324076" y="1036574"/>
                  </a:lnTo>
                  <a:lnTo>
                    <a:pt x="1976659" y="1835277"/>
                  </a:lnTo>
                  <a:lnTo>
                    <a:pt x="1957318" y="1870213"/>
                  </a:lnTo>
                  <a:lnTo>
                    <a:pt x="1931939" y="1896554"/>
                  </a:lnTo>
                  <a:lnTo>
                    <a:pt x="1902212" y="1913254"/>
                  </a:lnTo>
                  <a:lnTo>
                    <a:pt x="1901930" y="1913254"/>
                  </a:lnTo>
                  <a:lnTo>
                    <a:pt x="1870360" y="1918970"/>
                  </a:lnTo>
                  <a:lnTo>
                    <a:pt x="4271016" y="1918970"/>
                  </a:lnTo>
                  <a:lnTo>
                    <a:pt x="3771423" y="770127"/>
                  </a:lnTo>
                  <a:lnTo>
                    <a:pt x="3747105" y="720261"/>
                  </a:lnTo>
                  <a:lnTo>
                    <a:pt x="3717475" y="676695"/>
                  </a:lnTo>
                  <a:lnTo>
                    <a:pt x="3683349" y="639929"/>
                  </a:lnTo>
                  <a:lnTo>
                    <a:pt x="3645541" y="610463"/>
                  </a:lnTo>
                  <a:lnTo>
                    <a:pt x="3604868" y="588797"/>
                  </a:lnTo>
                  <a:lnTo>
                    <a:pt x="3562144" y="575431"/>
                  </a:lnTo>
                  <a:lnTo>
                    <a:pt x="3518185" y="570864"/>
                  </a:lnTo>
                  <a:close/>
                </a:path>
                <a:path w="4638675" h="5162550">
                  <a:moveTo>
                    <a:pt x="2097817" y="570864"/>
                  </a:moveTo>
                  <a:lnTo>
                    <a:pt x="1867312" y="570864"/>
                  </a:lnTo>
                  <a:lnTo>
                    <a:pt x="1822230" y="575431"/>
                  </a:lnTo>
                  <a:lnTo>
                    <a:pt x="1779017" y="588797"/>
                  </a:lnTo>
                  <a:lnTo>
                    <a:pt x="1738233" y="610463"/>
                  </a:lnTo>
                  <a:lnTo>
                    <a:pt x="1700442" y="639929"/>
                  </a:lnTo>
                  <a:lnTo>
                    <a:pt x="1666206" y="676695"/>
                  </a:lnTo>
                  <a:lnTo>
                    <a:pt x="1636086" y="720261"/>
                  </a:lnTo>
                  <a:lnTo>
                    <a:pt x="1610645" y="770127"/>
                  </a:lnTo>
                  <a:lnTo>
                    <a:pt x="1167542" y="1793366"/>
                  </a:lnTo>
                  <a:lnTo>
                    <a:pt x="1187685" y="1804481"/>
                  </a:lnTo>
                  <a:lnTo>
                    <a:pt x="1194506" y="1806676"/>
                  </a:lnTo>
                  <a:lnTo>
                    <a:pt x="1201674" y="1808305"/>
                  </a:lnTo>
                  <a:lnTo>
                    <a:pt x="1208984" y="1809291"/>
                  </a:lnTo>
                  <a:lnTo>
                    <a:pt x="1216437" y="1809623"/>
                  </a:lnTo>
                  <a:lnTo>
                    <a:pt x="1830990" y="1809623"/>
                  </a:lnTo>
                  <a:lnTo>
                    <a:pt x="1885584" y="1789731"/>
                  </a:lnTo>
                  <a:lnTo>
                    <a:pt x="1925224" y="1735454"/>
                  </a:lnTo>
                  <a:lnTo>
                    <a:pt x="2233326" y="1027176"/>
                  </a:lnTo>
                  <a:lnTo>
                    <a:pt x="2248185" y="954833"/>
                  </a:lnTo>
                  <a:lnTo>
                    <a:pt x="2244470" y="917465"/>
                  </a:lnTo>
                  <a:lnTo>
                    <a:pt x="2233367" y="882523"/>
                  </a:lnTo>
                  <a:lnTo>
                    <a:pt x="2097817" y="570864"/>
                  </a:lnTo>
                  <a:close/>
                </a:path>
                <a:path w="4638675" h="5162550">
                  <a:moveTo>
                    <a:pt x="1990742" y="109347"/>
                  </a:moveTo>
                  <a:lnTo>
                    <a:pt x="1833911" y="109347"/>
                  </a:lnTo>
                  <a:lnTo>
                    <a:pt x="1862318" y="114490"/>
                  </a:lnTo>
                  <a:lnTo>
                    <a:pt x="1888569" y="129254"/>
                  </a:lnTo>
                  <a:lnTo>
                    <a:pt x="1911082" y="152638"/>
                  </a:lnTo>
                  <a:lnTo>
                    <a:pt x="1928272" y="183641"/>
                  </a:lnTo>
                  <a:lnTo>
                    <a:pt x="2092102" y="560577"/>
                  </a:lnTo>
                  <a:lnTo>
                    <a:pt x="2186971" y="560577"/>
                  </a:lnTo>
                  <a:lnTo>
                    <a:pt x="2166016" y="512190"/>
                  </a:lnTo>
                  <a:lnTo>
                    <a:pt x="1990742" y="109347"/>
                  </a:lnTo>
                  <a:close/>
                </a:path>
              </a:pathLst>
            </a:custGeom>
            <a:solidFill>
              <a:srgbClr val="7E7E7E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0" y="1714500"/>
              <a:ext cx="3200400" cy="34290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470660" y="156210"/>
            <a:ext cx="808291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-85">
                <a:solidFill>
                  <a:srgbClr val="1F487C"/>
                </a:solidFill>
                <a:latin typeface="Times New Roman"/>
                <a:cs typeface="Times New Roman"/>
              </a:rPr>
              <a:t>SMART</a:t>
            </a:r>
            <a:r>
              <a:rPr sz="3950" spc="85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3950" spc="120">
                <a:solidFill>
                  <a:srgbClr val="1F487C"/>
                </a:solidFill>
                <a:latin typeface="Times New Roman"/>
                <a:cs typeface="Times New Roman"/>
              </a:rPr>
              <a:t>INDIA</a:t>
            </a:r>
            <a:r>
              <a:rPr sz="3950" spc="65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3950">
                <a:solidFill>
                  <a:srgbClr val="1F487C"/>
                </a:solidFill>
                <a:latin typeface="Times New Roman"/>
                <a:cs typeface="Times New Roman"/>
              </a:rPr>
              <a:t>HACKATHON</a:t>
            </a:r>
            <a:r>
              <a:rPr sz="3950" spc="75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3950" spc="-20">
                <a:solidFill>
                  <a:srgbClr val="1F487C"/>
                </a:solidFill>
                <a:latin typeface="Times New Roman"/>
                <a:cs typeface="Times New Roman"/>
              </a:rPr>
              <a:t>2026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420052" y="1493898"/>
            <a:ext cx="6339205" cy="4973797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1045"/>
              </a:spcBef>
              <a:buFont typeface="Arial MT"/>
              <a:buChar char="•"/>
              <a:tabLst>
                <a:tab pos="297180" algn="l"/>
              </a:tabLst>
            </a:pPr>
            <a:r>
              <a:rPr dirty="0"/>
              <a:t>Problem</a:t>
            </a:r>
            <a:r>
              <a:rPr spc="-70" dirty="0"/>
              <a:t> </a:t>
            </a:r>
            <a:r>
              <a:rPr dirty="0"/>
              <a:t>Statement</a:t>
            </a:r>
            <a:r>
              <a:rPr spc="-25" dirty="0"/>
              <a:t> </a:t>
            </a:r>
            <a:r>
              <a:rPr dirty="0"/>
              <a:t>ID</a:t>
            </a:r>
            <a:r>
              <a:rPr spc="-4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b="0" spc="-10" dirty="0">
                <a:solidFill>
                  <a:srgbClr val="17202A"/>
                </a:solidFill>
                <a:latin typeface="Tahoma"/>
                <a:cs typeface="Tahoma"/>
              </a:rPr>
              <a:t>SIH26068</a:t>
            </a:r>
            <a:endParaRPr lang="en-US" b="0" spc="-10" dirty="0">
              <a:solidFill>
                <a:srgbClr val="17202A"/>
              </a:solidFill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  <a:tabLst>
                <a:tab pos="297180" algn="l"/>
              </a:tabLst>
            </a:pPr>
            <a:endParaRPr sz="1050" b="0" spc="-10" dirty="0">
              <a:solidFill>
                <a:srgbClr val="17202A"/>
              </a:solidFill>
              <a:latin typeface="Tahoma"/>
              <a:cs typeface="Tahoma"/>
            </a:endParaRPr>
          </a:p>
          <a:p>
            <a:pPr marL="296545" marR="5080" indent="-284480" algn="just">
              <a:lnSpc>
                <a:spcPct val="100400"/>
              </a:lnSpc>
              <a:spcBef>
                <a:spcPts val="93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/>
              <a:t>Problem</a:t>
            </a:r>
            <a:r>
              <a:rPr spc="425" dirty="0"/>
              <a:t>  </a:t>
            </a:r>
            <a:r>
              <a:rPr dirty="0"/>
              <a:t>Statement</a:t>
            </a:r>
            <a:r>
              <a:rPr spc="455" dirty="0"/>
              <a:t>  </a:t>
            </a:r>
            <a:r>
              <a:rPr dirty="0"/>
              <a:t>Title-</a:t>
            </a:r>
            <a:r>
              <a:rPr spc="445" dirty="0"/>
              <a:t>  </a:t>
            </a:r>
            <a:r>
              <a:rPr b="0" spc="-30" dirty="0" err="1">
                <a:solidFill>
                  <a:srgbClr val="17202A"/>
                </a:solidFill>
                <a:latin typeface="Tahoma"/>
                <a:cs typeface="Tahoma"/>
              </a:rPr>
              <a:t>WeatherGPT</a:t>
            </a:r>
            <a:r>
              <a:rPr b="0" spc="-30" dirty="0">
                <a:solidFill>
                  <a:srgbClr val="17202A"/>
                </a:solidFill>
                <a:latin typeface="Tahoma"/>
                <a:cs typeface="Tahoma"/>
              </a:rPr>
              <a:t>: 	</a:t>
            </a:r>
            <a:r>
              <a:rPr b="0" dirty="0">
                <a:solidFill>
                  <a:srgbClr val="17202A"/>
                </a:solidFill>
                <a:latin typeface="Tahoma"/>
                <a:cs typeface="Tahoma"/>
              </a:rPr>
              <a:t>Conversational</a:t>
            </a:r>
            <a:r>
              <a:rPr b="0" spc="450" dirty="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b="0" dirty="0">
                <a:solidFill>
                  <a:srgbClr val="17202A"/>
                </a:solidFill>
                <a:latin typeface="Tahoma"/>
                <a:cs typeface="Tahoma"/>
              </a:rPr>
              <a:t>AI</a:t>
            </a:r>
            <a:r>
              <a:rPr b="0" spc="370" dirty="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b="0" dirty="0">
                <a:solidFill>
                  <a:srgbClr val="17202A"/>
                </a:solidFill>
                <a:latin typeface="Tahoma"/>
                <a:cs typeface="Tahoma"/>
              </a:rPr>
              <a:t>for</a:t>
            </a:r>
            <a:r>
              <a:rPr b="0" spc="420" dirty="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b="0" dirty="0">
                <a:solidFill>
                  <a:srgbClr val="17202A"/>
                </a:solidFill>
                <a:latin typeface="Tahoma"/>
                <a:cs typeface="Tahoma"/>
              </a:rPr>
              <a:t>Weather</a:t>
            </a:r>
            <a:r>
              <a:rPr b="0" spc="465" dirty="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b="0" spc="-10" dirty="0">
                <a:solidFill>
                  <a:srgbClr val="17202A"/>
                </a:solidFill>
                <a:latin typeface="Tahoma"/>
                <a:cs typeface="Tahoma"/>
              </a:rPr>
              <a:t>Forecasting, 	Alerts,</a:t>
            </a:r>
            <a:r>
              <a:rPr b="0" spc="-150" dirty="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b="0" dirty="0">
                <a:solidFill>
                  <a:srgbClr val="17202A"/>
                </a:solidFill>
                <a:latin typeface="Tahoma"/>
                <a:cs typeface="Tahoma"/>
              </a:rPr>
              <a:t>and</a:t>
            </a:r>
            <a:r>
              <a:rPr b="0" spc="-55" dirty="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b="0" spc="-10" dirty="0">
                <a:solidFill>
                  <a:srgbClr val="17202A"/>
                </a:solidFill>
                <a:latin typeface="Tahoma"/>
                <a:cs typeface="Tahoma"/>
              </a:rPr>
              <a:t>Climate</a:t>
            </a:r>
            <a:r>
              <a:rPr b="0" spc="-170" dirty="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b="0" spc="-10" dirty="0">
                <a:solidFill>
                  <a:srgbClr val="17202A"/>
                </a:solidFill>
                <a:latin typeface="Tahoma"/>
                <a:cs typeface="Tahoma"/>
              </a:rPr>
              <a:t>Information</a:t>
            </a:r>
          </a:p>
          <a:p>
            <a:pPr marL="297180" indent="-284480">
              <a:lnSpc>
                <a:spcPct val="100000"/>
              </a:lnSpc>
              <a:spcBef>
                <a:spcPts val="2455"/>
              </a:spcBef>
              <a:buFont typeface="Arial MT"/>
              <a:buChar char="•"/>
              <a:tabLst>
                <a:tab pos="297180" algn="l"/>
                <a:tab pos="1610995" algn="l"/>
              </a:tabLst>
            </a:pPr>
            <a:r>
              <a:rPr dirty="0"/>
              <a:t>Theme-	</a:t>
            </a:r>
            <a:r>
              <a:rPr b="0" spc="-10" dirty="0">
                <a:solidFill>
                  <a:srgbClr val="17202A"/>
                </a:solidFill>
                <a:latin typeface="Tahoma"/>
                <a:cs typeface="Tahoma"/>
              </a:rPr>
              <a:t>Disaster</a:t>
            </a:r>
            <a:r>
              <a:rPr b="0" spc="-160" dirty="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b="0" spc="-10" dirty="0">
                <a:solidFill>
                  <a:srgbClr val="17202A"/>
                </a:solidFill>
                <a:latin typeface="Tahoma"/>
                <a:cs typeface="Tahoma"/>
              </a:rPr>
              <a:t>Management</a:t>
            </a:r>
          </a:p>
          <a:p>
            <a:pPr>
              <a:lnSpc>
                <a:spcPct val="100000"/>
              </a:lnSpc>
              <a:spcBef>
                <a:spcPts val="155"/>
              </a:spcBef>
              <a:buFont typeface="Arial MT"/>
              <a:buChar char="•"/>
            </a:pPr>
            <a:endParaRPr b="0" spc="-10" dirty="0">
              <a:solidFill>
                <a:srgbClr val="17202A"/>
              </a:solidFill>
              <a:latin typeface="Tahoma"/>
              <a:cs typeface="Tahoma"/>
            </a:endParaRPr>
          </a:p>
          <a:p>
            <a:pPr marL="297180" indent="-284480">
              <a:lnSpc>
                <a:spcPct val="100000"/>
              </a:lnSpc>
              <a:buFont typeface="Arial MT"/>
              <a:buChar char="•"/>
              <a:tabLst>
                <a:tab pos="297180" algn="l"/>
              </a:tabLst>
            </a:pPr>
            <a:r>
              <a:rPr dirty="0"/>
              <a:t>PS</a:t>
            </a:r>
            <a:r>
              <a:rPr spc="-40" dirty="0"/>
              <a:t> </a:t>
            </a:r>
            <a:r>
              <a:rPr dirty="0"/>
              <a:t>Category-</a:t>
            </a:r>
            <a:r>
              <a:rPr spc="-60" dirty="0"/>
              <a:t> </a:t>
            </a:r>
            <a:r>
              <a:rPr b="0" spc="-10" dirty="0">
                <a:latin typeface="Arial MT"/>
                <a:cs typeface="Arial MT"/>
              </a:rPr>
              <a:t>Software</a:t>
            </a:r>
          </a:p>
          <a:p>
            <a:pPr>
              <a:lnSpc>
                <a:spcPct val="100000"/>
              </a:lnSpc>
              <a:spcBef>
                <a:spcPts val="145"/>
              </a:spcBef>
              <a:buFont typeface="Arial MT"/>
              <a:buChar char="•"/>
            </a:pPr>
            <a:endParaRPr b="0" spc="-10" dirty="0">
              <a:latin typeface="Arial MT"/>
              <a:cs typeface="Arial MT"/>
            </a:endParaRPr>
          </a:p>
          <a:p>
            <a:pPr marL="297180" indent="-284480">
              <a:lnSpc>
                <a:spcPct val="100000"/>
              </a:lnSpc>
              <a:buFont typeface="Arial MT"/>
              <a:buChar char="•"/>
              <a:tabLst>
                <a:tab pos="297180" algn="l"/>
              </a:tabLst>
            </a:pPr>
            <a:r>
              <a:rPr spc="-25" dirty="0"/>
              <a:t>Team</a:t>
            </a:r>
            <a:r>
              <a:rPr spc="-140" dirty="0"/>
              <a:t> </a:t>
            </a:r>
            <a:r>
              <a:rPr spc="-25" dirty="0"/>
              <a:t>ID-</a:t>
            </a:r>
            <a:r>
              <a:rPr lang="en-US" spc="-25" dirty="0"/>
              <a:t> </a:t>
            </a:r>
            <a:r>
              <a:rPr lang="en-US" b="0" spc="-25" dirty="0"/>
              <a:t>132188</a:t>
            </a:r>
            <a:endParaRPr b="0" spc="-25" dirty="0"/>
          </a:p>
          <a:p>
            <a:pPr>
              <a:lnSpc>
                <a:spcPct val="100000"/>
              </a:lnSpc>
              <a:spcBef>
                <a:spcPts val="65"/>
              </a:spcBef>
              <a:buFont typeface="Arial MT"/>
              <a:buChar char="•"/>
            </a:pPr>
            <a:endParaRPr spc="-25" dirty="0"/>
          </a:p>
          <a:p>
            <a:pPr marL="297180" indent="-284480">
              <a:lnSpc>
                <a:spcPct val="100000"/>
              </a:lnSpc>
              <a:buFont typeface="Arial MT"/>
              <a:buChar char="•"/>
              <a:tabLst>
                <a:tab pos="297180" algn="l"/>
              </a:tabLst>
            </a:pPr>
            <a:r>
              <a:rPr spc="-25" dirty="0"/>
              <a:t>Team</a:t>
            </a:r>
            <a:r>
              <a:rPr spc="-70" dirty="0"/>
              <a:t> </a:t>
            </a:r>
            <a:r>
              <a:rPr dirty="0"/>
              <a:t>Name</a:t>
            </a:r>
            <a:r>
              <a:rPr spc="-9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lang="en-US" b="0" spc="-10" dirty="0">
                <a:latin typeface="Arial MT"/>
              </a:rPr>
              <a:t>Griffins</a:t>
            </a:r>
            <a:endParaRPr b="0" spc="-10" dirty="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82175" y="0"/>
            <a:ext cx="2247900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457" y="129920"/>
            <a:ext cx="1257300" cy="809625"/>
          </a:xfrm>
          <a:custGeom>
            <a:avLst/>
            <a:gdLst/>
            <a:ahLst/>
            <a:cxnLst/>
            <a:rect l="l" t="t" r="r" b="b"/>
            <a:pathLst>
              <a:path w="1257300" h="809625">
                <a:moveTo>
                  <a:pt x="0" y="404749"/>
                </a:moveTo>
                <a:lnTo>
                  <a:pt x="10121" y="331977"/>
                </a:lnTo>
                <a:lnTo>
                  <a:pt x="39306" y="263525"/>
                </a:lnTo>
                <a:lnTo>
                  <a:pt x="60502" y="231139"/>
                </a:lnTo>
                <a:lnTo>
                  <a:pt x="85788" y="200406"/>
                </a:lnTo>
                <a:lnTo>
                  <a:pt x="114947" y="171323"/>
                </a:lnTo>
                <a:lnTo>
                  <a:pt x="147777" y="143890"/>
                </a:lnTo>
                <a:lnTo>
                  <a:pt x="184035" y="118490"/>
                </a:lnTo>
                <a:lnTo>
                  <a:pt x="223507" y="95123"/>
                </a:lnTo>
                <a:lnTo>
                  <a:pt x="265963" y="74041"/>
                </a:lnTo>
                <a:lnTo>
                  <a:pt x="311200" y="55245"/>
                </a:lnTo>
                <a:lnTo>
                  <a:pt x="358978" y="38862"/>
                </a:lnTo>
                <a:lnTo>
                  <a:pt x="409079" y="25273"/>
                </a:lnTo>
                <a:lnTo>
                  <a:pt x="461289" y="14350"/>
                </a:lnTo>
                <a:lnTo>
                  <a:pt x="515391" y="6476"/>
                </a:lnTo>
                <a:lnTo>
                  <a:pt x="571144" y="1650"/>
                </a:lnTo>
                <a:lnTo>
                  <a:pt x="628332" y="0"/>
                </a:lnTo>
                <a:lnTo>
                  <a:pt x="685520" y="1650"/>
                </a:lnTo>
                <a:lnTo>
                  <a:pt x="741273" y="6476"/>
                </a:lnTo>
                <a:lnTo>
                  <a:pt x="795362" y="14350"/>
                </a:lnTo>
                <a:lnTo>
                  <a:pt x="847572" y="25273"/>
                </a:lnTo>
                <a:lnTo>
                  <a:pt x="897686" y="38862"/>
                </a:lnTo>
                <a:lnTo>
                  <a:pt x="945451" y="55245"/>
                </a:lnTo>
                <a:lnTo>
                  <a:pt x="990663" y="74041"/>
                </a:lnTo>
                <a:lnTo>
                  <a:pt x="1033208" y="95123"/>
                </a:lnTo>
                <a:lnTo>
                  <a:pt x="1072705" y="118490"/>
                </a:lnTo>
                <a:lnTo>
                  <a:pt x="1108900" y="143890"/>
                </a:lnTo>
                <a:lnTo>
                  <a:pt x="1141793" y="171323"/>
                </a:lnTo>
                <a:lnTo>
                  <a:pt x="1170876" y="200406"/>
                </a:lnTo>
                <a:lnTo>
                  <a:pt x="1196149" y="231139"/>
                </a:lnTo>
                <a:lnTo>
                  <a:pt x="1217358" y="263525"/>
                </a:lnTo>
                <a:lnTo>
                  <a:pt x="1246568" y="331977"/>
                </a:lnTo>
                <a:lnTo>
                  <a:pt x="1256728" y="404749"/>
                </a:lnTo>
                <a:lnTo>
                  <a:pt x="1254188" y="441578"/>
                </a:lnTo>
                <a:lnTo>
                  <a:pt x="1234249" y="512318"/>
                </a:lnTo>
                <a:lnTo>
                  <a:pt x="1196149" y="578231"/>
                </a:lnTo>
                <a:lnTo>
                  <a:pt x="1170876" y="608964"/>
                </a:lnTo>
                <a:lnTo>
                  <a:pt x="1141793" y="638175"/>
                </a:lnTo>
                <a:lnTo>
                  <a:pt x="1108900" y="665479"/>
                </a:lnTo>
                <a:lnTo>
                  <a:pt x="1072705" y="690879"/>
                </a:lnTo>
                <a:lnTo>
                  <a:pt x="1033208" y="714248"/>
                </a:lnTo>
                <a:lnTo>
                  <a:pt x="990663" y="735457"/>
                </a:lnTo>
                <a:lnTo>
                  <a:pt x="945451" y="754252"/>
                </a:lnTo>
                <a:lnTo>
                  <a:pt x="897686" y="770509"/>
                </a:lnTo>
                <a:lnTo>
                  <a:pt x="847572" y="784225"/>
                </a:lnTo>
                <a:lnTo>
                  <a:pt x="795362" y="795147"/>
                </a:lnTo>
                <a:lnTo>
                  <a:pt x="741273" y="803021"/>
                </a:lnTo>
                <a:lnTo>
                  <a:pt x="685520" y="807847"/>
                </a:lnTo>
                <a:lnTo>
                  <a:pt x="628332" y="809625"/>
                </a:lnTo>
                <a:lnTo>
                  <a:pt x="571144" y="807847"/>
                </a:lnTo>
                <a:lnTo>
                  <a:pt x="515391" y="803021"/>
                </a:lnTo>
                <a:lnTo>
                  <a:pt x="461289" y="795147"/>
                </a:lnTo>
                <a:lnTo>
                  <a:pt x="409079" y="784225"/>
                </a:lnTo>
                <a:lnTo>
                  <a:pt x="358978" y="770509"/>
                </a:lnTo>
                <a:lnTo>
                  <a:pt x="311200" y="754252"/>
                </a:lnTo>
                <a:lnTo>
                  <a:pt x="265963" y="735457"/>
                </a:lnTo>
                <a:lnTo>
                  <a:pt x="223507" y="714248"/>
                </a:lnTo>
                <a:lnTo>
                  <a:pt x="184035" y="691007"/>
                </a:lnTo>
                <a:lnTo>
                  <a:pt x="147777" y="665479"/>
                </a:lnTo>
                <a:lnTo>
                  <a:pt x="114947" y="638175"/>
                </a:lnTo>
                <a:lnTo>
                  <a:pt x="85788" y="608964"/>
                </a:lnTo>
                <a:lnTo>
                  <a:pt x="60502" y="578231"/>
                </a:lnTo>
                <a:lnTo>
                  <a:pt x="39306" y="545973"/>
                </a:lnTo>
                <a:lnTo>
                  <a:pt x="10121" y="477393"/>
                </a:lnTo>
                <a:lnTo>
                  <a:pt x="0" y="404749"/>
                </a:lnTo>
                <a:close/>
              </a:path>
            </a:pathLst>
          </a:custGeom>
          <a:ln w="12700">
            <a:solidFill>
              <a:srgbClr val="5B69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64397" y="423794"/>
            <a:ext cx="895535" cy="1974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spc="-75" dirty="0">
                <a:solidFill>
                  <a:srgbClr val="17202A"/>
                </a:solidFill>
                <a:latin typeface="Tahoma"/>
                <a:ea typeface="Tahoma"/>
                <a:cs typeface="Tahoma"/>
              </a:rPr>
              <a:t>GRIFFINS</a:t>
            </a:r>
            <a:endParaRPr sz="1200" b="1" spc="-75" dirty="0">
              <a:solidFill>
                <a:srgbClr val="17202A"/>
              </a:solidFill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10750" y="19050"/>
            <a:ext cx="2200275" cy="1028700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917700" y="264731"/>
            <a:ext cx="771652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0"/>
              <a:t>Conversational</a:t>
            </a:r>
            <a:r>
              <a:rPr sz="2000" spc="-40"/>
              <a:t> </a:t>
            </a:r>
            <a:r>
              <a:rPr sz="2000"/>
              <a:t>Weather</a:t>
            </a:r>
            <a:r>
              <a:rPr sz="2000" spc="-55"/>
              <a:t> </a:t>
            </a:r>
            <a:r>
              <a:rPr sz="2000" spc="-10"/>
              <a:t>Intelligence</a:t>
            </a:r>
            <a:r>
              <a:rPr sz="2000" spc="-95"/>
              <a:t> </a:t>
            </a:r>
            <a:r>
              <a:rPr sz="2000"/>
              <a:t>for</a:t>
            </a:r>
            <a:r>
              <a:rPr sz="2000" spc="-95"/>
              <a:t> </a:t>
            </a:r>
            <a:r>
              <a:rPr sz="2000"/>
              <a:t>Smarter</a:t>
            </a:r>
            <a:r>
              <a:rPr sz="2000" spc="-50"/>
              <a:t> </a:t>
            </a:r>
            <a:r>
              <a:rPr sz="2000" spc="-10"/>
              <a:t>Decisions</a:t>
            </a:r>
            <a:endParaRPr sz="2000"/>
          </a:p>
        </p:txBody>
      </p:sp>
      <p:sp>
        <p:nvSpPr>
          <p:cNvPr id="6" name="object 6"/>
          <p:cNvSpPr txBox="1"/>
          <p:nvPr/>
        </p:nvSpPr>
        <p:spPr>
          <a:xfrm>
            <a:off x="1647619" y="733758"/>
            <a:ext cx="8229600" cy="1905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445">
              <a:lnSpc>
                <a:spcPts val="1490"/>
              </a:lnSpc>
            </a:pPr>
            <a:r>
              <a:rPr sz="1250" b="1" spc="-55">
                <a:latin typeface="Tahoma"/>
                <a:cs typeface="Tahoma"/>
              </a:rPr>
              <a:t>Existing</a:t>
            </a:r>
            <a:r>
              <a:rPr sz="1250" b="1" spc="-160">
                <a:latin typeface="Tahoma"/>
                <a:cs typeface="Tahoma"/>
              </a:rPr>
              <a:t> </a:t>
            </a:r>
            <a:r>
              <a:rPr lang="en-US" sz="1250" b="1" spc="-20">
                <a:latin typeface="Tahoma"/>
                <a:cs typeface="Tahoma"/>
              </a:rPr>
              <a:t>apps answer</a:t>
            </a:r>
            <a:r>
              <a:rPr sz="1250" b="1" spc="-175">
                <a:latin typeface="Tahoma"/>
                <a:cs typeface="Tahoma"/>
              </a:rPr>
              <a:t> </a:t>
            </a:r>
            <a:r>
              <a:rPr sz="1250" b="1" spc="-45">
                <a:latin typeface="Tahoma"/>
                <a:cs typeface="Tahoma"/>
              </a:rPr>
              <a:t>“What</a:t>
            </a:r>
            <a:r>
              <a:rPr sz="1250" b="1" spc="-30">
                <a:latin typeface="Tahoma"/>
                <a:cs typeface="Tahoma"/>
              </a:rPr>
              <a:t> </a:t>
            </a:r>
            <a:r>
              <a:rPr sz="1250" b="1" spc="-25">
                <a:latin typeface="Tahoma"/>
                <a:cs typeface="Tahoma"/>
              </a:rPr>
              <a:t>is</a:t>
            </a:r>
            <a:r>
              <a:rPr sz="1250" b="1" spc="-80">
                <a:latin typeface="Tahoma"/>
                <a:cs typeface="Tahoma"/>
              </a:rPr>
              <a:t> </a:t>
            </a:r>
            <a:r>
              <a:rPr sz="1250" b="1" spc="-60">
                <a:latin typeface="Tahoma"/>
                <a:cs typeface="Tahoma"/>
              </a:rPr>
              <a:t>the</a:t>
            </a:r>
            <a:r>
              <a:rPr sz="1250" b="1" spc="-114">
                <a:latin typeface="Tahoma"/>
                <a:cs typeface="Tahoma"/>
              </a:rPr>
              <a:t> </a:t>
            </a:r>
            <a:r>
              <a:rPr sz="1250" b="1" spc="-20">
                <a:latin typeface="Tahoma"/>
                <a:cs typeface="Tahoma"/>
              </a:rPr>
              <a:t>weather?”</a:t>
            </a:r>
            <a:r>
              <a:rPr sz="1250" b="1" spc="130">
                <a:latin typeface="Tahoma"/>
                <a:cs typeface="Tahoma"/>
              </a:rPr>
              <a:t> </a:t>
            </a:r>
            <a:r>
              <a:rPr sz="1250" b="1">
                <a:latin typeface="Tahoma"/>
                <a:cs typeface="Tahoma"/>
              </a:rPr>
              <a:t>•</a:t>
            </a:r>
            <a:r>
              <a:rPr sz="1250" b="1" spc="150">
                <a:latin typeface="Tahoma"/>
                <a:cs typeface="Tahoma"/>
              </a:rPr>
              <a:t> </a:t>
            </a:r>
            <a:r>
              <a:rPr lang="en-US" sz="1250" b="1" spc="-65" err="1">
                <a:latin typeface="Tahoma"/>
                <a:cs typeface="Tahoma"/>
              </a:rPr>
              <a:t>WeatherGPT</a:t>
            </a:r>
            <a:r>
              <a:rPr sz="1250" b="1" spc="-155">
                <a:latin typeface="Tahoma"/>
                <a:cs typeface="Tahoma"/>
              </a:rPr>
              <a:t> </a:t>
            </a:r>
            <a:r>
              <a:rPr sz="1250" b="1" spc="-35">
                <a:latin typeface="Tahoma"/>
                <a:cs typeface="Tahoma"/>
              </a:rPr>
              <a:t>answers</a:t>
            </a:r>
            <a:r>
              <a:rPr sz="1250" b="1" spc="-100">
                <a:latin typeface="Tahoma"/>
                <a:cs typeface="Tahoma"/>
              </a:rPr>
              <a:t> </a:t>
            </a:r>
            <a:r>
              <a:rPr sz="1250" b="1" spc="-65">
                <a:latin typeface="Tahoma"/>
                <a:cs typeface="Tahoma"/>
              </a:rPr>
              <a:t>“What</a:t>
            </a:r>
            <a:r>
              <a:rPr sz="1250" b="1" spc="-90">
                <a:latin typeface="Tahoma"/>
                <a:cs typeface="Tahoma"/>
              </a:rPr>
              <a:t> </a:t>
            </a:r>
            <a:r>
              <a:rPr sz="1250" b="1" spc="-50">
                <a:latin typeface="Tahoma"/>
                <a:cs typeface="Tahoma"/>
              </a:rPr>
              <a:t>does</a:t>
            </a:r>
            <a:r>
              <a:rPr sz="1250" b="1" spc="-35">
                <a:latin typeface="Tahoma"/>
                <a:cs typeface="Tahoma"/>
              </a:rPr>
              <a:t> </a:t>
            </a:r>
            <a:r>
              <a:rPr sz="1250" b="1" spc="-45">
                <a:latin typeface="Tahoma"/>
                <a:cs typeface="Tahoma"/>
              </a:rPr>
              <a:t>this</a:t>
            </a:r>
            <a:r>
              <a:rPr sz="1250" b="1" spc="-50">
                <a:latin typeface="Tahoma"/>
                <a:cs typeface="Tahoma"/>
              </a:rPr>
              <a:t> weather</a:t>
            </a:r>
            <a:r>
              <a:rPr sz="1250" b="1" spc="-165">
                <a:latin typeface="Tahoma"/>
                <a:cs typeface="Tahoma"/>
              </a:rPr>
              <a:t> </a:t>
            </a:r>
            <a:r>
              <a:rPr sz="1250" b="1" spc="-50">
                <a:latin typeface="Tahoma"/>
                <a:cs typeface="Tahoma"/>
              </a:rPr>
              <a:t>mean</a:t>
            </a:r>
            <a:r>
              <a:rPr sz="1250" b="1" spc="-120">
                <a:latin typeface="Tahoma"/>
                <a:cs typeface="Tahoma"/>
              </a:rPr>
              <a:t> </a:t>
            </a:r>
            <a:r>
              <a:rPr sz="1250" b="1" spc="-60">
                <a:latin typeface="Tahoma"/>
                <a:cs typeface="Tahoma"/>
              </a:rPr>
              <a:t>for</a:t>
            </a:r>
            <a:r>
              <a:rPr sz="1250" b="1" spc="-40">
                <a:latin typeface="Tahoma"/>
                <a:cs typeface="Tahoma"/>
              </a:rPr>
              <a:t> </a:t>
            </a:r>
            <a:r>
              <a:rPr sz="1250" b="1" spc="-20">
                <a:latin typeface="Tahoma"/>
                <a:cs typeface="Tahoma"/>
              </a:rPr>
              <a:t>me</a:t>
            </a:r>
            <a:r>
              <a:rPr sz="1100" b="1" spc="-20">
                <a:latin typeface="Tahoma"/>
                <a:cs typeface="Tahoma"/>
              </a:rPr>
              <a:t>?”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60045" y="1139216"/>
            <a:ext cx="3400425" cy="413384"/>
            <a:chOff x="542925" y="1139216"/>
            <a:chExt cx="3400425" cy="413384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2925" y="1139216"/>
              <a:ext cx="3400425" cy="41335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71500" y="1152525"/>
              <a:ext cx="3342640" cy="342900"/>
            </a:xfrm>
            <a:custGeom>
              <a:avLst/>
              <a:gdLst/>
              <a:ahLst/>
              <a:cxnLst/>
              <a:rect l="l" t="t" r="r" b="b"/>
              <a:pathLst>
                <a:path w="3342640" h="342900">
                  <a:moveTo>
                    <a:pt x="3285236" y="0"/>
                  </a:moveTo>
                  <a:lnTo>
                    <a:pt x="57302" y="0"/>
                  </a:lnTo>
                  <a:lnTo>
                    <a:pt x="35001" y="4445"/>
                  </a:lnTo>
                  <a:lnTo>
                    <a:pt x="16789" y="16763"/>
                  </a:lnTo>
                  <a:lnTo>
                    <a:pt x="4508" y="34925"/>
                  </a:lnTo>
                  <a:lnTo>
                    <a:pt x="0" y="57150"/>
                  </a:lnTo>
                  <a:lnTo>
                    <a:pt x="0" y="285623"/>
                  </a:lnTo>
                  <a:lnTo>
                    <a:pt x="4508" y="307975"/>
                  </a:lnTo>
                  <a:lnTo>
                    <a:pt x="16789" y="326136"/>
                  </a:lnTo>
                  <a:lnTo>
                    <a:pt x="35001" y="338454"/>
                  </a:lnTo>
                  <a:lnTo>
                    <a:pt x="57302" y="342900"/>
                  </a:lnTo>
                  <a:lnTo>
                    <a:pt x="3285236" y="342900"/>
                  </a:lnTo>
                  <a:lnTo>
                    <a:pt x="3307588" y="338454"/>
                  </a:lnTo>
                  <a:lnTo>
                    <a:pt x="3325876" y="326136"/>
                  </a:lnTo>
                  <a:lnTo>
                    <a:pt x="3338195" y="307975"/>
                  </a:lnTo>
                  <a:lnTo>
                    <a:pt x="3342640" y="285623"/>
                  </a:lnTo>
                  <a:lnTo>
                    <a:pt x="3342640" y="57150"/>
                  </a:lnTo>
                  <a:lnTo>
                    <a:pt x="3338195" y="34925"/>
                  </a:lnTo>
                  <a:lnTo>
                    <a:pt x="3325876" y="16763"/>
                  </a:lnTo>
                  <a:lnTo>
                    <a:pt x="3307588" y="4445"/>
                  </a:lnTo>
                  <a:lnTo>
                    <a:pt x="3285236" y="0"/>
                  </a:lnTo>
                  <a:close/>
                </a:path>
              </a:pathLst>
            </a:custGeom>
            <a:solidFill>
              <a:srgbClr val="EC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6262" y="1157351"/>
              <a:ext cx="3343275" cy="342900"/>
            </a:xfrm>
            <a:custGeom>
              <a:avLst/>
              <a:gdLst/>
              <a:ahLst/>
              <a:cxnLst/>
              <a:rect l="l" t="t" r="r" b="b"/>
              <a:pathLst>
                <a:path w="3343275" h="342900">
                  <a:moveTo>
                    <a:pt x="0" y="57150"/>
                  </a:moveTo>
                  <a:lnTo>
                    <a:pt x="4508" y="34798"/>
                  </a:lnTo>
                  <a:lnTo>
                    <a:pt x="16789" y="16637"/>
                  </a:lnTo>
                  <a:lnTo>
                    <a:pt x="35001" y="4445"/>
                  </a:lnTo>
                  <a:lnTo>
                    <a:pt x="57302" y="0"/>
                  </a:lnTo>
                  <a:lnTo>
                    <a:pt x="3285299" y="0"/>
                  </a:lnTo>
                  <a:lnTo>
                    <a:pt x="3307651" y="4445"/>
                  </a:lnTo>
                  <a:lnTo>
                    <a:pt x="3325939" y="16637"/>
                  </a:lnTo>
                  <a:lnTo>
                    <a:pt x="3338131" y="34798"/>
                  </a:lnTo>
                  <a:lnTo>
                    <a:pt x="3342703" y="57150"/>
                  </a:lnTo>
                  <a:lnTo>
                    <a:pt x="3342703" y="285623"/>
                  </a:lnTo>
                  <a:lnTo>
                    <a:pt x="3338131" y="307848"/>
                  </a:lnTo>
                  <a:lnTo>
                    <a:pt x="3325939" y="326009"/>
                  </a:lnTo>
                  <a:lnTo>
                    <a:pt x="3307651" y="338327"/>
                  </a:lnTo>
                  <a:lnTo>
                    <a:pt x="3285299" y="342900"/>
                  </a:lnTo>
                  <a:lnTo>
                    <a:pt x="57302" y="342900"/>
                  </a:lnTo>
                  <a:lnTo>
                    <a:pt x="35001" y="338327"/>
                  </a:lnTo>
                  <a:lnTo>
                    <a:pt x="16789" y="326009"/>
                  </a:lnTo>
                  <a:lnTo>
                    <a:pt x="4508" y="307848"/>
                  </a:lnTo>
                  <a:lnTo>
                    <a:pt x="0" y="285623"/>
                  </a:lnTo>
                  <a:lnTo>
                    <a:pt x="0" y="57150"/>
                  </a:lnTo>
                  <a:close/>
                </a:path>
              </a:pathLst>
            </a:custGeom>
            <a:ln w="10160">
              <a:solidFill>
                <a:srgbClr val="C8DC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11492" y="1198625"/>
            <a:ext cx="30670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85">
                <a:solidFill>
                  <a:srgbClr val="0E364F"/>
                </a:solidFill>
                <a:latin typeface="Tahoma"/>
                <a:cs typeface="Tahoma"/>
              </a:rPr>
              <a:t>LIMITATIONS</a:t>
            </a:r>
            <a:r>
              <a:rPr sz="1200" b="1" spc="-9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 spc="-65">
                <a:solidFill>
                  <a:srgbClr val="0E364F"/>
                </a:solidFill>
                <a:latin typeface="Tahoma"/>
                <a:cs typeface="Tahoma"/>
              </a:rPr>
              <a:t>OF</a:t>
            </a:r>
            <a:r>
              <a:rPr sz="1200" b="1" spc="-10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 spc="-85">
                <a:solidFill>
                  <a:srgbClr val="0E364F"/>
                </a:solidFill>
                <a:latin typeface="Tahoma"/>
                <a:cs typeface="Tahoma"/>
              </a:rPr>
              <a:t>EXISTING</a:t>
            </a:r>
            <a:r>
              <a:rPr sz="1200" b="1" spc="-6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 spc="-90">
                <a:solidFill>
                  <a:srgbClr val="0E364F"/>
                </a:solidFill>
                <a:latin typeface="Tahoma"/>
                <a:cs typeface="Tahoma"/>
              </a:rPr>
              <a:t>WEATHER</a:t>
            </a:r>
            <a:r>
              <a:rPr sz="1200" b="1" spc="-4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 spc="-20">
                <a:solidFill>
                  <a:srgbClr val="0E364F"/>
                </a:solidFill>
                <a:latin typeface="Tahoma"/>
                <a:cs typeface="Tahoma"/>
              </a:rPr>
              <a:t>APPS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60045" y="1556041"/>
            <a:ext cx="3380105" cy="734060"/>
            <a:chOff x="542925" y="1596681"/>
            <a:chExt cx="3400425" cy="937260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2925" y="1596681"/>
              <a:ext cx="3400425" cy="93696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71500" y="1609725"/>
              <a:ext cx="3342640" cy="866775"/>
            </a:xfrm>
            <a:custGeom>
              <a:avLst/>
              <a:gdLst/>
              <a:ahLst/>
              <a:cxnLst/>
              <a:rect l="l" t="t" r="r" b="b"/>
              <a:pathLst>
                <a:path w="3342640" h="866775">
                  <a:moveTo>
                    <a:pt x="3197733" y="0"/>
                  </a:moveTo>
                  <a:lnTo>
                    <a:pt x="144843" y="0"/>
                  </a:lnTo>
                  <a:lnTo>
                    <a:pt x="99059" y="7365"/>
                  </a:lnTo>
                  <a:lnTo>
                    <a:pt x="59309" y="27812"/>
                  </a:lnTo>
                  <a:lnTo>
                    <a:pt x="27952" y="59054"/>
                  </a:lnTo>
                  <a:lnTo>
                    <a:pt x="7378" y="98805"/>
                  </a:lnTo>
                  <a:lnTo>
                    <a:pt x="0" y="144399"/>
                  </a:lnTo>
                  <a:lnTo>
                    <a:pt x="0" y="722249"/>
                  </a:lnTo>
                  <a:lnTo>
                    <a:pt x="7378" y="767969"/>
                  </a:lnTo>
                  <a:lnTo>
                    <a:pt x="27952" y="807592"/>
                  </a:lnTo>
                  <a:lnTo>
                    <a:pt x="59309" y="838835"/>
                  </a:lnTo>
                  <a:lnTo>
                    <a:pt x="99059" y="859409"/>
                  </a:lnTo>
                  <a:lnTo>
                    <a:pt x="144843" y="866775"/>
                  </a:lnTo>
                  <a:lnTo>
                    <a:pt x="3197733" y="866775"/>
                  </a:lnTo>
                  <a:lnTo>
                    <a:pt x="3243579" y="859409"/>
                  </a:lnTo>
                  <a:lnTo>
                    <a:pt x="3283330" y="838835"/>
                  </a:lnTo>
                  <a:lnTo>
                    <a:pt x="3314700" y="807592"/>
                  </a:lnTo>
                  <a:lnTo>
                    <a:pt x="3335274" y="767969"/>
                  </a:lnTo>
                  <a:lnTo>
                    <a:pt x="3342640" y="722249"/>
                  </a:lnTo>
                  <a:lnTo>
                    <a:pt x="3342640" y="144399"/>
                  </a:lnTo>
                  <a:lnTo>
                    <a:pt x="3335274" y="98805"/>
                  </a:lnTo>
                  <a:lnTo>
                    <a:pt x="3314700" y="59054"/>
                  </a:lnTo>
                  <a:lnTo>
                    <a:pt x="3283330" y="27812"/>
                  </a:lnTo>
                  <a:lnTo>
                    <a:pt x="3243579" y="7365"/>
                  </a:lnTo>
                  <a:lnTo>
                    <a:pt x="31977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6262" y="1614551"/>
              <a:ext cx="3343275" cy="866775"/>
            </a:xfrm>
            <a:custGeom>
              <a:avLst/>
              <a:gdLst/>
              <a:ahLst/>
              <a:cxnLst/>
              <a:rect l="l" t="t" r="r" b="b"/>
              <a:pathLst>
                <a:path w="3343275" h="866775">
                  <a:moveTo>
                    <a:pt x="0" y="144399"/>
                  </a:moveTo>
                  <a:lnTo>
                    <a:pt x="7391" y="98678"/>
                  </a:lnTo>
                  <a:lnTo>
                    <a:pt x="27952" y="59054"/>
                  </a:lnTo>
                  <a:lnTo>
                    <a:pt x="59309" y="27812"/>
                  </a:lnTo>
                  <a:lnTo>
                    <a:pt x="99059" y="7238"/>
                  </a:lnTo>
                  <a:lnTo>
                    <a:pt x="144843" y="0"/>
                  </a:lnTo>
                  <a:lnTo>
                    <a:pt x="3197796" y="0"/>
                  </a:lnTo>
                  <a:lnTo>
                    <a:pt x="3243516" y="7238"/>
                  </a:lnTo>
                  <a:lnTo>
                    <a:pt x="3283394" y="27812"/>
                  </a:lnTo>
                  <a:lnTo>
                    <a:pt x="3314763" y="59054"/>
                  </a:lnTo>
                  <a:lnTo>
                    <a:pt x="3335337" y="98678"/>
                  </a:lnTo>
                  <a:lnTo>
                    <a:pt x="3342703" y="144399"/>
                  </a:lnTo>
                  <a:lnTo>
                    <a:pt x="3342703" y="722249"/>
                  </a:lnTo>
                  <a:lnTo>
                    <a:pt x="3335337" y="767841"/>
                  </a:lnTo>
                  <a:lnTo>
                    <a:pt x="3314763" y="807465"/>
                  </a:lnTo>
                  <a:lnTo>
                    <a:pt x="3283394" y="838835"/>
                  </a:lnTo>
                  <a:lnTo>
                    <a:pt x="3243516" y="859282"/>
                  </a:lnTo>
                  <a:lnTo>
                    <a:pt x="3197796" y="866775"/>
                  </a:lnTo>
                  <a:lnTo>
                    <a:pt x="144843" y="866775"/>
                  </a:lnTo>
                  <a:lnTo>
                    <a:pt x="99059" y="859282"/>
                  </a:lnTo>
                  <a:lnTo>
                    <a:pt x="59309" y="838835"/>
                  </a:lnTo>
                  <a:lnTo>
                    <a:pt x="27952" y="807465"/>
                  </a:lnTo>
                  <a:lnTo>
                    <a:pt x="7391" y="767841"/>
                  </a:lnTo>
                  <a:lnTo>
                    <a:pt x="0" y="722249"/>
                  </a:lnTo>
                  <a:lnTo>
                    <a:pt x="0" y="144399"/>
                  </a:lnTo>
                  <a:close/>
                </a:path>
              </a:pathLst>
            </a:custGeom>
            <a:ln w="12700">
              <a:solidFill>
                <a:srgbClr val="CFD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47370" y="1581467"/>
            <a:ext cx="193167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>
                <a:solidFill>
                  <a:srgbClr val="0E364F"/>
                </a:solidFill>
                <a:latin typeface="Tahoma"/>
                <a:cs typeface="Tahoma"/>
              </a:rPr>
              <a:t>01 </a:t>
            </a:r>
            <a:r>
              <a:rPr sz="1100" b="1" spc="-60">
                <a:solidFill>
                  <a:srgbClr val="0E364F"/>
                </a:solidFill>
                <a:latin typeface="Tahoma"/>
                <a:cs typeface="Tahoma"/>
              </a:rPr>
              <a:t>NUMBERS,</a:t>
            </a:r>
            <a:r>
              <a:rPr sz="1100" b="1" spc="-17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100" b="1" spc="-45">
                <a:solidFill>
                  <a:srgbClr val="0E364F"/>
                </a:solidFill>
                <a:latin typeface="Tahoma"/>
                <a:cs typeface="Tahoma"/>
              </a:rPr>
              <a:t>NOT</a:t>
            </a:r>
            <a:r>
              <a:rPr sz="1100" b="1" spc="-14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100" b="1" spc="-30">
                <a:solidFill>
                  <a:srgbClr val="0E364F"/>
                </a:solidFill>
                <a:latin typeface="Tahoma"/>
                <a:cs typeface="Tahoma"/>
              </a:rPr>
              <a:t>MEANING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6417" y="1837943"/>
            <a:ext cx="278955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Forecast</a:t>
            </a:r>
            <a:r>
              <a:rPr sz="950" spc="-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values</a:t>
            </a:r>
            <a:r>
              <a:rPr sz="950" spc="-4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 spc="-10">
                <a:solidFill>
                  <a:srgbClr val="17202A"/>
                </a:solidFill>
                <a:latin typeface="Tahoma"/>
                <a:cs typeface="Tahoma"/>
              </a:rPr>
              <a:t>rarely</a:t>
            </a:r>
            <a:r>
              <a:rPr sz="950" spc="-6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explain</a:t>
            </a:r>
            <a:r>
              <a:rPr sz="950" spc="3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what</a:t>
            </a:r>
            <a:r>
              <a:rPr sz="950" spc="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they</a:t>
            </a:r>
            <a:r>
              <a:rPr sz="950" spc="5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mean for</a:t>
            </a:r>
            <a:r>
              <a:rPr sz="950" spc="-2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 spc="-50">
                <a:solidFill>
                  <a:srgbClr val="17202A"/>
                </a:solidFill>
                <a:latin typeface="Tahoma"/>
                <a:cs typeface="Tahoma"/>
              </a:rPr>
              <a:t>a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spc="-10">
                <a:solidFill>
                  <a:srgbClr val="17202A"/>
                </a:solidFill>
                <a:latin typeface="Tahoma"/>
                <a:cs typeface="Tahoma"/>
              </a:rPr>
              <a:t>Person's</a:t>
            </a:r>
            <a:r>
              <a:rPr sz="950" spc="-4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 spc="-10">
                <a:solidFill>
                  <a:srgbClr val="17202A"/>
                </a:solidFill>
                <a:latin typeface="Tahoma"/>
                <a:cs typeface="Tahoma"/>
              </a:rPr>
              <a:t>situation.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11150" y="2285841"/>
            <a:ext cx="3457575" cy="692955"/>
            <a:chOff x="514350" y="2524125"/>
            <a:chExt cx="3457575" cy="919226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4350" y="2524125"/>
              <a:ext cx="3457575" cy="68061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71500" y="2571750"/>
              <a:ext cx="3342640" cy="866776"/>
            </a:xfrm>
            <a:custGeom>
              <a:avLst/>
              <a:gdLst/>
              <a:ahLst/>
              <a:cxnLst/>
              <a:rect l="l" t="t" r="r" b="b"/>
              <a:pathLst>
                <a:path w="3342640" h="866775">
                  <a:moveTo>
                    <a:pt x="3197733" y="0"/>
                  </a:moveTo>
                  <a:lnTo>
                    <a:pt x="144843" y="0"/>
                  </a:lnTo>
                  <a:lnTo>
                    <a:pt x="99059" y="7365"/>
                  </a:lnTo>
                  <a:lnTo>
                    <a:pt x="59309" y="27812"/>
                  </a:lnTo>
                  <a:lnTo>
                    <a:pt x="27952" y="59054"/>
                  </a:lnTo>
                  <a:lnTo>
                    <a:pt x="7378" y="98805"/>
                  </a:lnTo>
                  <a:lnTo>
                    <a:pt x="0" y="144399"/>
                  </a:lnTo>
                  <a:lnTo>
                    <a:pt x="0" y="722249"/>
                  </a:lnTo>
                  <a:lnTo>
                    <a:pt x="7378" y="767969"/>
                  </a:lnTo>
                  <a:lnTo>
                    <a:pt x="27952" y="807592"/>
                  </a:lnTo>
                  <a:lnTo>
                    <a:pt x="59309" y="838835"/>
                  </a:lnTo>
                  <a:lnTo>
                    <a:pt x="99059" y="859409"/>
                  </a:lnTo>
                  <a:lnTo>
                    <a:pt x="144843" y="866775"/>
                  </a:lnTo>
                  <a:lnTo>
                    <a:pt x="3197733" y="866775"/>
                  </a:lnTo>
                  <a:lnTo>
                    <a:pt x="3243579" y="859409"/>
                  </a:lnTo>
                  <a:lnTo>
                    <a:pt x="3283330" y="838835"/>
                  </a:lnTo>
                  <a:lnTo>
                    <a:pt x="3314700" y="807592"/>
                  </a:lnTo>
                  <a:lnTo>
                    <a:pt x="3335274" y="767969"/>
                  </a:lnTo>
                  <a:lnTo>
                    <a:pt x="3342640" y="722249"/>
                  </a:lnTo>
                  <a:lnTo>
                    <a:pt x="3342640" y="144399"/>
                  </a:lnTo>
                  <a:lnTo>
                    <a:pt x="3335274" y="98805"/>
                  </a:lnTo>
                  <a:lnTo>
                    <a:pt x="3314700" y="59054"/>
                  </a:lnTo>
                  <a:lnTo>
                    <a:pt x="3283330" y="27812"/>
                  </a:lnTo>
                  <a:lnTo>
                    <a:pt x="3243579" y="7365"/>
                  </a:lnTo>
                  <a:lnTo>
                    <a:pt x="31977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76262" y="2576576"/>
              <a:ext cx="3343275" cy="866775"/>
            </a:xfrm>
            <a:custGeom>
              <a:avLst/>
              <a:gdLst/>
              <a:ahLst/>
              <a:cxnLst/>
              <a:rect l="l" t="t" r="r" b="b"/>
              <a:pathLst>
                <a:path w="3343275" h="866775">
                  <a:moveTo>
                    <a:pt x="0" y="144399"/>
                  </a:moveTo>
                  <a:lnTo>
                    <a:pt x="7391" y="98678"/>
                  </a:lnTo>
                  <a:lnTo>
                    <a:pt x="27952" y="59054"/>
                  </a:lnTo>
                  <a:lnTo>
                    <a:pt x="59309" y="27812"/>
                  </a:lnTo>
                  <a:lnTo>
                    <a:pt x="99059" y="7238"/>
                  </a:lnTo>
                  <a:lnTo>
                    <a:pt x="144843" y="0"/>
                  </a:lnTo>
                  <a:lnTo>
                    <a:pt x="3197796" y="0"/>
                  </a:lnTo>
                  <a:lnTo>
                    <a:pt x="3243516" y="7238"/>
                  </a:lnTo>
                  <a:lnTo>
                    <a:pt x="3283394" y="27812"/>
                  </a:lnTo>
                  <a:lnTo>
                    <a:pt x="3314763" y="59054"/>
                  </a:lnTo>
                  <a:lnTo>
                    <a:pt x="3335337" y="98678"/>
                  </a:lnTo>
                  <a:lnTo>
                    <a:pt x="3342703" y="144399"/>
                  </a:lnTo>
                  <a:lnTo>
                    <a:pt x="3342703" y="722249"/>
                  </a:lnTo>
                  <a:lnTo>
                    <a:pt x="3335337" y="767841"/>
                  </a:lnTo>
                  <a:lnTo>
                    <a:pt x="3314763" y="807465"/>
                  </a:lnTo>
                  <a:lnTo>
                    <a:pt x="3283394" y="838835"/>
                  </a:lnTo>
                  <a:lnTo>
                    <a:pt x="3243516" y="859282"/>
                  </a:lnTo>
                  <a:lnTo>
                    <a:pt x="3197796" y="866775"/>
                  </a:lnTo>
                  <a:lnTo>
                    <a:pt x="144843" y="866775"/>
                  </a:lnTo>
                  <a:lnTo>
                    <a:pt x="99059" y="859282"/>
                  </a:lnTo>
                  <a:lnTo>
                    <a:pt x="59309" y="838835"/>
                  </a:lnTo>
                  <a:lnTo>
                    <a:pt x="27952" y="807465"/>
                  </a:lnTo>
                  <a:lnTo>
                    <a:pt x="7391" y="767841"/>
                  </a:lnTo>
                  <a:lnTo>
                    <a:pt x="0" y="722249"/>
                  </a:lnTo>
                  <a:lnTo>
                    <a:pt x="0" y="144399"/>
                  </a:lnTo>
                  <a:close/>
                </a:path>
              </a:pathLst>
            </a:custGeom>
            <a:ln w="12700">
              <a:solidFill>
                <a:srgbClr val="CFD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35939" y="2383091"/>
            <a:ext cx="2510155" cy="503343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3970">
              <a:spcBef>
                <a:spcPts val="125"/>
              </a:spcBef>
            </a:pPr>
            <a:r>
              <a:rPr sz="1100" b="1">
                <a:solidFill>
                  <a:srgbClr val="0E364F"/>
                </a:solidFill>
                <a:latin typeface="Tahoma"/>
                <a:cs typeface="Tahoma"/>
              </a:rPr>
              <a:t>02</a:t>
            </a:r>
            <a:r>
              <a:rPr sz="1100" b="1" spc="-2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100" b="1" spc="-105">
                <a:solidFill>
                  <a:srgbClr val="0E364F"/>
                </a:solidFill>
                <a:latin typeface="Tahoma"/>
                <a:cs typeface="Tahoma"/>
              </a:rPr>
              <a:t>LIMITED</a:t>
            </a:r>
            <a:r>
              <a:rPr sz="1100" b="1" spc="-10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lang="en-US" sz="1100" b="1" spc="-35">
                <a:solidFill>
                  <a:srgbClr val="0E364F"/>
                </a:solidFill>
                <a:latin typeface="Tahoma"/>
                <a:cs typeface="Tahoma"/>
              </a:rPr>
              <a:t>WEATHEREXPLORATION</a:t>
            </a:r>
            <a:endParaRPr lang="en-US" sz="950">
              <a:solidFill>
                <a:srgbClr val="000000"/>
              </a:solidFill>
              <a:latin typeface="Tahoma"/>
              <a:cs typeface="Tahoma"/>
            </a:endParaRPr>
          </a:p>
          <a:p>
            <a:pPr marL="13970">
              <a:lnSpc>
                <a:spcPct val="100000"/>
              </a:lnSpc>
              <a:spcBef>
                <a:spcPts val="125"/>
              </a:spcBef>
            </a:pPr>
            <a:r>
              <a:rPr lang="en-US" sz="950">
                <a:solidFill>
                  <a:srgbClr val="17202A"/>
                </a:solidFill>
                <a:latin typeface="Tahoma"/>
                <a:cs typeface="Tahoma"/>
              </a:rPr>
              <a:t>Unusual</a:t>
            </a:r>
            <a:r>
              <a:rPr sz="950" spc="-2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events,</a:t>
            </a:r>
            <a:r>
              <a:rPr sz="950" spc="3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weather</a:t>
            </a:r>
            <a:r>
              <a:rPr sz="950" spc="6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movement</a:t>
            </a:r>
            <a:r>
              <a:rPr sz="950" spc="-5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and</a:t>
            </a:r>
            <a:r>
              <a:rPr sz="950" spc="3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 spc="-20">
                <a:solidFill>
                  <a:srgbClr val="17202A"/>
                </a:solidFill>
                <a:latin typeface="Tahoma"/>
                <a:cs typeface="Tahoma"/>
              </a:rPr>
              <a:t>place</a:t>
            </a:r>
            <a:endParaRPr lang="en-US"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comparisons</a:t>
            </a:r>
            <a:r>
              <a:rPr sz="950" spc="-1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are</a:t>
            </a:r>
            <a:r>
              <a:rPr sz="950" spc="6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hard</a:t>
            </a:r>
            <a:r>
              <a:rPr sz="950" spc="2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to</a:t>
            </a:r>
            <a:r>
              <a:rPr sz="950" spc="2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 spc="-10">
                <a:solidFill>
                  <a:srgbClr val="17202A"/>
                </a:solidFill>
                <a:latin typeface="Tahoma"/>
                <a:cs typeface="Tahoma"/>
              </a:rPr>
              <a:t>investigate.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41630" y="2976245"/>
            <a:ext cx="3427095" cy="949706"/>
            <a:chOff x="524510" y="3465830"/>
            <a:chExt cx="3437255" cy="939546"/>
          </a:xfrm>
        </p:grpSpPr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4510" y="3465830"/>
              <a:ext cx="3437255" cy="86868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71500" y="3533775"/>
              <a:ext cx="3342640" cy="866775"/>
            </a:xfrm>
            <a:custGeom>
              <a:avLst/>
              <a:gdLst/>
              <a:ahLst/>
              <a:cxnLst/>
              <a:rect l="l" t="t" r="r" b="b"/>
              <a:pathLst>
                <a:path w="3342640" h="866775">
                  <a:moveTo>
                    <a:pt x="3197733" y="0"/>
                  </a:moveTo>
                  <a:lnTo>
                    <a:pt x="144843" y="0"/>
                  </a:lnTo>
                  <a:lnTo>
                    <a:pt x="99059" y="7365"/>
                  </a:lnTo>
                  <a:lnTo>
                    <a:pt x="59309" y="27812"/>
                  </a:lnTo>
                  <a:lnTo>
                    <a:pt x="27952" y="59054"/>
                  </a:lnTo>
                  <a:lnTo>
                    <a:pt x="7378" y="98806"/>
                  </a:lnTo>
                  <a:lnTo>
                    <a:pt x="0" y="144399"/>
                  </a:lnTo>
                  <a:lnTo>
                    <a:pt x="0" y="722249"/>
                  </a:lnTo>
                  <a:lnTo>
                    <a:pt x="7378" y="767969"/>
                  </a:lnTo>
                  <a:lnTo>
                    <a:pt x="27952" y="807593"/>
                  </a:lnTo>
                  <a:lnTo>
                    <a:pt x="59309" y="838835"/>
                  </a:lnTo>
                  <a:lnTo>
                    <a:pt x="99059" y="859408"/>
                  </a:lnTo>
                  <a:lnTo>
                    <a:pt x="144843" y="866775"/>
                  </a:lnTo>
                  <a:lnTo>
                    <a:pt x="3197733" y="866775"/>
                  </a:lnTo>
                  <a:lnTo>
                    <a:pt x="3243579" y="859408"/>
                  </a:lnTo>
                  <a:lnTo>
                    <a:pt x="3283330" y="838835"/>
                  </a:lnTo>
                  <a:lnTo>
                    <a:pt x="3314700" y="807593"/>
                  </a:lnTo>
                  <a:lnTo>
                    <a:pt x="3335274" y="767969"/>
                  </a:lnTo>
                  <a:lnTo>
                    <a:pt x="3342640" y="722249"/>
                  </a:lnTo>
                  <a:lnTo>
                    <a:pt x="3342640" y="144399"/>
                  </a:lnTo>
                  <a:lnTo>
                    <a:pt x="3335274" y="98806"/>
                  </a:lnTo>
                  <a:lnTo>
                    <a:pt x="3314700" y="59054"/>
                  </a:lnTo>
                  <a:lnTo>
                    <a:pt x="3283330" y="27812"/>
                  </a:lnTo>
                  <a:lnTo>
                    <a:pt x="3243579" y="7365"/>
                  </a:lnTo>
                  <a:lnTo>
                    <a:pt x="31977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6262" y="3538601"/>
              <a:ext cx="3343275" cy="866775"/>
            </a:xfrm>
            <a:custGeom>
              <a:avLst/>
              <a:gdLst/>
              <a:ahLst/>
              <a:cxnLst/>
              <a:rect l="l" t="t" r="r" b="b"/>
              <a:pathLst>
                <a:path w="3343275" h="866775">
                  <a:moveTo>
                    <a:pt x="0" y="144399"/>
                  </a:moveTo>
                  <a:lnTo>
                    <a:pt x="7391" y="98679"/>
                  </a:lnTo>
                  <a:lnTo>
                    <a:pt x="27952" y="59054"/>
                  </a:lnTo>
                  <a:lnTo>
                    <a:pt x="59309" y="27812"/>
                  </a:lnTo>
                  <a:lnTo>
                    <a:pt x="99059" y="7238"/>
                  </a:lnTo>
                  <a:lnTo>
                    <a:pt x="144843" y="0"/>
                  </a:lnTo>
                  <a:lnTo>
                    <a:pt x="3197796" y="0"/>
                  </a:lnTo>
                  <a:lnTo>
                    <a:pt x="3243516" y="7238"/>
                  </a:lnTo>
                  <a:lnTo>
                    <a:pt x="3283394" y="27812"/>
                  </a:lnTo>
                  <a:lnTo>
                    <a:pt x="3314763" y="59054"/>
                  </a:lnTo>
                  <a:lnTo>
                    <a:pt x="3335337" y="98679"/>
                  </a:lnTo>
                  <a:lnTo>
                    <a:pt x="3342703" y="144399"/>
                  </a:lnTo>
                  <a:lnTo>
                    <a:pt x="3342703" y="722249"/>
                  </a:lnTo>
                  <a:lnTo>
                    <a:pt x="3335337" y="767842"/>
                  </a:lnTo>
                  <a:lnTo>
                    <a:pt x="3314763" y="807466"/>
                  </a:lnTo>
                  <a:lnTo>
                    <a:pt x="3283394" y="838835"/>
                  </a:lnTo>
                  <a:lnTo>
                    <a:pt x="3243516" y="859282"/>
                  </a:lnTo>
                  <a:lnTo>
                    <a:pt x="3197796" y="866775"/>
                  </a:lnTo>
                  <a:lnTo>
                    <a:pt x="144843" y="866775"/>
                  </a:lnTo>
                  <a:lnTo>
                    <a:pt x="99059" y="859282"/>
                  </a:lnTo>
                  <a:lnTo>
                    <a:pt x="59309" y="838835"/>
                  </a:lnTo>
                  <a:lnTo>
                    <a:pt x="27952" y="807466"/>
                  </a:lnTo>
                  <a:lnTo>
                    <a:pt x="7391" y="767842"/>
                  </a:lnTo>
                  <a:lnTo>
                    <a:pt x="0" y="722249"/>
                  </a:lnTo>
                  <a:lnTo>
                    <a:pt x="0" y="144399"/>
                  </a:lnTo>
                  <a:close/>
                </a:path>
              </a:pathLst>
            </a:custGeom>
            <a:ln w="12700">
              <a:solidFill>
                <a:srgbClr val="CFD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33400" y="3118808"/>
            <a:ext cx="3122295" cy="748731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b="1">
                <a:solidFill>
                  <a:srgbClr val="0E364F"/>
                </a:solidFill>
                <a:latin typeface="Tahoma"/>
                <a:cs typeface="Tahoma"/>
              </a:rPr>
              <a:t>03</a:t>
            </a:r>
            <a:r>
              <a:rPr sz="1100" b="1" spc="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100" b="1" spc="-55">
                <a:solidFill>
                  <a:srgbClr val="0E364F"/>
                </a:solidFill>
                <a:latin typeface="Tahoma"/>
                <a:cs typeface="Tahoma"/>
              </a:rPr>
              <a:t>FORECAST</a:t>
            </a:r>
            <a:r>
              <a:rPr sz="1100" b="1" spc="-19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100" b="1" spc="-35">
                <a:solidFill>
                  <a:srgbClr val="0E364F"/>
                </a:solidFill>
                <a:latin typeface="Tahoma"/>
                <a:cs typeface="Tahoma"/>
              </a:rPr>
              <a:t>DON'TSUPPORTDECISIONS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5500"/>
              </a:lnSpc>
              <a:spcBef>
                <a:spcPts val="385"/>
              </a:spcBef>
            </a:pP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“70%</a:t>
            </a:r>
            <a:r>
              <a:rPr sz="950" spc="-3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rain”.</a:t>
            </a:r>
            <a:r>
              <a:rPr sz="950" spc="-1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But</a:t>
            </a:r>
            <a:r>
              <a:rPr sz="950" spc="31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it</a:t>
            </a:r>
            <a:r>
              <a:rPr sz="950" spc="3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does</a:t>
            </a:r>
            <a:r>
              <a:rPr sz="950" spc="-7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not</a:t>
            </a:r>
            <a:r>
              <a:rPr sz="950" spc="-3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answer:</a:t>
            </a:r>
            <a:r>
              <a:rPr sz="950" spc="-2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Should</a:t>
            </a:r>
            <a:r>
              <a:rPr sz="950" spc="-3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I</a:t>
            </a:r>
            <a:r>
              <a:rPr sz="950" spc="-9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drive,</a:t>
            </a:r>
            <a:r>
              <a:rPr sz="950" spc="5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 spc="-25">
                <a:solidFill>
                  <a:srgbClr val="17202A"/>
                </a:solidFill>
                <a:latin typeface="Tahoma"/>
                <a:cs typeface="Tahoma"/>
              </a:rPr>
              <a:t>dry </a:t>
            </a:r>
            <a:r>
              <a:rPr sz="950" spc="-10">
                <a:solidFill>
                  <a:srgbClr val="17202A"/>
                </a:solidFill>
                <a:latin typeface="Tahoma"/>
                <a:cs typeface="Tahoma"/>
              </a:rPr>
              <a:t>clothes,</a:t>
            </a:r>
            <a:r>
              <a:rPr sz="950" spc="-5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 spc="-10">
                <a:solidFill>
                  <a:srgbClr val="17202A"/>
                </a:solidFill>
                <a:latin typeface="Tahoma"/>
                <a:cs typeface="Tahoma"/>
              </a:rPr>
              <a:t>travel</a:t>
            </a:r>
            <a:r>
              <a:rPr sz="950" spc="-4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or</a:t>
            </a:r>
            <a:r>
              <a:rPr sz="950" spc="-4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plan</a:t>
            </a:r>
            <a:r>
              <a:rPr sz="950" spc="-1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 spc="-20">
                <a:solidFill>
                  <a:srgbClr val="17202A"/>
                </a:solidFill>
                <a:latin typeface="Tahoma"/>
                <a:cs typeface="Tahoma"/>
              </a:rPr>
              <a:t>outdoor</a:t>
            </a:r>
            <a:r>
              <a:rPr sz="950" spc="-4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 spc="-10">
                <a:solidFill>
                  <a:srgbClr val="17202A"/>
                </a:solidFill>
                <a:latin typeface="Tahoma"/>
                <a:cs typeface="Tahoma"/>
              </a:rPr>
              <a:t>activites</a:t>
            </a:r>
            <a:r>
              <a:rPr sz="950" spc="2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like</a:t>
            </a:r>
            <a:r>
              <a:rPr sz="950" spc="-6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 spc="-10">
                <a:solidFill>
                  <a:srgbClr val="17202A"/>
                </a:solidFill>
                <a:latin typeface="Tahoma"/>
                <a:cs typeface="Tahoma"/>
              </a:rPr>
              <a:t>sports</a:t>
            </a:r>
            <a:r>
              <a:rPr sz="950" spc="-5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 spc="-10">
                <a:solidFill>
                  <a:srgbClr val="17202A"/>
                </a:solidFill>
                <a:latin typeface="Tahoma"/>
                <a:cs typeface="Tahoma"/>
              </a:rPr>
              <a:t>,outdoor shoots</a:t>
            </a:r>
            <a:r>
              <a:rPr sz="950" spc="-6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or</a:t>
            </a:r>
            <a:r>
              <a:rPr sz="950" spc="-6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video</a:t>
            </a:r>
            <a:r>
              <a:rPr sz="950" spc="-1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 spc="-10">
                <a:solidFill>
                  <a:srgbClr val="17202A"/>
                </a:solidFill>
                <a:latin typeface="Tahoma"/>
                <a:cs typeface="Tahoma"/>
              </a:rPr>
              <a:t>creation?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23056" y="3925887"/>
            <a:ext cx="3464243" cy="916464"/>
            <a:chOff x="514350" y="4438650"/>
            <a:chExt cx="3457575" cy="1009650"/>
          </a:xfrm>
        </p:grpSpPr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4350" y="4438650"/>
              <a:ext cx="3457575" cy="100965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71500" y="4486275"/>
              <a:ext cx="3342640" cy="876300"/>
            </a:xfrm>
            <a:custGeom>
              <a:avLst/>
              <a:gdLst/>
              <a:ahLst/>
              <a:cxnLst/>
              <a:rect l="l" t="t" r="r" b="b"/>
              <a:pathLst>
                <a:path w="3342640" h="876300">
                  <a:moveTo>
                    <a:pt x="3196082" y="0"/>
                  </a:moveTo>
                  <a:lnTo>
                    <a:pt x="146443" y="0"/>
                  </a:lnTo>
                  <a:lnTo>
                    <a:pt x="100152" y="7493"/>
                  </a:lnTo>
                  <a:lnTo>
                    <a:pt x="59956" y="28193"/>
                  </a:lnTo>
                  <a:lnTo>
                    <a:pt x="28257" y="59689"/>
                  </a:lnTo>
                  <a:lnTo>
                    <a:pt x="7467" y="99822"/>
                  </a:lnTo>
                  <a:lnTo>
                    <a:pt x="0" y="146050"/>
                  </a:lnTo>
                  <a:lnTo>
                    <a:pt x="0" y="730123"/>
                  </a:lnTo>
                  <a:lnTo>
                    <a:pt x="7467" y="776351"/>
                  </a:lnTo>
                  <a:lnTo>
                    <a:pt x="28257" y="816483"/>
                  </a:lnTo>
                  <a:lnTo>
                    <a:pt x="59956" y="848106"/>
                  </a:lnTo>
                  <a:lnTo>
                    <a:pt x="100152" y="868807"/>
                  </a:lnTo>
                  <a:lnTo>
                    <a:pt x="146443" y="876300"/>
                  </a:lnTo>
                  <a:lnTo>
                    <a:pt x="3196082" y="876300"/>
                  </a:lnTo>
                  <a:lnTo>
                    <a:pt x="3242437" y="868807"/>
                  </a:lnTo>
                  <a:lnTo>
                    <a:pt x="3282696" y="848106"/>
                  </a:lnTo>
                  <a:lnTo>
                    <a:pt x="3314446" y="816483"/>
                  </a:lnTo>
                  <a:lnTo>
                    <a:pt x="3335274" y="776351"/>
                  </a:lnTo>
                  <a:lnTo>
                    <a:pt x="3342640" y="730123"/>
                  </a:lnTo>
                  <a:lnTo>
                    <a:pt x="3342640" y="146050"/>
                  </a:lnTo>
                  <a:lnTo>
                    <a:pt x="3335274" y="99822"/>
                  </a:lnTo>
                  <a:lnTo>
                    <a:pt x="3314446" y="59689"/>
                  </a:lnTo>
                  <a:lnTo>
                    <a:pt x="3282696" y="28193"/>
                  </a:lnTo>
                  <a:lnTo>
                    <a:pt x="3242437" y="7493"/>
                  </a:lnTo>
                  <a:lnTo>
                    <a:pt x="31960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76262" y="4491101"/>
              <a:ext cx="3343275" cy="876300"/>
            </a:xfrm>
            <a:custGeom>
              <a:avLst/>
              <a:gdLst/>
              <a:ahLst/>
              <a:cxnLst/>
              <a:rect l="l" t="t" r="r" b="b"/>
              <a:pathLst>
                <a:path w="3343275" h="876300">
                  <a:moveTo>
                    <a:pt x="0" y="146050"/>
                  </a:moveTo>
                  <a:lnTo>
                    <a:pt x="7467" y="99822"/>
                  </a:lnTo>
                  <a:lnTo>
                    <a:pt x="28257" y="59690"/>
                  </a:lnTo>
                  <a:lnTo>
                    <a:pt x="59956" y="28067"/>
                  </a:lnTo>
                  <a:lnTo>
                    <a:pt x="100152" y="7366"/>
                  </a:lnTo>
                  <a:lnTo>
                    <a:pt x="146443" y="0"/>
                  </a:lnTo>
                  <a:lnTo>
                    <a:pt x="3196145" y="0"/>
                  </a:lnTo>
                  <a:lnTo>
                    <a:pt x="3242500" y="7366"/>
                  </a:lnTo>
                  <a:lnTo>
                    <a:pt x="3282759" y="28067"/>
                  </a:lnTo>
                  <a:lnTo>
                    <a:pt x="3314382" y="59690"/>
                  </a:lnTo>
                  <a:lnTo>
                    <a:pt x="3335210" y="99822"/>
                  </a:lnTo>
                  <a:lnTo>
                    <a:pt x="3342703" y="146050"/>
                  </a:lnTo>
                  <a:lnTo>
                    <a:pt x="3342703" y="730123"/>
                  </a:lnTo>
                  <a:lnTo>
                    <a:pt x="3335210" y="776224"/>
                  </a:lnTo>
                  <a:lnTo>
                    <a:pt x="3314382" y="816356"/>
                  </a:lnTo>
                  <a:lnTo>
                    <a:pt x="3282759" y="848106"/>
                  </a:lnTo>
                  <a:lnTo>
                    <a:pt x="3242500" y="868807"/>
                  </a:lnTo>
                  <a:lnTo>
                    <a:pt x="3196145" y="876300"/>
                  </a:lnTo>
                  <a:lnTo>
                    <a:pt x="146443" y="876300"/>
                  </a:lnTo>
                  <a:lnTo>
                    <a:pt x="100152" y="868807"/>
                  </a:lnTo>
                  <a:lnTo>
                    <a:pt x="59956" y="848106"/>
                  </a:lnTo>
                  <a:lnTo>
                    <a:pt x="28257" y="816356"/>
                  </a:lnTo>
                  <a:lnTo>
                    <a:pt x="7467" y="776224"/>
                  </a:lnTo>
                  <a:lnTo>
                    <a:pt x="0" y="730123"/>
                  </a:lnTo>
                  <a:lnTo>
                    <a:pt x="0" y="146050"/>
                  </a:lnTo>
                  <a:close/>
                </a:path>
              </a:pathLst>
            </a:custGeom>
            <a:ln w="12700">
              <a:solidFill>
                <a:srgbClr val="CFD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80333" y="4029196"/>
            <a:ext cx="3100070" cy="750648"/>
          </a:xfrm>
          <a:prstGeom prst="rect">
            <a:avLst/>
          </a:prstGeom>
        </p:spPr>
        <p:txBody>
          <a:bodyPr vert="horz" wrap="square" lIns="0" tIns="73025" rIns="0" bIns="0" rtlCol="0" anchor="t">
            <a:spAutoFit/>
          </a:bodyPr>
          <a:lstStyle/>
          <a:p>
            <a:pPr marL="118110">
              <a:spcBef>
                <a:spcPts val="575"/>
              </a:spcBef>
            </a:pPr>
            <a:r>
              <a:rPr sz="1100" b="1">
                <a:solidFill>
                  <a:srgbClr val="0E364F"/>
                </a:solidFill>
                <a:latin typeface="Tahoma"/>
                <a:cs typeface="Tahoma"/>
              </a:rPr>
              <a:t>04</a:t>
            </a:r>
            <a:r>
              <a:rPr sz="1100" b="1" spc="1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lang="en-US" sz="1100" b="1" spc="-40">
                <a:solidFill>
                  <a:srgbClr val="0E364F"/>
                </a:solidFill>
                <a:latin typeface="Tahoma"/>
                <a:cs typeface="Tahoma"/>
              </a:rPr>
              <a:t>ONE FORECAST</a:t>
            </a:r>
            <a:r>
              <a:rPr sz="1100" b="1" spc="-12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100" b="1" spc="-45">
                <a:solidFill>
                  <a:srgbClr val="0E364F"/>
                </a:solidFill>
                <a:latin typeface="Tahoma"/>
                <a:cs typeface="Tahoma"/>
              </a:rPr>
              <a:t>DOESN'T</a:t>
            </a:r>
            <a:r>
              <a:rPr sz="1100" b="1" spc="12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100" b="1" spc="-45">
                <a:solidFill>
                  <a:srgbClr val="0E364F"/>
                </a:solidFill>
                <a:latin typeface="Tahoma"/>
                <a:cs typeface="Tahoma"/>
              </a:rPr>
              <a:t>FIT</a:t>
            </a:r>
            <a:r>
              <a:rPr sz="1100" b="1" spc="-13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100" b="1" spc="-75">
                <a:solidFill>
                  <a:srgbClr val="0E364F"/>
                </a:solidFill>
                <a:latin typeface="Tahoma"/>
                <a:cs typeface="Tahoma"/>
              </a:rPr>
              <a:t>EVERY</a:t>
            </a:r>
            <a:r>
              <a:rPr sz="1100" b="1" spc="-15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100" b="1" spc="-20">
                <a:solidFill>
                  <a:srgbClr val="0E364F"/>
                </a:solidFill>
                <a:latin typeface="Tahoma"/>
                <a:cs typeface="Tahoma"/>
              </a:rPr>
              <a:t>USER</a:t>
            </a:r>
            <a:endParaRPr sz="1100">
              <a:latin typeface="Tahoma"/>
              <a:cs typeface="Tahoma"/>
            </a:endParaRPr>
          </a:p>
          <a:p>
            <a:pPr marL="12700" marR="5080" algn="just">
              <a:lnSpc>
                <a:spcPts val="1130"/>
              </a:lnSpc>
              <a:spcBef>
                <a:spcPts val="470"/>
              </a:spcBef>
            </a:pPr>
            <a:r>
              <a:rPr lang="en-US" sz="950">
                <a:solidFill>
                  <a:srgbClr val="17202A"/>
                </a:solidFill>
                <a:latin typeface="Tahoma"/>
                <a:cs typeface="Tahoma"/>
              </a:rPr>
              <a:t>Farmers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,</a:t>
            </a:r>
            <a:r>
              <a:rPr sz="950" spc="10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commuters,</a:t>
            </a:r>
            <a:r>
              <a:rPr sz="950" spc="12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travellers</a:t>
            </a:r>
            <a:r>
              <a:rPr sz="950" spc="2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and</a:t>
            </a:r>
            <a:r>
              <a:rPr sz="950" spc="1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agencies</a:t>
            </a:r>
            <a:r>
              <a:rPr sz="950" spc="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and</a:t>
            </a:r>
            <a:r>
              <a:rPr sz="950" spc="1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 spc="-10">
                <a:solidFill>
                  <a:srgbClr val="17202A"/>
                </a:solidFill>
                <a:latin typeface="Tahoma"/>
                <a:cs typeface="Tahoma"/>
              </a:rPr>
              <a:t>everyday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users </a:t>
            </a:r>
            <a:r>
              <a:rPr sz="950" spc="-20">
                <a:solidFill>
                  <a:srgbClr val="17202A"/>
                </a:solidFill>
                <a:latin typeface="Tahoma"/>
                <a:cs typeface="Tahoma"/>
              </a:rPr>
              <a:t>need</a:t>
            </a:r>
            <a:r>
              <a:rPr sz="950" spc="-5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different</a:t>
            </a:r>
            <a:r>
              <a:rPr sz="950" spc="-2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levels</a:t>
            </a:r>
            <a:r>
              <a:rPr sz="950" spc="2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>
                <a:solidFill>
                  <a:srgbClr val="17202A"/>
                </a:solidFill>
                <a:latin typeface="Tahoma"/>
                <a:cs typeface="Tahoma"/>
              </a:rPr>
              <a:t>of</a:t>
            </a:r>
            <a:r>
              <a:rPr sz="950" spc="2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 spc="-10">
                <a:solidFill>
                  <a:srgbClr val="17202A"/>
                </a:solidFill>
                <a:latin typeface="Tahoma"/>
                <a:cs typeface="Tahoma"/>
              </a:rPr>
              <a:t>weather</a:t>
            </a:r>
            <a:r>
              <a:rPr sz="950" spc="-4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 spc="-10">
                <a:solidFill>
                  <a:srgbClr val="17202A"/>
                </a:solidFill>
                <a:latin typeface="Tahoma"/>
                <a:cs typeface="Tahoma"/>
              </a:rPr>
              <a:t>information</a:t>
            </a:r>
            <a:r>
              <a:rPr sz="950" spc="-1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 spc="-20">
                <a:solidFill>
                  <a:srgbClr val="17202A"/>
                </a:solidFill>
                <a:latin typeface="Tahoma"/>
                <a:cs typeface="Tahoma"/>
              </a:rPr>
              <a:t>tailored</a:t>
            </a:r>
            <a:r>
              <a:rPr sz="950" spc="-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 spc="-25">
                <a:solidFill>
                  <a:srgbClr val="17202A"/>
                </a:solidFill>
                <a:latin typeface="Tahoma"/>
                <a:cs typeface="Tahoma"/>
              </a:rPr>
              <a:t>to </a:t>
            </a:r>
            <a:r>
              <a:rPr sz="950" spc="-10">
                <a:solidFill>
                  <a:srgbClr val="17202A"/>
                </a:solidFill>
                <a:latin typeface="Tahoma"/>
                <a:cs typeface="Tahoma"/>
              </a:rPr>
              <a:t>their</a:t>
            </a:r>
            <a:r>
              <a:rPr sz="950" spc="-6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50" spc="-10">
                <a:solidFill>
                  <a:srgbClr val="17202A"/>
                </a:solidFill>
                <a:latin typeface="Tahoma"/>
                <a:cs typeface="Tahoma"/>
              </a:rPr>
              <a:t>specific needs.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133850" y="1139216"/>
            <a:ext cx="7429500" cy="413384"/>
            <a:chOff x="4133850" y="1139216"/>
            <a:chExt cx="7429500" cy="413384"/>
          </a:xfrm>
        </p:grpSpPr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33850" y="1139216"/>
              <a:ext cx="7429500" cy="41335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171950" y="1152525"/>
              <a:ext cx="7362825" cy="342900"/>
            </a:xfrm>
            <a:custGeom>
              <a:avLst/>
              <a:gdLst/>
              <a:ahLst/>
              <a:cxnLst/>
              <a:rect l="l" t="t" r="r" b="b"/>
              <a:pathLst>
                <a:path w="7362825" h="342900">
                  <a:moveTo>
                    <a:pt x="7305548" y="0"/>
                  </a:moveTo>
                  <a:lnTo>
                    <a:pt x="57150" y="0"/>
                  </a:lnTo>
                  <a:lnTo>
                    <a:pt x="34925" y="4445"/>
                  </a:lnTo>
                  <a:lnTo>
                    <a:pt x="16763" y="16763"/>
                  </a:lnTo>
                  <a:lnTo>
                    <a:pt x="4445" y="34925"/>
                  </a:lnTo>
                  <a:lnTo>
                    <a:pt x="0" y="57150"/>
                  </a:lnTo>
                  <a:lnTo>
                    <a:pt x="0" y="285623"/>
                  </a:lnTo>
                  <a:lnTo>
                    <a:pt x="4445" y="307975"/>
                  </a:lnTo>
                  <a:lnTo>
                    <a:pt x="16763" y="326136"/>
                  </a:lnTo>
                  <a:lnTo>
                    <a:pt x="34925" y="338454"/>
                  </a:lnTo>
                  <a:lnTo>
                    <a:pt x="57150" y="342900"/>
                  </a:lnTo>
                  <a:lnTo>
                    <a:pt x="7305548" y="342900"/>
                  </a:lnTo>
                  <a:lnTo>
                    <a:pt x="7327900" y="338454"/>
                  </a:lnTo>
                  <a:lnTo>
                    <a:pt x="7346060" y="326136"/>
                  </a:lnTo>
                  <a:lnTo>
                    <a:pt x="7358380" y="307975"/>
                  </a:lnTo>
                  <a:lnTo>
                    <a:pt x="7362825" y="285623"/>
                  </a:lnTo>
                  <a:lnTo>
                    <a:pt x="7362825" y="57150"/>
                  </a:lnTo>
                  <a:lnTo>
                    <a:pt x="7358380" y="34925"/>
                  </a:lnTo>
                  <a:lnTo>
                    <a:pt x="7346060" y="16763"/>
                  </a:lnTo>
                  <a:lnTo>
                    <a:pt x="7327900" y="4445"/>
                  </a:lnTo>
                  <a:lnTo>
                    <a:pt x="7305548" y="0"/>
                  </a:lnTo>
                  <a:close/>
                </a:path>
              </a:pathLst>
            </a:custGeom>
            <a:solidFill>
              <a:srgbClr val="EC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176776" y="1157351"/>
              <a:ext cx="7362825" cy="342900"/>
            </a:xfrm>
            <a:custGeom>
              <a:avLst/>
              <a:gdLst/>
              <a:ahLst/>
              <a:cxnLst/>
              <a:rect l="l" t="t" r="r" b="b"/>
              <a:pathLst>
                <a:path w="7362825" h="342900">
                  <a:moveTo>
                    <a:pt x="0" y="57150"/>
                  </a:moveTo>
                  <a:lnTo>
                    <a:pt x="4445" y="34798"/>
                  </a:lnTo>
                  <a:lnTo>
                    <a:pt x="16637" y="16637"/>
                  </a:lnTo>
                  <a:lnTo>
                    <a:pt x="34798" y="4445"/>
                  </a:lnTo>
                  <a:lnTo>
                    <a:pt x="57150" y="0"/>
                  </a:lnTo>
                  <a:lnTo>
                    <a:pt x="7305421" y="0"/>
                  </a:lnTo>
                  <a:lnTo>
                    <a:pt x="7327773" y="4445"/>
                  </a:lnTo>
                  <a:lnTo>
                    <a:pt x="7345933" y="16637"/>
                  </a:lnTo>
                  <a:lnTo>
                    <a:pt x="7358253" y="34798"/>
                  </a:lnTo>
                  <a:lnTo>
                    <a:pt x="7362825" y="57150"/>
                  </a:lnTo>
                  <a:lnTo>
                    <a:pt x="7362825" y="285623"/>
                  </a:lnTo>
                  <a:lnTo>
                    <a:pt x="7358253" y="307848"/>
                  </a:lnTo>
                  <a:lnTo>
                    <a:pt x="7345933" y="326009"/>
                  </a:lnTo>
                  <a:lnTo>
                    <a:pt x="7327773" y="338327"/>
                  </a:lnTo>
                  <a:lnTo>
                    <a:pt x="7305421" y="342900"/>
                  </a:lnTo>
                  <a:lnTo>
                    <a:pt x="57150" y="342900"/>
                  </a:lnTo>
                  <a:lnTo>
                    <a:pt x="34798" y="338327"/>
                  </a:lnTo>
                  <a:lnTo>
                    <a:pt x="16637" y="326009"/>
                  </a:lnTo>
                  <a:lnTo>
                    <a:pt x="4445" y="307848"/>
                  </a:lnTo>
                  <a:lnTo>
                    <a:pt x="0" y="285623"/>
                  </a:lnTo>
                  <a:lnTo>
                    <a:pt x="0" y="57150"/>
                  </a:lnTo>
                  <a:close/>
                </a:path>
              </a:pathLst>
            </a:custGeom>
            <a:ln w="10160">
              <a:solidFill>
                <a:srgbClr val="C8DC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282440" y="1196911"/>
            <a:ext cx="4018279" cy="1974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60">
                <a:solidFill>
                  <a:srgbClr val="0E364F"/>
                </a:solidFill>
                <a:latin typeface="Tahoma"/>
                <a:cs typeface="Tahoma"/>
              </a:rPr>
              <a:t>THE</a:t>
            </a:r>
            <a:r>
              <a:rPr sz="1200" b="1" spc="-19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 spc="-100">
                <a:solidFill>
                  <a:srgbClr val="0E364F"/>
                </a:solidFill>
                <a:latin typeface="Tahoma"/>
                <a:cs typeface="Tahoma"/>
              </a:rPr>
              <a:t>WEATHERGPT</a:t>
            </a:r>
            <a:r>
              <a:rPr sz="1200" b="1" spc="-16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lang="en-US" sz="1200" b="1" spc="-55">
                <a:solidFill>
                  <a:srgbClr val="0E364F"/>
                </a:solidFill>
                <a:latin typeface="Tahoma"/>
                <a:cs typeface="Tahoma"/>
              </a:rPr>
              <a:t>APPROACH</a:t>
            </a:r>
            <a:r>
              <a:rPr lang="en-US" sz="1200" b="1" spc="-6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lang="en-US" sz="1200" b="1">
                <a:solidFill>
                  <a:srgbClr val="0E364F"/>
                </a:solidFill>
                <a:latin typeface="Tahoma"/>
                <a:cs typeface="Tahoma"/>
              </a:rPr>
              <a:t>–</a:t>
            </a:r>
            <a:r>
              <a:rPr lang="en-US" sz="1200" b="1" spc="-7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 spc="-40">
                <a:solidFill>
                  <a:srgbClr val="0E364F"/>
                </a:solidFill>
                <a:latin typeface="Tahoma"/>
                <a:cs typeface="Tahoma"/>
              </a:rPr>
              <a:t>OUR</a:t>
            </a:r>
            <a:r>
              <a:rPr sz="1200" b="1" spc="-6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 spc="-55">
                <a:solidFill>
                  <a:srgbClr val="0E364F"/>
                </a:solidFill>
                <a:latin typeface="Tahoma"/>
                <a:cs typeface="Tahoma"/>
              </a:rPr>
              <a:t>PROPOSED</a:t>
            </a:r>
            <a:r>
              <a:rPr sz="1200" b="1" spc="-10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 spc="-10">
                <a:solidFill>
                  <a:srgbClr val="0E364F"/>
                </a:solidFill>
                <a:latin typeface="Tahoma"/>
                <a:cs typeface="Tahoma"/>
              </a:rPr>
              <a:t>MODEL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241189" y="1676336"/>
            <a:ext cx="7578090" cy="30035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800" b="1" spc="-20">
              <a:solidFill>
                <a:srgbClr val="0E364F"/>
              </a:solidFill>
              <a:latin typeface="Tahoma"/>
              <a:ea typeface="Tahoma"/>
              <a:cs typeface="Tahom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133588" y="1999436"/>
            <a:ext cx="1809530" cy="3434075"/>
            <a:chOff x="4267200" y="2038350"/>
            <a:chExt cx="1671701" cy="2967101"/>
          </a:xfrm>
        </p:grpSpPr>
        <p:sp>
          <p:nvSpPr>
            <p:cNvPr id="41" name="object 41"/>
            <p:cNvSpPr/>
            <p:nvPr/>
          </p:nvSpPr>
          <p:spPr>
            <a:xfrm>
              <a:off x="4267200" y="2038350"/>
              <a:ext cx="1666875" cy="2962275"/>
            </a:xfrm>
            <a:custGeom>
              <a:avLst/>
              <a:gdLst/>
              <a:ahLst/>
              <a:cxnLst/>
              <a:rect l="l" t="t" r="r" b="b"/>
              <a:pathLst>
                <a:path w="1666875" h="2962275">
                  <a:moveTo>
                    <a:pt x="1388999" y="0"/>
                  </a:moveTo>
                  <a:lnTo>
                    <a:pt x="277749" y="0"/>
                  </a:lnTo>
                  <a:lnTo>
                    <a:pt x="232663" y="3428"/>
                  </a:lnTo>
                  <a:lnTo>
                    <a:pt x="189991" y="13335"/>
                  </a:lnTo>
                  <a:lnTo>
                    <a:pt x="150113" y="29083"/>
                  </a:lnTo>
                  <a:lnTo>
                    <a:pt x="113664" y="50291"/>
                  </a:lnTo>
                  <a:lnTo>
                    <a:pt x="81279" y="76453"/>
                  </a:lnTo>
                  <a:lnTo>
                    <a:pt x="53594" y="106807"/>
                  </a:lnTo>
                  <a:lnTo>
                    <a:pt x="30987" y="140970"/>
                  </a:lnTo>
                  <a:lnTo>
                    <a:pt x="14097" y="178435"/>
                  </a:lnTo>
                  <a:lnTo>
                    <a:pt x="3683" y="218694"/>
                  </a:lnTo>
                  <a:lnTo>
                    <a:pt x="0" y="260985"/>
                  </a:lnTo>
                  <a:lnTo>
                    <a:pt x="0" y="2701163"/>
                  </a:lnTo>
                  <a:lnTo>
                    <a:pt x="3683" y="2743581"/>
                  </a:lnTo>
                  <a:lnTo>
                    <a:pt x="14097" y="2783713"/>
                  </a:lnTo>
                  <a:lnTo>
                    <a:pt x="30987" y="2821178"/>
                  </a:lnTo>
                  <a:lnTo>
                    <a:pt x="53594" y="2855341"/>
                  </a:lnTo>
                  <a:lnTo>
                    <a:pt x="81279" y="2885821"/>
                  </a:lnTo>
                  <a:lnTo>
                    <a:pt x="113664" y="2911856"/>
                  </a:lnTo>
                  <a:lnTo>
                    <a:pt x="150113" y="2933065"/>
                  </a:lnTo>
                  <a:lnTo>
                    <a:pt x="189991" y="2948940"/>
                  </a:lnTo>
                  <a:lnTo>
                    <a:pt x="232663" y="2958846"/>
                  </a:lnTo>
                  <a:lnTo>
                    <a:pt x="277749" y="2962275"/>
                  </a:lnTo>
                  <a:lnTo>
                    <a:pt x="1388999" y="2962275"/>
                  </a:lnTo>
                  <a:lnTo>
                    <a:pt x="1434084" y="2958846"/>
                  </a:lnTo>
                  <a:lnTo>
                    <a:pt x="1476755" y="2948940"/>
                  </a:lnTo>
                  <a:lnTo>
                    <a:pt x="1516634" y="2933065"/>
                  </a:lnTo>
                  <a:lnTo>
                    <a:pt x="1553083" y="2911856"/>
                  </a:lnTo>
                  <a:lnTo>
                    <a:pt x="1585467" y="2885821"/>
                  </a:lnTo>
                  <a:lnTo>
                    <a:pt x="1613280" y="2855341"/>
                  </a:lnTo>
                  <a:lnTo>
                    <a:pt x="1635887" y="2821178"/>
                  </a:lnTo>
                  <a:lnTo>
                    <a:pt x="1652651" y="2783713"/>
                  </a:lnTo>
                  <a:lnTo>
                    <a:pt x="1663191" y="2743581"/>
                  </a:lnTo>
                  <a:lnTo>
                    <a:pt x="1666875" y="2701163"/>
                  </a:lnTo>
                  <a:lnTo>
                    <a:pt x="1666875" y="260985"/>
                  </a:lnTo>
                  <a:lnTo>
                    <a:pt x="1663191" y="218694"/>
                  </a:lnTo>
                  <a:lnTo>
                    <a:pt x="1652651" y="178435"/>
                  </a:lnTo>
                  <a:lnTo>
                    <a:pt x="1635887" y="140970"/>
                  </a:lnTo>
                  <a:lnTo>
                    <a:pt x="1613280" y="106807"/>
                  </a:lnTo>
                  <a:lnTo>
                    <a:pt x="1585467" y="76453"/>
                  </a:lnTo>
                  <a:lnTo>
                    <a:pt x="1553083" y="50291"/>
                  </a:lnTo>
                  <a:lnTo>
                    <a:pt x="1516634" y="29083"/>
                  </a:lnTo>
                  <a:lnTo>
                    <a:pt x="1476755" y="13335"/>
                  </a:lnTo>
                  <a:lnTo>
                    <a:pt x="1434084" y="3428"/>
                  </a:lnTo>
                  <a:lnTo>
                    <a:pt x="1388999" y="0"/>
                  </a:lnTo>
                  <a:close/>
                </a:path>
              </a:pathLst>
            </a:custGeom>
            <a:solidFill>
              <a:srgbClr val="F7F8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272026" y="2043176"/>
              <a:ext cx="1666875" cy="2962275"/>
            </a:xfrm>
            <a:custGeom>
              <a:avLst/>
              <a:gdLst/>
              <a:ahLst/>
              <a:cxnLst/>
              <a:rect l="l" t="t" r="r" b="b"/>
              <a:pathLst>
                <a:path w="1666875" h="2962275">
                  <a:moveTo>
                    <a:pt x="0" y="260858"/>
                  </a:moveTo>
                  <a:lnTo>
                    <a:pt x="3556" y="218566"/>
                  </a:lnTo>
                  <a:lnTo>
                    <a:pt x="14097" y="178435"/>
                  </a:lnTo>
                  <a:lnTo>
                    <a:pt x="30987" y="140970"/>
                  </a:lnTo>
                  <a:lnTo>
                    <a:pt x="53466" y="106807"/>
                  </a:lnTo>
                  <a:lnTo>
                    <a:pt x="81279" y="76326"/>
                  </a:lnTo>
                  <a:lnTo>
                    <a:pt x="113664" y="50291"/>
                  </a:lnTo>
                  <a:lnTo>
                    <a:pt x="149987" y="29083"/>
                  </a:lnTo>
                  <a:lnTo>
                    <a:pt x="189864" y="13208"/>
                  </a:lnTo>
                  <a:lnTo>
                    <a:pt x="232663" y="3301"/>
                  </a:lnTo>
                  <a:lnTo>
                    <a:pt x="277749" y="0"/>
                  </a:lnTo>
                  <a:lnTo>
                    <a:pt x="1388999" y="0"/>
                  </a:lnTo>
                  <a:lnTo>
                    <a:pt x="1433957" y="3301"/>
                  </a:lnTo>
                  <a:lnTo>
                    <a:pt x="1476756" y="13208"/>
                  </a:lnTo>
                  <a:lnTo>
                    <a:pt x="1516634" y="29083"/>
                  </a:lnTo>
                  <a:lnTo>
                    <a:pt x="1553083" y="50291"/>
                  </a:lnTo>
                  <a:lnTo>
                    <a:pt x="1585340" y="76326"/>
                  </a:lnTo>
                  <a:lnTo>
                    <a:pt x="1613153" y="106807"/>
                  </a:lnTo>
                  <a:lnTo>
                    <a:pt x="1635760" y="140970"/>
                  </a:lnTo>
                  <a:lnTo>
                    <a:pt x="1652651" y="178435"/>
                  </a:lnTo>
                  <a:lnTo>
                    <a:pt x="1663191" y="218566"/>
                  </a:lnTo>
                  <a:lnTo>
                    <a:pt x="1666875" y="260858"/>
                  </a:lnTo>
                  <a:lnTo>
                    <a:pt x="1666875" y="2701163"/>
                  </a:lnTo>
                  <a:lnTo>
                    <a:pt x="1663191" y="2743454"/>
                  </a:lnTo>
                  <a:lnTo>
                    <a:pt x="1652651" y="2783586"/>
                  </a:lnTo>
                  <a:lnTo>
                    <a:pt x="1635760" y="2821051"/>
                  </a:lnTo>
                  <a:lnTo>
                    <a:pt x="1613153" y="2855341"/>
                  </a:lnTo>
                  <a:lnTo>
                    <a:pt x="1585468" y="2885694"/>
                  </a:lnTo>
                  <a:lnTo>
                    <a:pt x="1553083" y="2911856"/>
                  </a:lnTo>
                  <a:lnTo>
                    <a:pt x="1516634" y="2933065"/>
                  </a:lnTo>
                  <a:lnTo>
                    <a:pt x="1476756" y="2948940"/>
                  </a:lnTo>
                  <a:lnTo>
                    <a:pt x="1433957" y="2958846"/>
                  </a:lnTo>
                  <a:lnTo>
                    <a:pt x="1388999" y="2962148"/>
                  </a:lnTo>
                  <a:lnTo>
                    <a:pt x="277749" y="2962148"/>
                  </a:lnTo>
                  <a:lnTo>
                    <a:pt x="232663" y="2958846"/>
                  </a:lnTo>
                  <a:lnTo>
                    <a:pt x="189864" y="2948940"/>
                  </a:lnTo>
                  <a:lnTo>
                    <a:pt x="149987" y="2933065"/>
                  </a:lnTo>
                  <a:lnTo>
                    <a:pt x="113664" y="2911856"/>
                  </a:lnTo>
                  <a:lnTo>
                    <a:pt x="81279" y="2885694"/>
                  </a:lnTo>
                  <a:lnTo>
                    <a:pt x="53466" y="2855341"/>
                  </a:lnTo>
                  <a:lnTo>
                    <a:pt x="30987" y="2821051"/>
                  </a:lnTo>
                  <a:lnTo>
                    <a:pt x="14097" y="2783586"/>
                  </a:lnTo>
                  <a:lnTo>
                    <a:pt x="3556" y="2743454"/>
                  </a:lnTo>
                  <a:lnTo>
                    <a:pt x="0" y="2701163"/>
                  </a:lnTo>
                  <a:lnTo>
                    <a:pt x="0" y="260858"/>
                  </a:lnTo>
                  <a:close/>
                </a:path>
              </a:pathLst>
            </a:custGeom>
            <a:ln w="12700">
              <a:solidFill>
                <a:srgbClr val="CEDC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76725" y="2066925"/>
              <a:ext cx="1647825" cy="53340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4333875" y="2095500"/>
              <a:ext cx="1533525" cy="428625"/>
            </a:xfrm>
            <a:custGeom>
              <a:avLst/>
              <a:gdLst/>
              <a:ahLst/>
              <a:cxnLst/>
              <a:rect l="l" t="t" r="r" b="b"/>
              <a:pathLst>
                <a:path w="1533525" h="428625">
                  <a:moveTo>
                    <a:pt x="1457198" y="0"/>
                  </a:moveTo>
                  <a:lnTo>
                    <a:pt x="76200" y="0"/>
                  </a:lnTo>
                  <a:lnTo>
                    <a:pt x="46482" y="5587"/>
                  </a:lnTo>
                  <a:lnTo>
                    <a:pt x="22225" y="20954"/>
                  </a:lnTo>
                  <a:lnTo>
                    <a:pt x="5969" y="43561"/>
                  </a:lnTo>
                  <a:lnTo>
                    <a:pt x="0" y="71374"/>
                  </a:lnTo>
                  <a:lnTo>
                    <a:pt x="0" y="357124"/>
                  </a:lnTo>
                  <a:lnTo>
                    <a:pt x="5969" y="384937"/>
                  </a:lnTo>
                  <a:lnTo>
                    <a:pt x="22225" y="407670"/>
                  </a:lnTo>
                  <a:lnTo>
                    <a:pt x="46482" y="423037"/>
                  </a:lnTo>
                  <a:lnTo>
                    <a:pt x="76200" y="428625"/>
                  </a:lnTo>
                  <a:lnTo>
                    <a:pt x="1457198" y="428625"/>
                  </a:lnTo>
                  <a:lnTo>
                    <a:pt x="1486915" y="423037"/>
                  </a:lnTo>
                  <a:lnTo>
                    <a:pt x="1511173" y="407670"/>
                  </a:lnTo>
                  <a:lnTo>
                    <a:pt x="1527555" y="384937"/>
                  </a:lnTo>
                  <a:lnTo>
                    <a:pt x="1533525" y="357124"/>
                  </a:lnTo>
                  <a:lnTo>
                    <a:pt x="1533525" y="71374"/>
                  </a:lnTo>
                  <a:lnTo>
                    <a:pt x="1527555" y="43561"/>
                  </a:lnTo>
                  <a:lnTo>
                    <a:pt x="1511173" y="20954"/>
                  </a:lnTo>
                  <a:lnTo>
                    <a:pt x="1486915" y="5587"/>
                  </a:lnTo>
                  <a:lnTo>
                    <a:pt x="1457198" y="0"/>
                  </a:lnTo>
                  <a:close/>
                </a:path>
              </a:pathLst>
            </a:custGeom>
            <a:solidFill>
              <a:srgbClr val="2274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338701" y="2100326"/>
              <a:ext cx="1533525" cy="428625"/>
            </a:xfrm>
            <a:custGeom>
              <a:avLst/>
              <a:gdLst/>
              <a:ahLst/>
              <a:cxnLst/>
              <a:rect l="l" t="t" r="r" b="b"/>
              <a:pathLst>
                <a:path w="1533525" h="428625">
                  <a:moveTo>
                    <a:pt x="0" y="71374"/>
                  </a:moveTo>
                  <a:lnTo>
                    <a:pt x="5969" y="43561"/>
                  </a:lnTo>
                  <a:lnTo>
                    <a:pt x="22225" y="20827"/>
                  </a:lnTo>
                  <a:lnTo>
                    <a:pt x="46482" y="5587"/>
                  </a:lnTo>
                  <a:lnTo>
                    <a:pt x="76200" y="0"/>
                  </a:lnTo>
                  <a:lnTo>
                    <a:pt x="1457198" y="0"/>
                  </a:lnTo>
                  <a:lnTo>
                    <a:pt x="1486789" y="5587"/>
                  </a:lnTo>
                  <a:lnTo>
                    <a:pt x="1511046" y="20827"/>
                  </a:lnTo>
                  <a:lnTo>
                    <a:pt x="1527428" y="43561"/>
                  </a:lnTo>
                  <a:lnTo>
                    <a:pt x="1533525" y="71374"/>
                  </a:lnTo>
                  <a:lnTo>
                    <a:pt x="1533525" y="356997"/>
                  </a:lnTo>
                  <a:lnTo>
                    <a:pt x="1527428" y="384810"/>
                  </a:lnTo>
                  <a:lnTo>
                    <a:pt x="1511173" y="407543"/>
                  </a:lnTo>
                  <a:lnTo>
                    <a:pt x="1486789" y="422910"/>
                  </a:lnTo>
                  <a:lnTo>
                    <a:pt x="1457198" y="428625"/>
                  </a:lnTo>
                  <a:lnTo>
                    <a:pt x="76200" y="428625"/>
                  </a:lnTo>
                  <a:lnTo>
                    <a:pt x="46482" y="422910"/>
                  </a:lnTo>
                  <a:lnTo>
                    <a:pt x="22225" y="407670"/>
                  </a:lnTo>
                  <a:lnTo>
                    <a:pt x="5969" y="384810"/>
                  </a:lnTo>
                  <a:lnTo>
                    <a:pt x="0" y="356997"/>
                  </a:lnTo>
                  <a:lnTo>
                    <a:pt x="0" y="71374"/>
                  </a:lnTo>
                  <a:close/>
                </a:path>
              </a:pathLst>
            </a:custGeom>
            <a:ln w="6350">
              <a:solidFill>
                <a:srgbClr val="2274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4132773" y="2628280"/>
            <a:ext cx="1797492" cy="30264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900" b="1" spc="-55">
                <a:solidFill>
                  <a:srgbClr val="0E364F"/>
                </a:solidFill>
                <a:latin typeface="Tahoma"/>
                <a:cs typeface="Tahoma"/>
              </a:rPr>
              <a:t>Discover</a:t>
            </a:r>
            <a:r>
              <a:rPr sz="900" b="1" spc="-7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900" b="1" spc="-80">
                <a:solidFill>
                  <a:srgbClr val="0E364F"/>
                </a:solidFill>
                <a:latin typeface="Tahoma"/>
                <a:cs typeface="Tahoma"/>
              </a:rPr>
              <a:t>weather</a:t>
            </a:r>
            <a:r>
              <a:rPr sz="900" b="1" spc="-4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900" b="1" spc="-20">
                <a:solidFill>
                  <a:srgbClr val="0E364F"/>
                </a:solidFill>
                <a:latin typeface="Tahoma"/>
                <a:cs typeface="Tahoma"/>
              </a:rPr>
              <a:t>visually</a:t>
            </a:r>
            <a:endParaRPr lang="en-US" sz="900" b="1" spc="-20">
              <a:solidFill>
                <a:srgbClr val="0E364F"/>
              </a:solidFill>
              <a:latin typeface="Tahoma"/>
              <a:ea typeface="Tahoma"/>
              <a:cs typeface="Tahoma"/>
            </a:endParaRPr>
          </a:p>
          <a:p>
            <a:pPr marL="12700" algn="ctr">
              <a:spcBef>
                <a:spcPts val="100"/>
              </a:spcBef>
            </a:pPr>
            <a:r>
              <a:rPr lang="en-US" sz="900" b="1" spc="-20">
                <a:solidFill>
                  <a:srgbClr val="0E364F"/>
                </a:solidFill>
                <a:latin typeface="Tahoma"/>
                <a:ea typeface="Tahoma"/>
                <a:cs typeface="Tahoma"/>
              </a:rPr>
              <a:t>On geographical map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4308919" y="2983171"/>
            <a:ext cx="1617592" cy="758748"/>
          </a:xfrm>
          <a:prstGeom prst="rect">
            <a:avLst/>
          </a:prstGeom>
        </p:spPr>
        <p:txBody>
          <a:bodyPr vert="horz" wrap="square" lIns="0" tIns="21590" rIns="0" bIns="0" rtlCol="0" anchor="t">
            <a:spAutoFit/>
          </a:bodyPr>
          <a:lstStyle/>
          <a:p>
            <a:pPr marL="12700" marR="5080">
              <a:lnSpc>
                <a:spcPct val="105400"/>
              </a:lnSpc>
              <a:spcBef>
                <a:spcPts val="170"/>
              </a:spcBef>
            </a:pPr>
            <a:r>
              <a:rPr sz="900" b="1" i="1" spc="-10">
                <a:solidFill>
                  <a:srgbClr val="E76D09"/>
                </a:solidFill>
                <a:latin typeface="Trebuchet MS"/>
                <a:cs typeface="Trebuchet MS"/>
              </a:rPr>
              <a:t>Conversational </a:t>
            </a:r>
            <a:r>
              <a:rPr sz="900" b="1" i="1">
                <a:solidFill>
                  <a:srgbClr val="E76D09"/>
                </a:solidFill>
                <a:latin typeface="Trebuchet MS"/>
                <a:cs typeface="Trebuchet MS"/>
              </a:rPr>
              <a:t>Weather</a:t>
            </a:r>
            <a:r>
              <a:rPr sz="900" b="1" i="1" spc="-20">
                <a:solidFill>
                  <a:srgbClr val="E76D09"/>
                </a:solidFill>
                <a:latin typeface="Trebuchet MS"/>
                <a:cs typeface="Trebuchet MS"/>
              </a:rPr>
              <a:t> </a:t>
            </a:r>
            <a:r>
              <a:rPr lang="en-US" sz="900" b="1" i="1" spc="-10">
                <a:solidFill>
                  <a:srgbClr val="E76D09"/>
                </a:solidFill>
                <a:latin typeface="Trebuchet MS"/>
                <a:cs typeface="Trebuchet MS"/>
              </a:rPr>
              <a:t>Map</a:t>
            </a:r>
            <a:r>
              <a:rPr lang="en-US" sz="950" spc="-10">
                <a:solidFill>
                  <a:srgbClr val="4D5F27"/>
                </a:solidFill>
                <a:latin typeface="Tahoma"/>
                <a:cs typeface="Tahoma"/>
              </a:rPr>
              <a:t>-</a:t>
            </a:r>
            <a:r>
              <a:rPr lang="en-US" sz="950" spc="-10">
                <a:solidFill>
                  <a:srgbClr val="4D5F27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900" spc="-10">
                <a:solidFill>
                  <a:schemeClr val="tx1"/>
                </a:solidFill>
                <a:latin typeface="Tahoma"/>
                <a:ea typeface="Tahoma"/>
                <a:cs typeface="Tahoma"/>
              </a:rPr>
              <a:t>Chat</a:t>
            </a:r>
            <a:r>
              <a:rPr lang="en-US" sz="950" spc="-10">
                <a:solidFill>
                  <a:srgbClr val="4D5F27"/>
                </a:solidFill>
              </a:rPr>
              <a:t> </a:t>
            </a:r>
            <a:r>
              <a:rPr lang="en-US" sz="900">
                <a:latin typeface="Tahoma"/>
                <a:ea typeface="Tahoma"/>
                <a:cs typeface="Tahoma"/>
              </a:rPr>
              <a:t>and instantly visualize the information you request including weather conditions along your route.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4307714" y="3904306"/>
            <a:ext cx="1620097" cy="1503938"/>
          </a:xfrm>
          <a:prstGeom prst="rect">
            <a:avLst/>
          </a:prstGeom>
        </p:spPr>
        <p:txBody>
          <a:bodyPr vert="horz" wrap="square" lIns="0" tIns="7620" rIns="0" bIns="0" rtlCol="0" anchor="t">
            <a:spAutoFit/>
          </a:bodyPr>
          <a:lstStyle/>
          <a:p>
            <a:pPr marL="57785" marR="5080">
              <a:lnSpc>
                <a:spcPct val="105400"/>
              </a:lnSpc>
              <a:spcBef>
                <a:spcPts val="60"/>
              </a:spcBef>
            </a:pPr>
            <a:r>
              <a:rPr sz="900" b="1" i="1" spc="-10">
                <a:solidFill>
                  <a:srgbClr val="E76D09"/>
                </a:solidFill>
                <a:latin typeface="Trebuchet MS"/>
                <a:cs typeface="Trebuchet MS"/>
              </a:rPr>
              <a:t>Weather</a:t>
            </a:r>
            <a:r>
              <a:rPr sz="900" b="1" i="1" spc="-45">
                <a:solidFill>
                  <a:srgbClr val="E76D09"/>
                </a:solidFill>
                <a:latin typeface="Trebuchet MS"/>
                <a:cs typeface="Trebuchet MS"/>
              </a:rPr>
              <a:t> </a:t>
            </a:r>
            <a:r>
              <a:rPr lang="en-US" sz="900" b="1" i="1" spc="-10">
                <a:solidFill>
                  <a:srgbClr val="E76D09"/>
                </a:solidFill>
                <a:latin typeface="Trebuchet MS"/>
                <a:cs typeface="Trebuchet MS"/>
              </a:rPr>
              <a:t>Repla</a:t>
            </a:r>
            <a:r>
              <a:rPr lang="en-US" sz="900" spc="-10">
                <a:solidFill>
                  <a:srgbClr val="E76D09"/>
                </a:solidFill>
                <a:latin typeface="Tahoma"/>
                <a:cs typeface="Tahoma"/>
              </a:rPr>
              <a:t>y</a:t>
            </a:r>
            <a:r>
              <a:rPr lang="en-US" sz="950" spc="-10">
                <a:solidFill>
                  <a:srgbClr val="17202A"/>
                </a:solidFill>
                <a:latin typeface="Tahoma"/>
                <a:cs typeface="Tahoma"/>
              </a:rPr>
              <a:t>-</a:t>
            </a:r>
            <a:r>
              <a:rPr lang="en-US" sz="900" spc="-10">
                <a:solidFill>
                  <a:srgbClr val="17202A"/>
                </a:solidFill>
                <a:latin typeface="Tahoma"/>
                <a:cs typeface="Tahoma"/>
              </a:rPr>
              <a:t>Replay</a:t>
            </a:r>
            <a:endParaRPr lang="en-US" sz="900"/>
          </a:p>
          <a:p>
            <a:pPr marL="57785" marR="5080">
              <a:lnSpc>
                <a:spcPct val="105400"/>
              </a:lnSpc>
              <a:spcBef>
                <a:spcPts val="60"/>
              </a:spcBef>
            </a:pPr>
            <a:r>
              <a:rPr lang="en-US" sz="900">
                <a:solidFill>
                  <a:srgbClr val="000000"/>
                </a:solidFill>
                <a:latin typeface="Tahoma"/>
                <a:cs typeface="Tahoma"/>
              </a:rPr>
              <a:t>past</a:t>
            </a:r>
            <a:r>
              <a:rPr lang="en-US" sz="900">
                <a:latin typeface="Tahoma"/>
                <a:ea typeface="Tahoma"/>
                <a:cs typeface="Tahoma"/>
              </a:rPr>
              <a:t> weather on the map to see how rain and other conditions changed and moved over time</a:t>
            </a:r>
            <a:endParaRPr lang="en-US" sz="900"/>
          </a:p>
          <a:p>
            <a:pPr marL="57785" marR="5080">
              <a:lnSpc>
                <a:spcPct val="105400"/>
              </a:lnSpc>
              <a:spcBef>
                <a:spcPts val="60"/>
              </a:spcBef>
            </a:pPr>
            <a:endParaRPr lang="en-US" sz="900" b="1" i="1">
              <a:solidFill>
                <a:srgbClr val="E76D09"/>
              </a:solidFill>
              <a:latin typeface="Trebuchet MS"/>
              <a:cs typeface="Trebuchet MS"/>
            </a:endParaRPr>
          </a:p>
          <a:p>
            <a:pPr marL="57785" marR="5080">
              <a:lnSpc>
                <a:spcPct val="105400"/>
              </a:lnSpc>
              <a:spcBef>
                <a:spcPts val="60"/>
              </a:spcBef>
            </a:pPr>
            <a:r>
              <a:rPr sz="900" b="1" i="1">
                <a:solidFill>
                  <a:srgbClr val="E76D09"/>
                </a:solidFill>
                <a:latin typeface="Trebuchet MS"/>
                <a:cs typeface="Trebuchet MS"/>
              </a:rPr>
              <a:t>Find</a:t>
            </a:r>
            <a:r>
              <a:rPr sz="900" b="1" i="1" spc="-95">
                <a:solidFill>
                  <a:srgbClr val="E76D09"/>
                </a:solidFill>
                <a:latin typeface="Trebuchet MS"/>
                <a:cs typeface="Trebuchet MS"/>
              </a:rPr>
              <a:t> </a:t>
            </a:r>
            <a:r>
              <a:rPr sz="900" b="1" i="1">
                <a:solidFill>
                  <a:srgbClr val="E76D09"/>
                </a:solidFill>
                <a:latin typeface="Trebuchet MS"/>
                <a:cs typeface="Trebuchet MS"/>
              </a:rPr>
              <a:t>Me</a:t>
            </a:r>
            <a:r>
              <a:rPr sz="900" b="1" i="1" spc="-30">
                <a:solidFill>
                  <a:srgbClr val="E76D09"/>
                </a:solidFill>
                <a:latin typeface="Trebuchet MS"/>
                <a:cs typeface="Trebuchet MS"/>
              </a:rPr>
              <a:t> </a:t>
            </a:r>
            <a:r>
              <a:rPr sz="900" b="1" i="1" spc="-20">
                <a:solidFill>
                  <a:srgbClr val="E76D09"/>
                </a:solidFill>
                <a:latin typeface="Trebuchet MS"/>
                <a:cs typeface="Trebuchet MS"/>
              </a:rPr>
              <a:t>Good </a:t>
            </a:r>
            <a:r>
              <a:rPr lang="en-US" sz="900" b="1" i="1" spc="-25">
                <a:solidFill>
                  <a:srgbClr val="E76D09"/>
                </a:solidFill>
                <a:latin typeface="Trebuchet MS"/>
                <a:cs typeface="Trebuchet MS"/>
              </a:rPr>
              <a:t>Weather</a:t>
            </a:r>
            <a:r>
              <a:rPr lang="en-US" sz="950" spc="-25">
                <a:solidFill>
                  <a:srgbClr val="17202A"/>
                </a:solidFill>
                <a:latin typeface="Tahoma"/>
                <a:cs typeface="Tahoma"/>
              </a:rPr>
              <a:t>-</a:t>
            </a:r>
            <a:r>
              <a:rPr lang="en-US" sz="900">
                <a:latin typeface="Tahoma"/>
                <a:cs typeface="Tahoma"/>
              </a:rPr>
              <a:t>Tell preferred weather and find locations where those conditions are expected. </a:t>
            </a:r>
            <a:endParaRPr sz="900">
              <a:latin typeface="Tahoma"/>
              <a:ea typeface="Tahoma"/>
              <a:cs typeface="Tahoma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6100673" y="1996396"/>
            <a:ext cx="1791060" cy="3502203"/>
            <a:chOff x="6115050" y="2025150"/>
            <a:chExt cx="1733550" cy="3042149"/>
          </a:xfrm>
        </p:grpSpPr>
        <p:pic>
          <p:nvPicPr>
            <p:cNvPr id="58" name="object 5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15050" y="2025150"/>
              <a:ext cx="1733550" cy="3042149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6143625" y="2038349"/>
              <a:ext cx="1676400" cy="2981325"/>
            </a:xfrm>
            <a:custGeom>
              <a:avLst/>
              <a:gdLst/>
              <a:ahLst/>
              <a:cxnLst/>
              <a:rect l="l" t="t" r="r" b="b"/>
              <a:pathLst>
                <a:path w="1676400" h="2981325">
                  <a:moveTo>
                    <a:pt x="1396873" y="0"/>
                  </a:moveTo>
                  <a:lnTo>
                    <a:pt x="279400" y="0"/>
                  </a:lnTo>
                  <a:lnTo>
                    <a:pt x="234061" y="3428"/>
                  </a:lnTo>
                  <a:lnTo>
                    <a:pt x="191135" y="13462"/>
                  </a:lnTo>
                  <a:lnTo>
                    <a:pt x="151002" y="29590"/>
                  </a:lnTo>
                  <a:lnTo>
                    <a:pt x="114426" y="51053"/>
                  </a:lnTo>
                  <a:lnTo>
                    <a:pt x="81787" y="77597"/>
                  </a:lnTo>
                  <a:lnTo>
                    <a:pt x="53848" y="108458"/>
                  </a:lnTo>
                  <a:lnTo>
                    <a:pt x="31241" y="143128"/>
                  </a:lnTo>
                  <a:lnTo>
                    <a:pt x="14224" y="181101"/>
                  </a:lnTo>
                  <a:lnTo>
                    <a:pt x="3683" y="221869"/>
                  </a:lnTo>
                  <a:lnTo>
                    <a:pt x="0" y="264795"/>
                  </a:lnTo>
                  <a:lnTo>
                    <a:pt x="0" y="2716403"/>
                  </a:lnTo>
                  <a:lnTo>
                    <a:pt x="3683" y="2759329"/>
                  </a:lnTo>
                  <a:lnTo>
                    <a:pt x="14224" y="2800096"/>
                  </a:lnTo>
                  <a:lnTo>
                    <a:pt x="31241" y="2838069"/>
                  </a:lnTo>
                  <a:lnTo>
                    <a:pt x="53848" y="2872867"/>
                  </a:lnTo>
                  <a:lnTo>
                    <a:pt x="81787" y="2903728"/>
                  </a:lnTo>
                  <a:lnTo>
                    <a:pt x="114426" y="2930144"/>
                  </a:lnTo>
                  <a:lnTo>
                    <a:pt x="151002" y="2951734"/>
                  </a:lnTo>
                  <a:lnTo>
                    <a:pt x="191135" y="2967863"/>
                  </a:lnTo>
                  <a:lnTo>
                    <a:pt x="234061" y="2977896"/>
                  </a:lnTo>
                  <a:lnTo>
                    <a:pt x="279400" y="2981325"/>
                  </a:lnTo>
                  <a:lnTo>
                    <a:pt x="1396873" y="2981325"/>
                  </a:lnTo>
                  <a:lnTo>
                    <a:pt x="1442211" y="2977896"/>
                  </a:lnTo>
                  <a:lnTo>
                    <a:pt x="1485265" y="2967863"/>
                  </a:lnTo>
                  <a:lnTo>
                    <a:pt x="1525270" y="2951734"/>
                  </a:lnTo>
                  <a:lnTo>
                    <a:pt x="1561973" y="2930144"/>
                  </a:lnTo>
                  <a:lnTo>
                    <a:pt x="1594484" y="2903728"/>
                  </a:lnTo>
                  <a:lnTo>
                    <a:pt x="1622425" y="2872867"/>
                  </a:lnTo>
                  <a:lnTo>
                    <a:pt x="1645157" y="2838069"/>
                  </a:lnTo>
                  <a:lnTo>
                    <a:pt x="1662176" y="2800096"/>
                  </a:lnTo>
                  <a:lnTo>
                    <a:pt x="1672717" y="2759329"/>
                  </a:lnTo>
                  <a:lnTo>
                    <a:pt x="1676400" y="2716403"/>
                  </a:lnTo>
                  <a:lnTo>
                    <a:pt x="1676400" y="264795"/>
                  </a:lnTo>
                  <a:lnTo>
                    <a:pt x="1672717" y="221869"/>
                  </a:lnTo>
                  <a:lnTo>
                    <a:pt x="1662176" y="181101"/>
                  </a:lnTo>
                  <a:lnTo>
                    <a:pt x="1645157" y="143128"/>
                  </a:lnTo>
                  <a:lnTo>
                    <a:pt x="1622425" y="108458"/>
                  </a:lnTo>
                  <a:lnTo>
                    <a:pt x="1594484" y="77597"/>
                  </a:lnTo>
                  <a:lnTo>
                    <a:pt x="1561973" y="51053"/>
                  </a:lnTo>
                  <a:lnTo>
                    <a:pt x="1525270" y="29590"/>
                  </a:lnTo>
                  <a:lnTo>
                    <a:pt x="1485265" y="13462"/>
                  </a:lnTo>
                  <a:lnTo>
                    <a:pt x="1442211" y="3428"/>
                  </a:lnTo>
                  <a:lnTo>
                    <a:pt x="1396873" y="0"/>
                  </a:lnTo>
                  <a:close/>
                </a:path>
              </a:pathLst>
            </a:custGeom>
            <a:solidFill>
              <a:srgbClr val="F7F8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148451" y="2043175"/>
              <a:ext cx="1676400" cy="2981325"/>
            </a:xfrm>
            <a:custGeom>
              <a:avLst/>
              <a:gdLst/>
              <a:ahLst/>
              <a:cxnLst/>
              <a:rect l="l" t="t" r="r" b="b"/>
              <a:pathLst>
                <a:path w="1676400" h="2981325">
                  <a:moveTo>
                    <a:pt x="0" y="264795"/>
                  </a:moveTo>
                  <a:lnTo>
                    <a:pt x="3556" y="221741"/>
                  </a:lnTo>
                  <a:lnTo>
                    <a:pt x="14224" y="180975"/>
                  </a:lnTo>
                  <a:lnTo>
                    <a:pt x="31114" y="143001"/>
                  </a:lnTo>
                  <a:lnTo>
                    <a:pt x="53848" y="108331"/>
                  </a:lnTo>
                  <a:lnTo>
                    <a:pt x="81787" y="77470"/>
                  </a:lnTo>
                  <a:lnTo>
                    <a:pt x="114300" y="51053"/>
                  </a:lnTo>
                  <a:lnTo>
                    <a:pt x="150875" y="29463"/>
                  </a:lnTo>
                  <a:lnTo>
                    <a:pt x="191008" y="13462"/>
                  </a:lnTo>
                  <a:lnTo>
                    <a:pt x="234061" y="3428"/>
                  </a:lnTo>
                  <a:lnTo>
                    <a:pt x="279400" y="0"/>
                  </a:lnTo>
                  <a:lnTo>
                    <a:pt x="1396873" y="0"/>
                  </a:lnTo>
                  <a:lnTo>
                    <a:pt x="1442084" y="3428"/>
                  </a:lnTo>
                  <a:lnTo>
                    <a:pt x="1485138" y="13462"/>
                  </a:lnTo>
                  <a:lnTo>
                    <a:pt x="1525270" y="29463"/>
                  </a:lnTo>
                  <a:lnTo>
                    <a:pt x="1561846" y="51053"/>
                  </a:lnTo>
                  <a:lnTo>
                    <a:pt x="1594484" y="77470"/>
                  </a:lnTo>
                  <a:lnTo>
                    <a:pt x="1622425" y="108331"/>
                  </a:lnTo>
                  <a:lnTo>
                    <a:pt x="1645157" y="143001"/>
                  </a:lnTo>
                  <a:lnTo>
                    <a:pt x="1662049" y="180975"/>
                  </a:lnTo>
                  <a:lnTo>
                    <a:pt x="1672717" y="221741"/>
                  </a:lnTo>
                  <a:lnTo>
                    <a:pt x="1676400" y="264795"/>
                  </a:lnTo>
                  <a:lnTo>
                    <a:pt x="1676400" y="2716276"/>
                  </a:lnTo>
                  <a:lnTo>
                    <a:pt x="1672717" y="2759329"/>
                  </a:lnTo>
                  <a:lnTo>
                    <a:pt x="1662049" y="2800096"/>
                  </a:lnTo>
                  <a:lnTo>
                    <a:pt x="1645157" y="2838069"/>
                  </a:lnTo>
                  <a:lnTo>
                    <a:pt x="1622425" y="2872740"/>
                  </a:lnTo>
                  <a:lnTo>
                    <a:pt x="1594484" y="2903601"/>
                  </a:lnTo>
                  <a:lnTo>
                    <a:pt x="1561846" y="2930144"/>
                  </a:lnTo>
                  <a:lnTo>
                    <a:pt x="1525270" y="2951734"/>
                  </a:lnTo>
                  <a:lnTo>
                    <a:pt x="1485138" y="2967736"/>
                  </a:lnTo>
                  <a:lnTo>
                    <a:pt x="1442084" y="2977769"/>
                  </a:lnTo>
                  <a:lnTo>
                    <a:pt x="1396873" y="2981198"/>
                  </a:lnTo>
                  <a:lnTo>
                    <a:pt x="279400" y="2981198"/>
                  </a:lnTo>
                  <a:lnTo>
                    <a:pt x="234061" y="2977769"/>
                  </a:lnTo>
                  <a:lnTo>
                    <a:pt x="191008" y="2967736"/>
                  </a:lnTo>
                  <a:lnTo>
                    <a:pt x="150875" y="2951734"/>
                  </a:lnTo>
                  <a:lnTo>
                    <a:pt x="114300" y="2930144"/>
                  </a:lnTo>
                  <a:lnTo>
                    <a:pt x="81787" y="2903601"/>
                  </a:lnTo>
                  <a:lnTo>
                    <a:pt x="53848" y="2872740"/>
                  </a:lnTo>
                  <a:lnTo>
                    <a:pt x="31114" y="2838069"/>
                  </a:lnTo>
                  <a:lnTo>
                    <a:pt x="14224" y="2800096"/>
                  </a:lnTo>
                  <a:lnTo>
                    <a:pt x="3556" y="2759329"/>
                  </a:lnTo>
                  <a:lnTo>
                    <a:pt x="0" y="2716276"/>
                  </a:lnTo>
                  <a:lnTo>
                    <a:pt x="0" y="264795"/>
                  </a:lnTo>
                  <a:close/>
                </a:path>
              </a:pathLst>
            </a:custGeom>
            <a:ln w="12700">
              <a:solidFill>
                <a:srgbClr val="CEDC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76975" y="2028824"/>
              <a:ext cx="1524000" cy="561975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6248400" y="2105024"/>
              <a:ext cx="1504950" cy="428625"/>
            </a:xfrm>
            <a:custGeom>
              <a:avLst/>
              <a:gdLst/>
              <a:ahLst/>
              <a:cxnLst/>
              <a:rect l="l" t="t" r="r" b="b"/>
              <a:pathLst>
                <a:path w="1504950" h="428625">
                  <a:moveTo>
                    <a:pt x="1430020" y="0"/>
                  </a:moveTo>
                  <a:lnTo>
                    <a:pt x="74802" y="0"/>
                  </a:lnTo>
                  <a:lnTo>
                    <a:pt x="45592" y="5587"/>
                  </a:lnTo>
                  <a:lnTo>
                    <a:pt x="21844" y="20954"/>
                  </a:lnTo>
                  <a:lnTo>
                    <a:pt x="5841" y="43561"/>
                  </a:lnTo>
                  <a:lnTo>
                    <a:pt x="0" y="71374"/>
                  </a:lnTo>
                  <a:lnTo>
                    <a:pt x="0" y="357124"/>
                  </a:lnTo>
                  <a:lnTo>
                    <a:pt x="5841" y="384937"/>
                  </a:lnTo>
                  <a:lnTo>
                    <a:pt x="21844" y="407670"/>
                  </a:lnTo>
                  <a:lnTo>
                    <a:pt x="45592" y="423037"/>
                  </a:lnTo>
                  <a:lnTo>
                    <a:pt x="74802" y="428625"/>
                  </a:lnTo>
                  <a:lnTo>
                    <a:pt x="1430020" y="428625"/>
                  </a:lnTo>
                  <a:lnTo>
                    <a:pt x="1459229" y="423037"/>
                  </a:lnTo>
                  <a:lnTo>
                    <a:pt x="1482978" y="407670"/>
                  </a:lnTo>
                  <a:lnTo>
                    <a:pt x="1499107" y="384937"/>
                  </a:lnTo>
                  <a:lnTo>
                    <a:pt x="1504950" y="357124"/>
                  </a:lnTo>
                  <a:lnTo>
                    <a:pt x="1504950" y="71374"/>
                  </a:lnTo>
                  <a:lnTo>
                    <a:pt x="1499107" y="43561"/>
                  </a:lnTo>
                  <a:lnTo>
                    <a:pt x="1482978" y="20954"/>
                  </a:lnTo>
                  <a:lnTo>
                    <a:pt x="1459229" y="5587"/>
                  </a:lnTo>
                  <a:lnTo>
                    <a:pt x="1430020" y="0"/>
                  </a:lnTo>
                  <a:close/>
                </a:path>
              </a:pathLst>
            </a:custGeom>
            <a:solidFill>
              <a:srgbClr val="2B8F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6437839" y="2242029"/>
            <a:ext cx="1367615" cy="15132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900" b="1" spc="-6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WEATHER INSIGHTS</a:t>
            </a:r>
          </a:p>
        </p:txBody>
      </p:sp>
      <p:sp>
        <p:nvSpPr>
          <p:cNvPr id="64" name="object 64"/>
          <p:cNvSpPr txBox="1"/>
          <p:nvPr/>
        </p:nvSpPr>
        <p:spPr>
          <a:xfrm>
            <a:off x="6290144" y="2638718"/>
            <a:ext cx="1411605" cy="28982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900" b="1" spc="-25">
                <a:solidFill>
                  <a:srgbClr val="0E364F"/>
                </a:solidFill>
                <a:latin typeface="Tahoma"/>
                <a:ea typeface="Tahoma"/>
                <a:cs typeface="Tahoma"/>
              </a:rPr>
              <a:t>Get more meaning about weather data</a:t>
            </a:r>
            <a:endParaRPr lang="en-US"/>
          </a:p>
        </p:txBody>
      </p:sp>
      <p:sp>
        <p:nvSpPr>
          <p:cNvPr id="73" name="object 73"/>
          <p:cNvSpPr txBox="1"/>
          <p:nvPr/>
        </p:nvSpPr>
        <p:spPr>
          <a:xfrm>
            <a:off x="6335124" y="3832356"/>
            <a:ext cx="1526563" cy="593560"/>
          </a:xfrm>
          <a:prstGeom prst="rect">
            <a:avLst/>
          </a:prstGeom>
        </p:spPr>
        <p:txBody>
          <a:bodyPr vert="horz" wrap="square" lIns="0" tIns="8255" rIns="0" bIns="0" rtlCol="0" anchor="t">
            <a:spAutoFit/>
          </a:bodyPr>
          <a:lstStyle/>
          <a:p>
            <a:pPr marL="57785" marR="5080" algn="l">
              <a:lnSpc>
                <a:spcPct val="105400"/>
              </a:lnSpc>
            </a:pPr>
            <a:r>
              <a:rPr lang="en-US" sz="900" b="1" i="1">
                <a:solidFill>
                  <a:srgbClr val="E76D09"/>
                </a:solidFill>
                <a:latin typeface="Trebuchet MS"/>
                <a:ea typeface="Tahoma"/>
                <a:cs typeface="Tahoma"/>
              </a:rPr>
              <a:t>Is This Normal?</a:t>
            </a:r>
            <a:r>
              <a:rPr lang="en-US" sz="1000">
                <a:solidFill>
                  <a:srgbClr val="17202A"/>
                </a:solidFill>
                <a:latin typeface="Tahoma"/>
                <a:ea typeface="Tahoma"/>
                <a:cs typeface="Tahoma"/>
              </a:rPr>
              <a:t>-</a:t>
            </a:r>
            <a:r>
              <a:rPr lang="en-US" sz="900">
                <a:solidFill>
                  <a:srgbClr val="000000"/>
                </a:solidFill>
                <a:latin typeface="Tahoma"/>
                <a:cs typeface="Tahoma"/>
              </a:rPr>
              <a:t>Compare today's Weather wiith historical patterns to identify unusual conditions</a:t>
            </a:r>
            <a:endParaRPr lang="en-US" sz="900">
              <a:solidFill>
                <a:srgbClr val="17202A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437254" y="4546938"/>
            <a:ext cx="1419321" cy="722185"/>
          </a:xfrm>
          <a:prstGeom prst="rect">
            <a:avLst/>
          </a:prstGeom>
        </p:spPr>
        <p:txBody>
          <a:bodyPr vert="horz" wrap="square" lIns="0" tIns="7620" rIns="0" bIns="0" rtlCol="0" anchor="t">
            <a:spAutoFit/>
          </a:bodyPr>
          <a:lstStyle/>
          <a:p>
            <a:pPr marL="12700" marR="5080">
              <a:lnSpc>
                <a:spcPct val="105400"/>
              </a:lnSpc>
              <a:spcBef>
                <a:spcPts val="60"/>
              </a:spcBef>
            </a:pPr>
            <a:r>
              <a:rPr sz="900" b="1" i="1">
                <a:solidFill>
                  <a:srgbClr val="E76D09"/>
                </a:solidFill>
                <a:latin typeface="Trebuchet MS"/>
                <a:cs typeface="Trebuchet MS"/>
              </a:rPr>
              <a:t>Forecast</a:t>
            </a:r>
            <a:r>
              <a:rPr sz="900" b="1" i="1" spc="-95">
                <a:solidFill>
                  <a:srgbClr val="E76D09"/>
                </a:solidFill>
                <a:latin typeface="Trebuchet MS"/>
                <a:cs typeface="Trebuchet MS"/>
              </a:rPr>
              <a:t> </a:t>
            </a:r>
            <a:r>
              <a:rPr sz="900" b="1" i="1" spc="-10">
                <a:solidFill>
                  <a:srgbClr val="E76D09"/>
                </a:solidFill>
                <a:latin typeface="Trebuchet MS"/>
                <a:cs typeface="Trebuchet MS"/>
              </a:rPr>
              <a:t>Change </a:t>
            </a:r>
            <a:r>
              <a:rPr lang="en-US" sz="900" b="1" i="1" spc="-10">
                <a:solidFill>
                  <a:srgbClr val="E76D09"/>
                </a:solidFill>
                <a:latin typeface="Trebuchet MS"/>
                <a:cs typeface="Trebuchet MS"/>
              </a:rPr>
              <a:t>Intelligence</a:t>
            </a:r>
            <a:r>
              <a:rPr lang="en-US" sz="900" spc="-10">
                <a:solidFill>
                  <a:srgbClr val="17202A"/>
                </a:solidFill>
                <a:latin typeface="Tahoma"/>
                <a:cs typeface="Tahoma"/>
              </a:rPr>
              <a:t>- Detects important forecast changes and highlights how they may affect your plans</a:t>
            </a:r>
            <a:endParaRPr lang="en-US" sz="900">
              <a:solidFill>
                <a:srgbClr val="17202A"/>
              </a:solidFill>
              <a:latin typeface="Tahoma"/>
              <a:ea typeface="Tahoma"/>
              <a:cs typeface="Tahoma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8024902" y="1996571"/>
            <a:ext cx="1742895" cy="3497507"/>
            <a:chOff x="8010525" y="1996571"/>
            <a:chExt cx="1771650" cy="3051810"/>
          </a:xfrm>
        </p:grpSpPr>
        <p:pic>
          <p:nvPicPr>
            <p:cNvPr id="76" name="object 7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10525" y="1996571"/>
              <a:ext cx="1771650" cy="3051678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8039100" y="2000250"/>
              <a:ext cx="1714500" cy="2990850"/>
            </a:xfrm>
            <a:custGeom>
              <a:avLst/>
              <a:gdLst/>
              <a:ahLst/>
              <a:cxnLst/>
              <a:rect l="l" t="t" r="r" b="b"/>
              <a:pathLst>
                <a:path w="1714500" h="2990850">
                  <a:moveTo>
                    <a:pt x="1428623" y="0"/>
                  </a:moveTo>
                  <a:lnTo>
                    <a:pt x="285750" y="0"/>
                  </a:lnTo>
                  <a:lnTo>
                    <a:pt x="239395" y="3428"/>
                  </a:lnTo>
                  <a:lnTo>
                    <a:pt x="195325" y="13335"/>
                  </a:lnTo>
                  <a:lnTo>
                    <a:pt x="154431" y="29210"/>
                  </a:lnTo>
                  <a:lnTo>
                    <a:pt x="116967" y="50546"/>
                  </a:lnTo>
                  <a:lnTo>
                    <a:pt x="83693" y="76708"/>
                  </a:lnTo>
                  <a:lnTo>
                    <a:pt x="55118" y="107187"/>
                  </a:lnTo>
                  <a:lnTo>
                    <a:pt x="31876" y="141477"/>
                  </a:lnTo>
                  <a:lnTo>
                    <a:pt x="14604" y="179070"/>
                  </a:lnTo>
                  <a:lnTo>
                    <a:pt x="3682" y="219328"/>
                  </a:lnTo>
                  <a:lnTo>
                    <a:pt x="0" y="261874"/>
                  </a:lnTo>
                  <a:lnTo>
                    <a:pt x="0" y="2728849"/>
                  </a:lnTo>
                  <a:lnTo>
                    <a:pt x="3682" y="2771394"/>
                  </a:lnTo>
                  <a:lnTo>
                    <a:pt x="14604" y="2811653"/>
                  </a:lnTo>
                  <a:lnTo>
                    <a:pt x="31876" y="2849245"/>
                  </a:lnTo>
                  <a:lnTo>
                    <a:pt x="55118" y="2883662"/>
                  </a:lnTo>
                  <a:lnTo>
                    <a:pt x="83693" y="2914142"/>
                  </a:lnTo>
                  <a:lnTo>
                    <a:pt x="116967" y="2940304"/>
                  </a:lnTo>
                  <a:lnTo>
                    <a:pt x="154431" y="2961640"/>
                  </a:lnTo>
                  <a:lnTo>
                    <a:pt x="195325" y="2977515"/>
                  </a:lnTo>
                  <a:lnTo>
                    <a:pt x="239395" y="2987421"/>
                  </a:lnTo>
                  <a:lnTo>
                    <a:pt x="285750" y="2990850"/>
                  </a:lnTo>
                  <a:lnTo>
                    <a:pt x="1428623" y="2990850"/>
                  </a:lnTo>
                  <a:lnTo>
                    <a:pt x="1474977" y="2987421"/>
                  </a:lnTo>
                  <a:lnTo>
                    <a:pt x="1519047" y="2977515"/>
                  </a:lnTo>
                  <a:lnTo>
                    <a:pt x="1560068" y="2961640"/>
                  </a:lnTo>
                  <a:lnTo>
                    <a:pt x="1597532" y="2940304"/>
                  </a:lnTo>
                  <a:lnTo>
                    <a:pt x="1630806" y="2914142"/>
                  </a:lnTo>
                  <a:lnTo>
                    <a:pt x="1659381" y="2883662"/>
                  </a:lnTo>
                  <a:lnTo>
                    <a:pt x="1682623" y="2849245"/>
                  </a:lnTo>
                  <a:lnTo>
                    <a:pt x="1699895" y="2811653"/>
                  </a:lnTo>
                  <a:lnTo>
                    <a:pt x="1710817" y="2771394"/>
                  </a:lnTo>
                  <a:lnTo>
                    <a:pt x="1714500" y="2728849"/>
                  </a:lnTo>
                  <a:lnTo>
                    <a:pt x="1714500" y="261874"/>
                  </a:lnTo>
                  <a:lnTo>
                    <a:pt x="1710817" y="219328"/>
                  </a:lnTo>
                  <a:lnTo>
                    <a:pt x="1699895" y="179070"/>
                  </a:lnTo>
                  <a:lnTo>
                    <a:pt x="1682623" y="141477"/>
                  </a:lnTo>
                  <a:lnTo>
                    <a:pt x="1659381" y="107187"/>
                  </a:lnTo>
                  <a:lnTo>
                    <a:pt x="1630806" y="76708"/>
                  </a:lnTo>
                  <a:lnTo>
                    <a:pt x="1597532" y="50546"/>
                  </a:lnTo>
                  <a:lnTo>
                    <a:pt x="1560068" y="29210"/>
                  </a:lnTo>
                  <a:lnTo>
                    <a:pt x="1519047" y="13335"/>
                  </a:lnTo>
                  <a:lnTo>
                    <a:pt x="1474977" y="3428"/>
                  </a:lnTo>
                  <a:lnTo>
                    <a:pt x="1428623" y="0"/>
                  </a:lnTo>
                  <a:close/>
                </a:path>
              </a:pathLst>
            </a:custGeom>
            <a:solidFill>
              <a:srgbClr val="F7F8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8043926" y="2005076"/>
              <a:ext cx="1714500" cy="2990850"/>
            </a:xfrm>
            <a:custGeom>
              <a:avLst/>
              <a:gdLst/>
              <a:ahLst/>
              <a:cxnLst/>
              <a:rect l="l" t="t" r="r" b="b"/>
              <a:pathLst>
                <a:path w="1714500" h="2990850">
                  <a:moveTo>
                    <a:pt x="0" y="261874"/>
                  </a:moveTo>
                  <a:lnTo>
                    <a:pt x="3682" y="219328"/>
                  </a:lnTo>
                  <a:lnTo>
                    <a:pt x="14477" y="178943"/>
                  </a:lnTo>
                  <a:lnTo>
                    <a:pt x="31750" y="141477"/>
                  </a:lnTo>
                  <a:lnTo>
                    <a:pt x="54991" y="107061"/>
                  </a:lnTo>
                  <a:lnTo>
                    <a:pt x="83566" y="76581"/>
                  </a:lnTo>
                  <a:lnTo>
                    <a:pt x="116840" y="50419"/>
                  </a:lnTo>
                  <a:lnTo>
                    <a:pt x="154304" y="29083"/>
                  </a:lnTo>
                  <a:lnTo>
                    <a:pt x="195325" y="13335"/>
                  </a:lnTo>
                  <a:lnTo>
                    <a:pt x="239268" y="3301"/>
                  </a:lnTo>
                  <a:lnTo>
                    <a:pt x="285750" y="0"/>
                  </a:lnTo>
                  <a:lnTo>
                    <a:pt x="1428496" y="0"/>
                  </a:lnTo>
                  <a:lnTo>
                    <a:pt x="1474977" y="3301"/>
                  </a:lnTo>
                  <a:lnTo>
                    <a:pt x="1518920" y="13335"/>
                  </a:lnTo>
                  <a:lnTo>
                    <a:pt x="1559941" y="29083"/>
                  </a:lnTo>
                  <a:lnTo>
                    <a:pt x="1597405" y="50419"/>
                  </a:lnTo>
                  <a:lnTo>
                    <a:pt x="1630679" y="76581"/>
                  </a:lnTo>
                  <a:lnTo>
                    <a:pt x="1659254" y="107061"/>
                  </a:lnTo>
                  <a:lnTo>
                    <a:pt x="1682496" y="141477"/>
                  </a:lnTo>
                  <a:lnTo>
                    <a:pt x="1699895" y="178943"/>
                  </a:lnTo>
                  <a:lnTo>
                    <a:pt x="1710690" y="219328"/>
                  </a:lnTo>
                  <a:lnTo>
                    <a:pt x="1714500" y="261874"/>
                  </a:lnTo>
                  <a:lnTo>
                    <a:pt x="1714500" y="2728722"/>
                  </a:lnTo>
                  <a:lnTo>
                    <a:pt x="1710690" y="2771267"/>
                  </a:lnTo>
                  <a:lnTo>
                    <a:pt x="1699895" y="2811653"/>
                  </a:lnTo>
                  <a:lnTo>
                    <a:pt x="1682496" y="2849245"/>
                  </a:lnTo>
                  <a:lnTo>
                    <a:pt x="1659254" y="2883535"/>
                  </a:lnTo>
                  <a:lnTo>
                    <a:pt x="1630679" y="2914015"/>
                  </a:lnTo>
                  <a:lnTo>
                    <a:pt x="1597405" y="2940304"/>
                  </a:lnTo>
                  <a:lnTo>
                    <a:pt x="1559941" y="2961513"/>
                  </a:lnTo>
                  <a:lnTo>
                    <a:pt x="1518920" y="2977388"/>
                  </a:lnTo>
                  <a:lnTo>
                    <a:pt x="1474977" y="2987421"/>
                  </a:lnTo>
                  <a:lnTo>
                    <a:pt x="1428496" y="2990723"/>
                  </a:lnTo>
                  <a:lnTo>
                    <a:pt x="285750" y="2990723"/>
                  </a:lnTo>
                  <a:lnTo>
                    <a:pt x="239268" y="2987421"/>
                  </a:lnTo>
                  <a:lnTo>
                    <a:pt x="195325" y="2977388"/>
                  </a:lnTo>
                  <a:lnTo>
                    <a:pt x="154304" y="2961513"/>
                  </a:lnTo>
                  <a:lnTo>
                    <a:pt x="116840" y="2940304"/>
                  </a:lnTo>
                  <a:lnTo>
                    <a:pt x="83566" y="2914015"/>
                  </a:lnTo>
                  <a:lnTo>
                    <a:pt x="54991" y="2883535"/>
                  </a:lnTo>
                  <a:lnTo>
                    <a:pt x="31750" y="2849245"/>
                  </a:lnTo>
                  <a:lnTo>
                    <a:pt x="14477" y="2811653"/>
                  </a:lnTo>
                  <a:lnTo>
                    <a:pt x="3682" y="2771267"/>
                  </a:lnTo>
                  <a:lnTo>
                    <a:pt x="0" y="2728722"/>
                  </a:lnTo>
                  <a:lnTo>
                    <a:pt x="0" y="261874"/>
                  </a:lnTo>
                  <a:close/>
                </a:path>
              </a:pathLst>
            </a:custGeom>
            <a:ln w="12699">
              <a:solidFill>
                <a:srgbClr val="CEDC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67675" y="2028825"/>
              <a:ext cx="1685925" cy="533400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8115300" y="2066925"/>
              <a:ext cx="1581150" cy="457200"/>
            </a:xfrm>
            <a:custGeom>
              <a:avLst/>
              <a:gdLst/>
              <a:ahLst/>
              <a:cxnLst/>
              <a:rect l="l" t="t" r="r" b="b"/>
              <a:pathLst>
                <a:path w="1581150" h="457200">
                  <a:moveTo>
                    <a:pt x="1502409" y="0"/>
                  </a:moveTo>
                  <a:lnTo>
                    <a:pt x="78613" y="0"/>
                  </a:lnTo>
                  <a:lnTo>
                    <a:pt x="48005" y="5969"/>
                  </a:lnTo>
                  <a:lnTo>
                    <a:pt x="22986" y="22225"/>
                  </a:lnTo>
                  <a:lnTo>
                    <a:pt x="6223" y="46482"/>
                  </a:lnTo>
                  <a:lnTo>
                    <a:pt x="0" y="76200"/>
                  </a:lnTo>
                  <a:lnTo>
                    <a:pt x="0" y="380873"/>
                  </a:lnTo>
                  <a:lnTo>
                    <a:pt x="6223" y="410590"/>
                  </a:lnTo>
                  <a:lnTo>
                    <a:pt x="22986" y="434848"/>
                  </a:lnTo>
                  <a:lnTo>
                    <a:pt x="48005" y="451230"/>
                  </a:lnTo>
                  <a:lnTo>
                    <a:pt x="78613" y="457200"/>
                  </a:lnTo>
                  <a:lnTo>
                    <a:pt x="1502409" y="457200"/>
                  </a:lnTo>
                  <a:lnTo>
                    <a:pt x="1533144" y="451230"/>
                  </a:lnTo>
                  <a:lnTo>
                    <a:pt x="1558163" y="434848"/>
                  </a:lnTo>
                  <a:lnTo>
                    <a:pt x="1574927" y="410590"/>
                  </a:lnTo>
                  <a:lnTo>
                    <a:pt x="1581150" y="380873"/>
                  </a:lnTo>
                  <a:lnTo>
                    <a:pt x="1581150" y="76200"/>
                  </a:lnTo>
                  <a:lnTo>
                    <a:pt x="1574927" y="46482"/>
                  </a:lnTo>
                  <a:lnTo>
                    <a:pt x="1558163" y="22225"/>
                  </a:lnTo>
                  <a:lnTo>
                    <a:pt x="1533144" y="5969"/>
                  </a:lnTo>
                  <a:lnTo>
                    <a:pt x="1502409" y="0"/>
                  </a:lnTo>
                  <a:close/>
                </a:path>
              </a:pathLst>
            </a:custGeom>
            <a:solidFill>
              <a:srgbClr val="2274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8139176" y="2071751"/>
              <a:ext cx="1562100" cy="428625"/>
            </a:xfrm>
            <a:custGeom>
              <a:avLst/>
              <a:gdLst/>
              <a:ahLst/>
              <a:cxnLst/>
              <a:rect l="l" t="t" r="r" b="b"/>
              <a:pathLst>
                <a:path w="1562100" h="428625">
                  <a:moveTo>
                    <a:pt x="0" y="71374"/>
                  </a:moveTo>
                  <a:lnTo>
                    <a:pt x="5969" y="43561"/>
                  </a:lnTo>
                  <a:lnTo>
                    <a:pt x="22605" y="20827"/>
                  </a:lnTo>
                  <a:lnTo>
                    <a:pt x="47371" y="5587"/>
                  </a:lnTo>
                  <a:lnTo>
                    <a:pt x="77597" y="0"/>
                  </a:lnTo>
                  <a:lnTo>
                    <a:pt x="1484249" y="0"/>
                  </a:lnTo>
                  <a:lnTo>
                    <a:pt x="1514602" y="5587"/>
                  </a:lnTo>
                  <a:lnTo>
                    <a:pt x="1539240" y="20827"/>
                  </a:lnTo>
                  <a:lnTo>
                    <a:pt x="1555877" y="43561"/>
                  </a:lnTo>
                  <a:lnTo>
                    <a:pt x="1562100" y="71374"/>
                  </a:lnTo>
                  <a:lnTo>
                    <a:pt x="1562100" y="356997"/>
                  </a:lnTo>
                  <a:lnTo>
                    <a:pt x="1555877" y="384810"/>
                  </a:lnTo>
                  <a:lnTo>
                    <a:pt x="1539240" y="407543"/>
                  </a:lnTo>
                  <a:lnTo>
                    <a:pt x="1514602" y="422910"/>
                  </a:lnTo>
                  <a:lnTo>
                    <a:pt x="1484249" y="428625"/>
                  </a:lnTo>
                  <a:lnTo>
                    <a:pt x="77597" y="428625"/>
                  </a:lnTo>
                  <a:lnTo>
                    <a:pt x="47371" y="422910"/>
                  </a:lnTo>
                  <a:lnTo>
                    <a:pt x="22605" y="407670"/>
                  </a:lnTo>
                  <a:lnTo>
                    <a:pt x="5969" y="384810"/>
                  </a:lnTo>
                  <a:lnTo>
                    <a:pt x="0" y="356997"/>
                  </a:lnTo>
                  <a:lnTo>
                    <a:pt x="0" y="71374"/>
                  </a:lnTo>
                  <a:close/>
                </a:path>
              </a:pathLst>
            </a:custGeom>
            <a:ln w="6350">
              <a:solidFill>
                <a:srgbClr val="2274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3" name="object 83"/>
          <p:cNvGrpSpPr/>
          <p:nvPr/>
        </p:nvGrpSpPr>
        <p:grpSpPr>
          <a:xfrm>
            <a:off x="8041766" y="3019678"/>
            <a:ext cx="238125" cy="1009650"/>
            <a:chOff x="8105775" y="2895600"/>
            <a:chExt cx="238125" cy="1009650"/>
          </a:xfrm>
        </p:grpSpPr>
        <p:pic>
          <p:nvPicPr>
            <p:cNvPr id="84" name="object 8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05775" y="2895600"/>
              <a:ext cx="238125" cy="228600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162925" y="2924175"/>
              <a:ext cx="123823" cy="123825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05775" y="3676650"/>
              <a:ext cx="238125" cy="228600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162925" y="3705225"/>
              <a:ext cx="123823" cy="123825"/>
            </a:xfrm>
            <a:prstGeom prst="rect">
              <a:avLst/>
            </a:prstGeom>
          </p:spPr>
        </p:pic>
      </p:grpSp>
      <p:sp>
        <p:nvSpPr>
          <p:cNvPr id="90" name="object 90"/>
          <p:cNvSpPr txBox="1"/>
          <p:nvPr/>
        </p:nvSpPr>
        <p:spPr>
          <a:xfrm>
            <a:off x="8303965" y="2985714"/>
            <a:ext cx="1350261" cy="595676"/>
          </a:xfrm>
          <a:prstGeom prst="rect">
            <a:avLst/>
          </a:prstGeom>
        </p:spPr>
        <p:txBody>
          <a:bodyPr vert="horz" wrap="square" lIns="0" tIns="7620" rIns="0" bIns="0" rtlCol="0" anchor="t">
            <a:spAutoFit/>
          </a:bodyPr>
          <a:lstStyle/>
          <a:p>
            <a:pPr marL="12700" marR="5080">
              <a:lnSpc>
                <a:spcPct val="105400"/>
              </a:lnSpc>
              <a:spcBef>
                <a:spcPts val="60"/>
              </a:spcBef>
            </a:pPr>
            <a:r>
              <a:rPr lang="en-US" sz="900" b="1" i="1">
                <a:solidFill>
                  <a:srgbClr val="D9752B"/>
                </a:solidFill>
                <a:latin typeface="Trebuchet MS"/>
                <a:cs typeface="Trebuchet MS"/>
              </a:rPr>
              <a:t>Weather</a:t>
            </a:r>
            <a:r>
              <a:rPr lang="en-US" sz="900" b="1" i="1" spc="470">
                <a:solidFill>
                  <a:srgbClr val="D9752B"/>
                </a:solidFill>
                <a:latin typeface="Trebuchet MS"/>
                <a:cs typeface="Trebuchet MS"/>
              </a:rPr>
              <a:t> </a:t>
            </a:r>
            <a:r>
              <a:rPr lang="en-US" sz="900" b="1" i="1" spc="-10">
                <a:solidFill>
                  <a:srgbClr val="D9752B"/>
                </a:solidFill>
                <a:latin typeface="Trebuchet MS"/>
                <a:cs typeface="Trebuchet MS"/>
              </a:rPr>
              <a:t>Impact Engine-</a:t>
            </a:r>
            <a:r>
              <a:rPr lang="en-US" sz="900" b="1" i="1" spc="-10">
                <a:solidFill>
                  <a:srgbClr val="D9752B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900" spc="-10">
                <a:solidFill>
                  <a:schemeClr val="tx1"/>
                </a:solidFill>
                <a:latin typeface="Tahoma"/>
                <a:ea typeface="Tahoma"/>
                <a:cs typeface="Tahoma"/>
              </a:rPr>
              <a:t>Converts weather forecasts into role and activity specific impacts.</a:t>
            </a:r>
          </a:p>
        </p:txBody>
      </p:sp>
      <p:sp>
        <p:nvSpPr>
          <p:cNvPr id="91" name="object 91"/>
          <p:cNvSpPr txBox="1"/>
          <p:nvPr/>
        </p:nvSpPr>
        <p:spPr>
          <a:xfrm>
            <a:off x="8258225" y="3804310"/>
            <a:ext cx="1443522" cy="576761"/>
          </a:xfrm>
          <a:prstGeom prst="rect">
            <a:avLst/>
          </a:prstGeom>
        </p:spPr>
        <p:txBody>
          <a:bodyPr vert="horz" wrap="square" lIns="0" tIns="7620" rIns="0" bIns="0" rtlCol="0" anchor="t">
            <a:spAutoFit/>
          </a:bodyPr>
          <a:lstStyle/>
          <a:p>
            <a:pPr marL="12700" marR="5080" algn="just">
              <a:lnSpc>
                <a:spcPct val="105400"/>
              </a:lnSpc>
              <a:spcBef>
                <a:spcPts val="60"/>
              </a:spcBef>
            </a:pPr>
            <a:r>
              <a:rPr lang="en-US" sz="900" b="1" i="1">
                <a:solidFill>
                  <a:srgbClr val="D9752B"/>
                </a:solidFill>
                <a:latin typeface="Trebuchet MS"/>
                <a:cs typeface="Trebuchet MS"/>
              </a:rPr>
              <a:t>Best Time</a:t>
            </a:r>
            <a:r>
              <a:rPr sz="900" b="1" i="1" spc="-30">
                <a:solidFill>
                  <a:srgbClr val="D9752B"/>
                </a:solidFill>
                <a:latin typeface="Trebuchet MS"/>
                <a:cs typeface="Trebuchet MS"/>
              </a:rPr>
              <a:t> </a:t>
            </a:r>
            <a:r>
              <a:rPr lang="en-US" sz="900" b="1" i="1" spc="-10">
                <a:solidFill>
                  <a:srgbClr val="D9752B"/>
                </a:solidFill>
                <a:latin typeface="Trebuchet MS"/>
                <a:cs typeface="Trebuchet MS"/>
              </a:rPr>
              <a:t>Assistant</a:t>
            </a:r>
            <a:r>
              <a:rPr lang="en-US" sz="900" spc="-10">
                <a:solidFill>
                  <a:srgbClr val="17202A"/>
                </a:solidFill>
                <a:latin typeface="Tahoma"/>
                <a:cs typeface="Tahoma"/>
              </a:rPr>
              <a:t>- </a:t>
            </a:r>
            <a:r>
              <a:rPr lang="en-US" sz="900">
                <a:solidFill>
                  <a:srgbClr val="17202A"/>
                </a:solidFill>
                <a:latin typeface="Tahoma"/>
                <a:cs typeface="Tahoma"/>
              </a:rPr>
              <a:t>Find</a:t>
            </a:r>
            <a:r>
              <a:rPr sz="900" spc="10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00">
                <a:solidFill>
                  <a:srgbClr val="17202A"/>
                </a:solidFill>
                <a:latin typeface="Tahoma"/>
                <a:cs typeface="Tahoma"/>
              </a:rPr>
              <a:t>the</a:t>
            </a:r>
            <a:r>
              <a:rPr sz="900" spc="15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00">
                <a:solidFill>
                  <a:srgbClr val="17202A"/>
                </a:solidFill>
                <a:latin typeface="Tahoma"/>
                <a:cs typeface="Tahoma"/>
              </a:rPr>
              <a:t>best</a:t>
            </a:r>
            <a:r>
              <a:rPr sz="900" spc="17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00" spc="-10">
                <a:solidFill>
                  <a:srgbClr val="17202A"/>
                </a:solidFill>
                <a:latin typeface="Tahoma"/>
                <a:cs typeface="Tahoma"/>
              </a:rPr>
              <a:t>window </a:t>
            </a:r>
            <a:r>
              <a:rPr sz="900">
                <a:solidFill>
                  <a:srgbClr val="17202A"/>
                </a:solidFill>
                <a:latin typeface="Tahoma"/>
                <a:cs typeface="Tahoma"/>
              </a:rPr>
              <a:t>for</a:t>
            </a:r>
            <a:r>
              <a:rPr sz="900" spc="-1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900">
                <a:solidFill>
                  <a:srgbClr val="17202A"/>
                </a:solidFill>
                <a:latin typeface="Tahoma"/>
                <a:cs typeface="Tahoma"/>
              </a:rPr>
              <a:t>an</a:t>
            </a:r>
            <a:r>
              <a:rPr sz="900" spc="-9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lang="en-US" sz="900" spc="-10">
                <a:solidFill>
                  <a:srgbClr val="17202A"/>
                </a:solidFill>
                <a:latin typeface="Tahoma"/>
                <a:cs typeface="Tahoma"/>
              </a:rPr>
              <a:t>activity based on weather conditions.</a:t>
            </a:r>
            <a:endParaRPr lang="en-US" sz="900">
              <a:latin typeface="Tahoma"/>
              <a:ea typeface="Tahoma"/>
              <a:cs typeface="Tahoma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9920146" y="2000502"/>
            <a:ext cx="1743673" cy="3493216"/>
            <a:chOff x="9934575" y="2000250"/>
            <a:chExt cx="1700276" cy="2986151"/>
          </a:xfrm>
        </p:grpSpPr>
        <p:sp>
          <p:nvSpPr>
            <p:cNvPr id="94" name="object 94"/>
            <p:cNvSpPr/>
            <p:nvPr/>
          </p:nvSpPr>
          <p:spPr>
            <a:xfrm>
              <a:off x="9934575" y="2000250"/>
              <a:ext cx="1695450" cy="2981325"/>
            </a:xfrm>
            <a:custGeom>
              <a:avLst/>
              <a:gdLst/>
              <a:ahLst/>
              <a:cxnLst/>
              <a:rect l="l" t="t" r="r" b="b"/>
              <a:pathLst>
                <a:path w="1695450" h="2981325">
                  <a:moveTo>
                    <a:pt x="1412748" y="0"/>
                  </a:moveTo>
                  <a:lnTo>
                    <a:pt x="282575" y="0"/>
                  </a:lnTo>
                  <a:lnTo>
                    <a:pt x="236727" y="3428"/>
                  </a:lnTo>
                  <a:lnTo>
                    <a:pt x="193294" y="13588"/>
                  </a:lnTo>
                  <a:lnTo>
                    <a:pt x="152653" y="29590"/>
                  </a:lnTo>
                  <a:lnTo>
                    <a:pt x="115697" y="51180"/>
                  </a:lnTo>
                  <a:lnTo>
                    <a:pt x="82803" y="77724"/>
                  </a:lnTo>
                  <a:lnTo>
                    <a:pt x="54482" y="108585"/>
                  </a:lnTo>
                  <a:lnTo>
                    <a:pt x="31496" y="143383"/>
                  </a:lnTo>
                  <a:lnTo>
                    <a:pt x="14350" y="181483"/>
                  </a:lnTo>
                  <a:lnTo>
                    <a:pt x="3682" y="222376"/>
                  </a:lnTo>
                  <a:lnTo>
                    <a:pt x="0" y="265429"/>
                  </a:lnTo>
                  <a:lnTo>
                    <a:pt x="0" y="2715768"/>
                  </a:lnTo>
                  <a:lnTo>
                    <a:pt x="3682" y="2758821"/>
                  </a:lnTo>
                  <a:lnTo>
                    <a:pt x="14350" y="2799715"/>
                  </a:lnTo>
                  <a:lnTo>
                    <a:pt x="31496" y="2837815"/>
                  </a:lnTo>
                  <a:lnTo>
                    <a:pt x="54482" y="2872613"/>
                  </a:lnTo>
                  <a:lnTo>
                    <a:pt x="82803" y="2903601"/>
                  </a:lnTo>
                  <a:lnTo>
                    <a:pt x="115697" y="2930144"/>
                  </a:lnTo>
                  <a:lnTo>
                    <a:pt x="152653" y="2951734"/>
                  </a:lnTo>
                  <a:lnTo>
                    <a:pt x="193294" y="2967736"/>
                  </a:lnTo>
                  <a:lnTo>
                    <a:pt x="236727" y="2977896"/>
                  </a:lnTo>
                  <a:lnTo>
                    <a:pt x="282575" y="2981325"/>
                  </a:lnTo>
                  <a:lnTo>
                    <a:pt x="1412748" y="2981325"/>
                  </a:lnTo>
                  <a:lnTo>
                    <a:pt x="1458595" y="2977896"/>
                  </a:lnTo>
                  <a:lnTo>
                    <a:pt x="1502155" y="2967736"/>
                  </a:lnTo>
                  <a:lnTo>
                    <a:pt x="1542669" y="2951734"/>
                  </a:lnTo>
                  <a:lnTo>
                    <a:pt x="1579752" y="2930144"/>
                  </a:lnTo>
                  <a:lnTo>
                    <a:pt x="1612646" y="2903601"/>
                  </a:lnTo>
                  <a:lnTo>
                    <a:pt x="1640840" y="2872613"/>
                  </a:lnTo>
                  <a:lnTo>
                    <a:pt x="1663953" y="2837815"/>
                  </a:lnTo>
                  <a:lnTo>
                    <a:pt x="1680972" y="2799715"/>
                  </a:lnTo>
                  <a:lnTo>
                    <a:pt x="1691767" y="2758821"/>
                  </a:lnTo>
                  <a:lnTo>
                    <a:pt x="1695450" y="2715768"/>
                  </a:lnTo>
                  <a:lnTo>
                    <a:pt x="1695450" y="265429"/>
                  </a:lnTo>
                  <a:lnTo>
                    <a:pt x="1691767" y="222376"/>
                  </a:lnTo>
                  <a:lnTo>
                    <a:pt x="1680972" y="181483"/>
                  </a:lnTo>
                  <a:lnTo>
                    <a:pt x="1663953" y="143383"/>
                  </a:lnTo>
                  <a:lnTo>
                    <a:pt x="1640840" y="108585"/>
                  </a:lnTo>
                  <a:lnTo>
                    <a:pt x="1612646" y="77724"/>
                  </a:lnTo>
                  <a:lnTo>
                    <a:pt x="1579752" y="51180"/>
                  </a:lnTo>
                  <a:lnTo>
                    <a:pt x="1542669" y="29590"/>
                  </a:lnTo>
                  <a:lnTo>
                    <a:pt x="1502155" y="13588"/>
                  </a:lnTo>
                  <a:lnTo>
                    <a:pt x="1458595" y="3428"/>
                  </a:lnTo>
                  <a:lnTo>
                    <a:pt x="1412748" y="0"/>
                  </a:lnTo>
                  <a:close/>
                </a:path>
              </a:pathLst>
            </a:custGeom>
            <a:solidFill>
              <a:srgbClr val="F7F8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9939401" y="2005076"/>
              <a:ext cx="1695450" cy="2981325"/>
            </a:xfrm>
            <a:custGeom>
              <a:avLst/>
              <a:gdLst/>
              <a:ahLst/>
              <a:cxnLst/>
              <a:rect l="l" t="t" r="r" b="b"/>
              <a:pathLst>
                <a:path w="1695450" h="2981325">
                  <a:moveTo>
                    <a:pt x="0" y="265302"/>
                  </a:moveTo>
                  <a:lnTo>
                    <a:pt x="3682" y="222250"/>
                  </a:lnTo>
                  <a:lnTo>
                    <a:pt x="14350" y="181483"/>
                  </a:lnTo>
                  <a:lnTo>
                    <a:pt x="31496" y="143383"/>
                  </a:lnTo>
                  <a:lnTo>
                    <a:pt x="54482" y="108585"/>
                  </a:lnTo>
                  <a:lnTo>
                    <a:pt x="82676" y="77597"/>
                  </a:lnTo>
                  <a:lnTo>
                    <a:pt x="115570" y="51181"/>
                  </a:lnTo>
                  <a:lnTo>
                    <a:pt x="152653" y="29590"/>
                  </a:lnTo>
                  <a:lnTo>
                    <a:pt x="193167" y="13462"/>
                  </a:lnTo>
                  <a:lnTo>
                    <a:pt x="236727" y="3428"/>
                  </a:lnTo>
                  <a:lnTo>
                    <a:pt x="282575" y="0"/>
                  </a:lnTo>
                  <a:lnTo>
                    <a:pt x="1412748" y="0"/>
                  </a:lnTo>
                  <a:lnTo>
                    <a:pt x="1458595" y="3428"/>
                  </a:lnTo>
                  <a:lnTo>
                    <a:pt x="1502028" y="13462"/>
                  </a:lnTo>
                  <a:lnTo>
                    <a:pt x="1542542" y="29590"/>
                  </a:lnTo>
                  <a:lnTo>
                    <a:pt x="1579626" y="51181"/>
                  </a:lnTo>
                  <a:lnTo>
                    <a:pt x="1612519" y="77597"/>
                  </a:lnTo>
                  <a:lnTo>
                    <a:pt x="1640840" y="108585"/>
                  </a:lnTo>
                  <a:lnTo>
                    <a:pt x="1663827" y="143383"/>
                  </a:lnTo>
                  <a:lnTo>
                    <a:pt x="1680972" y="181483"/>
                  </a:lnTo>
                  <a:lnTo>
                    <a:pt x="1691640" y="222250"/>
                  </a:lnTo>
                  <a:lnTo>
                    <a:pt x="1695450" y="265302"/>
                  </a:lnTo>
                  <a:lnTo>
                    <a:pt x="1695450" y="2715768"/>
                  </a:lnTo>
                  <a:lnTo>
                    <a:pt x="1691640" y="2758821"/>
                  </a:lnTo>
                  <a:lnTo>
                    <a:pt x="1680972" y="2799715"/>
                  </a:lnTo>
                  <a:lnTo>
                    <a:pt x="1663827" y="2837815"/>
                  </a:lnTo>
                  <a:lnTo>
                    <a:pt x="1640840" y="2872486"/>
                  </a:lnTo>
                  <a:lnTo>
                    <a:pt x="1612519" y="2903474"/>
                  </a:lnTo>
                  <a:lnTo>
                    <a:pt x="1579626" y="2930017"/>
                  </a:lnTo>
                  <a:lnTo>
                    <a:pt x="1542542" y="2951607"/>
                  </a:lnTo>
                  <a:lnTo>
                    <a:pt x="1502028" y="2967736"/>
                  </a:lnTo>
                  <a:lnTo>
                    <a:pt x="1458595" y="2977769"/>
                  </a:lnTo>
                  <a:lnTo>
                    <a:pt x="1412748" y="2981198"/>
                  </a:lnTo>
                  <a:lnTo>
                    <a:pt x="282575" y="2981198"/>
                  </a:lnTo>
                  <a:lnTo>
                    <a:pt x="236727" y="2977769"/>
                  </a:lnTo>
                  <a:lnTo>
                    <a:pt x="193167" y="2967736"/>
                  </a:lnTo>
                  <a:lnTo>
                    <a:pt x="152653" y="2951607"/>
                  </a:lnTo>
                  <a:lnTo>
                    <a:pt x="115570" y="2930017"/>
                  </a:lnTo>
                  <a:lnTo>
                    <a:pt x="82676" y="2903474"/>
                  </a:lnTo>
                  <a:lnTo>
                    <a:pt x="54482" y="2872486"/>
                  </a:lnTo>
                  <a:lnTo>
                    <a:pt x="31496" y="2837815"/>
                  </a:lnTo>
                  <a:lnTo>
                    <a:pt x="14350" y="2799715"/>
                  </a:lnTo>
                  <a:lnTo>
                    <a:pt x="3682" y="2758821"/>
                  </a:lnTo>
                  <a:lnTo>
                    <a:pt x="0" y="2715768"/>
                  </a:lnTo>
                  <a:lnTo>
                    <a:pt x="0" y="265302"/>
                  </a:lnTo>
                  <a:close/>
                </a:path>
              </a:pathLst>
            </a:custGeom>
            <a:ln w="12700">
              <a:solidFill>
                <a:srgbClr val="CEDC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9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934575" y="2038350"/>
              <a:ext cx="1619250" cy="523875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9963150" y="2085975"/>
              <a:ext cx="1657350" cy="438150"/>
            </a:xfrm>
            <a:custGeom>
              <a:avLst/>
              <a:gdLst/>
              <a:ahLst/>
              <a:cxnLst/>
              <a:rect l="l" t="t" r="r" b="b"/>
              <a:pathLst>
                <a:path w="1657350" h="438150">
                  <a:moveTo>
                    <a:pt x="1574292" y="0"/>
                  </a:moveTo>
                  <a:lnTo>
                    <a:pt x="82930" y="0"/>
                  </a:lnTo>
                  <a:lnTo>
                    <a:pt x="50546" y="5714"/>
                  </a:lnTo>
                  <a:lnTo>
                    <a:pt x="24256" y="21336"/>
                  </a:lnTo>
                  <a:lnTo>
                    <a:pt x="6476" y="44576"/>
                  </a:lnTo>
                  <a:lnTo>
                    <a:pt x="0" y="73025"/>
                  </a:lnTo>
                  <a:lnTo>
                    <a:pt x="0" y="364998"/>
                  </a:lnTo>
                  <a:lnTo>
                    <a:pt x="6476" y="393446"/>
                  </a:lnTo>
                  <a:lnTo>
                    <a:pt x="24256" y="416687"/>
                  </a:lnTo>
                  <a:lnTo>
                    <a:pt x="50546" y="432435"/>
                  </a:lnTo>
                  <a:lnTo>
                    <a:pt x="82930" y="438150"/>
                  </a:lnTo>
                  <a:lnTo>
                    <a:pt x="1574292" y="438150"/>
                  </a:lnTo>
                  <a:lnTo>
                    <a:pt x="1606677" y="432435"/>
                  </a:lnTo>
                  <a:lnTo>
                    <a:pt x="1633093" y="416687"/>
                  </a:lnTo>
                  <a:lnTo>
                    <a:pt x="1650873" y="393446"/>
                  </a:lnTo>
                  <a:lnTo>
                    <a:pt x="1657350" y="364998"/>
                  </a:lnTo>
                  <a:lnTo>
                    <a:pt x="1657350" y="73025"/>
                  </a:lnTo>
                  <a:lnTo>
                    <a:pt x="1650873" y="44576"/>
                  </a:lnTo>
                  <a:lnTo>
                    <a:pt x="1633093" y="21336"/>
                  </a:lnTo>
                  <a:lnTo>
                    <a:pt x="1606677" y="5714"/>
                  </a:lnTo>
                  <a:lnTo>
                    <a:pt x="1574292" y="0"/>
                  </a:lnTo>
                  <a:close/>
                </a:path>
              </a:pathLst>
            </a:custGeom>
            <a:solidFill>
              <a:srgbClr val="2B8F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5" name="object 105"/>
          <p:cNvGrpSpPr/>
          <p:nvPr/>
        </p:nvGrpSpPr>
        <p:grpSpPr>
          <a:xfrm>
            <a:off x="9903993" y="4647439"/>
            <a:ext cx="238125" cy="238125"/>
            <a:chOff x="9953625" y="4257675"/>
            <a:chExt cx="238125" cy="238125"/>
          </a:xfrm>
        </p:grpSpPr>
        <p:pic>
          <p:nvPicPr>
            <p:cNvPr id="106" name="object 10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953625" y="4257675"/>
              <a:ext cx="238125" cy="238125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010775" y="4295775"/>
              <a:ext cx="123823" cy="123825"/>
            </a:xfrm>
            <a:prstGeom prst="rect">
              <a:avLst/>
            </a:prstGeom>
          </p:spPr>
        </p:pic>
      </p:grpSp>
      <p:sp>
        <p:nvSpPr>
          <p:cNvPr id="108" name="object 108"/>
          <p:cNvSpPr txBox="1"/>
          <p:nvPr/>
        </p:nvSpPr>
        <p:spPr>
          <a:xfrm>
            <a:off x="10151097" y="4648494"/>
            <a:ext cx="1476841" cy="730906"/>
          </a:xfrm>
          <a:prstGeom prst="rect">
            <a:avLst/>
          </a:prstGeom>
        </p:spPr>
        <p:txBody>
          <a:bodyPr vert="horz" wrap="square" lIns="0" tIns="8255" rIns="0" bIns="0" rtlCol="0" anchor="t">
            <a:spAutoFit/>
          </a:bodyPr>
          <a:lstStyle/>
          <a:p>
            <a:pPr marL="12700" marR="5080">
              <a:lnSpc>
                <a:spcPct val="105400"/>
              </a:lnSpc>
              <a:spcBef>
                <a:spcPts val="65"/>
              </a:spcBef>
            </a:pPr>
            <a:r>
              <a:rPr sz="900" b="1" i="1">
                <a:solidFill>
                  <a:srgbClr val="E76D09"/>
                </a:solidFill>
                <a:latin typeface="Trebuchet MS"/>
                <a:cs typeface="Trebuchet MS"/>
              </a:rPr>
              <a:t>Weather</a:t>
            </a:r>
            <a:r>
              <a:rPr sz="900" b="1" i="1" spc="-95">
                <a:solidFill>
                  <a:srgbClr val="E76D09"/>
                </a:solidFill>
                <a:latin typeface="Trebuchet MS"/>
                <a:cs typeface="Trebuchet MS"/>
              </a:rPr>
              <a:t> </a:t>
            </a:r>
            <a:r>
              <a:rPr lang="en-US" sz="900" b="1" i="1" spc="-20">
                <a:solidFill>
                  <a:srgbClr val="E76D09"/>
                </a:solidFill>
                <a:latin typeface="Trebuchet MS"/>
                <a:cs typeface="Trebuchet MS"/>
              </a:rPr>
              <a:t>Watch</a:t>
            </a:r>
            <a:r>
              <a:rPr lang="en-US" sz="950" spc="-20">
                <a:solidFill>
                  <a:srgbClr val="17202A"/>
                </a:solidFill>
                <a:latin typeface="Tahoma"/>
                <a:cs typeface="Tahoma"/>
              </a:rPr>
              <a:t>-</a:t>
            </a:r>
            <a:r>
              <a:rPr lang="en-US" sz="900" spc="-20">
                <a:solidFill>
                  <a:srgbClr val="17202A"/>
                </a:solidFill>
                <a:latin typeface="Tahoma"/>
                <a:cs typeface="Tahoma"/>
              </a:rPr>
              <a:t>Continuously monitors weather changes nationwide and alerts users to important conditions.</a:t>
            </a:r>
            <a:endParaRPr lang="en-US" sz="900" err="1">
              <a:solidFill>
                <a:srgbClr val="17202A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566420" y="4884102"/>
            <a:ext cx="3136265" cy="1853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>
                <a:solidFill>
                  <a:srgbClr val="17375F"/>
                </a:solidFill>
                <a:latin typeface="Tahoma"/>
                <a:cs typeface="Tahoma"/>
              </a:rPr>
              <a:t>05</a:t>
            </a:r>
            <a:r>
              <a:rPr sz="1100" b="1" spc="-5">
                <a:solidFill>
                  <a:srgbClr val="17375F"/>
                </a:solidFill>
                <a:latin typeface="Tahoma"/>
                <a:cs typeface="Tahoma"/>
              </a:rPr>
              <a:t> </a:t>
            </a:r>
            <a:r>
              <a:rPr sz="1100" b="1">
                <a:solidFill>
                  <a:srgbClr val="17375F"/>
                </a:solidFill>
                <a:latin typeface="Tahoma"/>
                <a:cs typeface="Tahoma"/>
              </a:rPr>
              <a:t>NO NETWORK =</a:t>
            </a:r>
            <a:r>
              <a:rPr sz="1100" b="1" spc="-55">
                <a:solidFill>
                  <a:srgbClr val="17375F"/>
                </a:solidFill>
                <a:latin typeface="Tahoma"/>
                <a:cs typeface="Tahoma"/>
              </a:rPr>
              <a:t> </a:t>
            </a:r>
            <a:r>
              <a:rPr sz="1100" b="1">
                <a:solidFill>
                  <a:srgbClr val="17375F"/>
                </a:solidFill>
                <a:latin typeface="Tahoma"/>
                <a:cs typeface="Tahoma"/>
              </a:rPr>
              <a:t>NO</a:t>
            </a:r>
            <a:r>
              <a:rPr sz="1100" b="1" spc="-75">
                <a:solidFill>
                  <a:srgbClr val="17375F"/>
                </a:solidFill>
                <a:latin typeface="Tahoma"/>
                <a:cs typeface="Tahoma"/>
              </a:rPr>
              <a:t> </a:t>
            </a:r>
            <a:r>
              <a:rPr sz="1100" b="1">
                <a:solidFill>
                  <a:srgbClr val="17375F"/>
                </a:solidFill>
                <a:latin typeface="Tahoma"/>
                <a:cs typeface="Tahoma"/>
              </a:rPr>
              <a:t>WEATHER</a:t>
            </a:r>
            <a:r>
              <a:rPr sz="1100" b="1" spc="-30">
                <a:solidFill>
                  <a:srgbClr val="17375F"/>
                </a:solidFill>
                <a:latin typeface="Tahoma"/>
                <a:cs typeface="Tahoma"/>
              </a:rPr>
              <a:t> </a:t>
            </a:r>
            <a:r>
              <a:rPr sz="1100" b="1" spc="-10">
                <a:solidFill>
                  <a:srgbClr val="17375F"/>
                </a:solidFill>
                <a:latin typeface="Tahoma"/>
                <a:cs typeface="Tahoma"/>
              </a:rPr>
              <a:t>ACCESS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578802" y="5091458"/>
            <a:ext cx="2898140" cy="350520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sz="950">
                <a:latin typeface="Tahoma"/>
                <a:cs typeface="Tahoma"/>
              </a:rPr>
              <a:t>Weather</a:t>
            </a:r>
            <a:r>
              <a:rPr sz="950" spc="195">
                <a:latin typeface="Tahoma"/>
                <a:cs typeface="Tahoma"/>
              </a:rPr>
              <a:t> </a:t>
            </a:r>
            <a:r>
              <a:rPr sz="950">
                <a:latin typeface="Tahoma"/>
                <a:cs typeface="Tahoma"/>
              </a:rPr>
              <a:t>information</a:t>
            </a:r>
            <a:r>
              <a:rPr sz="950" spc="130">
                <a:latin typeface="Tahoma"/>
                <a:cs typeface="Tahoma"/>
              </a:rPr>
              <a:t> </a:t>
            </a:r>
            <a:r>
              <a:rPr sz="950">
                <a:latin typeface="Tahoma"/>
                <a:cs typeface="Tahoma"/>
              </a:rPr>
              <a:t>stops</a:t>
            </a:r>
            <a:r>
              <a:rPr sz="950" spc="185">
                <a:latin typeface="Tahoma"/>
                <a:cs typeface="Tahoma"/>
              </a:rPr>
              <a:t> </a:t>
            </a:r>
            <a:r>
              <a:rPr sz="950">
                <a:latin typeface="Tahoma"/>
                <a:cs typeface="Tahoma"/>
              </a:rPr>
              <a:t>where</a:t>
            </a:r>
            <a:r>
              <a:rPr sz="950" spc="175">
                <a:latin typeface="Tahoma"/>
                <a:cs typeface="Tahoma"/>
              </a:rPr>
              <a:t> </a:t>
            </a:r>
            <a:r>
              <a:rPr sz="950">
                <a:latin typeface="Tahoma"/>
                <a:cs typeface="Tahoma"/>
              </a:rPr>
              <a:t>connectivity</a:t>
            </a:r>
            <a:r>
              <a:rPr sz="950" spc="220">
                <a:latin typeface="Tahoma"/>
                <a:cs typeface="Tahoma"/>
              </a:rPr>
              <a:t> </a:t>
            </a:r>
            <a:r>
              <a:rPr sz="950" spc="-10">
                <a:latin typeface="Tahoma"/>
                <a:cs typeface="Tahoma"/>
              </a:rPr>
              <a:t>fails.</a:t>
            </a:r>
            <a:endParaRPr sz="95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  <a:spcBef>
                <a:spcPts val="135"/>
              </a:spcBef>
            </a:pPr>
            <a:r>
              <a:rPr sz="950">
                <a:latin typeface="Tahoma"/>
                <a:cs typeface="Tahoma"/>
              </a:rPr>
              <a:t>Critical</a:t>
            </a:r>
            <a:r>
              <a:rPr sz="950" spc="90">
                <a:latin typeface="Tahoma"/>
                <a:cs typeface="Tahoma"/>
              </a:rPr>
              <a:t> </a:t>
            </a:r>
            <a:r>
              <a:rPr sz="950">
                <a:latin typeface="Tahoma"/>
                <a:cs typeface="Tahoma"/>
              </a:rPr>
              <a:t>alerts</a:t>
            </a:r>
            <a:r>
              <a:rPr sz="950" spc="114">
                <a:latin typeface="Tahoma"/>
                <a:cs typeface="Tahoma"/>
              </a:rPr>
              <a:t> </a:t>
            </a:r>
            <a:r>
              <a:rPr sz="950">
                <a:latin typeface="Tahoma"/>
                <a:cs typeface="Tahoma"/>
              </a:rPr>
              <a:t>may</a:t>
            </a:r>
            <a:r>
              <a:rPr sz="950" spc="150">
                <a:latin typeface="Tahoma"/>
                <a:cs typeface="Tahoma"/>
              </a:rPr>
              <a:t> </a:t>
            </a:r>
            <a:r>
              <a:rPr sz="950">
                <a:latin typeface="Tahoma"/>
                <a:cs typeface="Tahoma"/>
              </a:rPr>
              <a:t>not</a:t>
            </a:r>
            <a:r>
              <a:rPr sz="950" spc="160">
                <a:latin typeface="Tahoma"/>
                <a:cs typeface="Tahoma"/>
              </a:rPr>
              <a:t> </a:t>
            </a:r>
            <a:r>
              <a:rPr sz="950">
                <a:latin typeface="Tahoma"/>
                <a:cs typeface="Tahoma"/>
              </a:rPr>
              <a:t>reach</a:t>
            </a:r>
            <a:r>
              <a:rPr sz="950" spc="70">
                <a:latin typeface="Tahoma"/>
                <a:cs typeface="Tahoma"/>
              </a:rPr>
              <a:t> </a:t>
            </a:r>
            <a:r>
              <a:rPr sz="950">
                <a:latin typeface="Tahoma"/>
                <a:cs typeface="Tahoma"/>
              </a:rPr>
              <a:t>users</a:t>
            </a:r>
            <a:r>
              <a:rPr sz="950" spc="110">
                <a:latin typeface="Tahoma"/>
                <a:cs typeface="Tahoma"/>
              </a:rPr>
              <a:t> </a:t>
            </a:r>
            <a:r>
              <a:rPr sz="950">
                <a:latin typeface="Tahoma"/>
                <a:cs typeface="Tahoma"/>
              </a:rPr>
              <a:t>in</a:t>
            </a:r>
            <a:r>
              <a:rPr sz="950" spc="75">
                <a:latin typeface="Tahoma"/>
                <a:cs typeface="Tahoma"/>
              </a:rPr>
              <a:t> </a:t>
            </a:r>
            <a:r>
              <a:rPr sz="950">
                <a:latin typeface="Tahoma"/>
                <a:cs typeface="Tahoma"/>
              </a:rPr>
              <a:t>remote</a:t>
            </a:r>
            <a:r>
              <a:rPr sz="950" spc="110">
                <a:latin typeface="Tahoma"/>
                <a:cs typeface="Tahoma"/>
              </a:rPr>
              <a:t> </a:t>
            </a:r>
            <a:r>
              <a:rPr sz="950" spc="-10">
                <a:latin typeface="Tahoma"/>
                <a:cs typeface="Tahoma"/>
              </a:rPr>
              <a:t>areas.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364807" y="4850511"/>
            <a:ext cx="3338926" cy="646071"/>
          </a:xfrm>
          <a:custGeom>
            <a:avLst/>
            <a:gdLst/>
            <a:ahLst/>
            <a:cxnLst/>
            <a:rect l="l" t="t" r="r" b="b"/>
            <a:pathLst>
              <a:path w="3333750" h="876300">
                <a:moveTo>
                  <a:pt x="0" y="145986"/>
                </a:moveTo>
                <a:lnTo>
                  <a:pt x="7442" y="99783"/>
                </a:lnTo>
                <a:lnTo>
                  <a:pt x="28181" y="59690"/>
                </a:lnTo>
                <a:lnTo>
                  <a:pt x="59778" y="28067"/>
                </a:lnTo>
                <a:lnTo>
                  <a:pt x="99872" y="7365"/>
                </a:lnTo>
                <a:lnTo>
                  <a:pt x="146024" y="0"/>
                </a:lnTo>
                <a:lnTo>
                  <a:pt x="3187001" y="0"/>
                </a:lnTo>
                <a:lnTo>
                  <a:pt x="3233229" y="7365"/>
                </a:lnTo>
                <a:lnTo>
                  <a:pt x="3273361" y="28067"/>
                </a:lnTo>
                <a:lnTo>
                  <a:pt x="3304984" y="59690"/>
                </a:lnTo>
                <a:lnTo>
                  <a:pt x="3325685" y="99783"/>
                </a:lnTo>
                <a:lnTo>
                  <a:pt x="3333178" y="145986"/>
                </a:lnTo>
                <a:lnTo>
                  <a:pt x="3333178" y="730059"/>
                </a:lnTo>
                <a:lnTo>
                  <a:pt x="3325685" y="776274"/>
                </a:lnTo>
                <a:lnTo>
                  <a:pt x="3304984" y="816406"/>
                </a:lnTo>
                <a:lnTo>
                  <a:pt x="3273361" y="848042"/>
                </a:lnTo>
                <a:lnTo>
                  <a:pt x="3233229" y="868781"/>
                </a:lnTo>
                <a:lnTo>
                  <a:pt x="3187001" y="876236"/>
                </a:lnTo>
                <a:lnTo>
                  <a:pt x="146024" y="876236"/>
                </a:lnTo>
                <a:lnTo>
                  <a:pt x="99872" y="868781"/>
                </a:lnTo>
                <a:lnTo>
                  <a:pt x="59778" y="848042"/>
                </a:lnTo>
                <a:lnTo>
                  <a:pt x="28181" y="816406"/>
                </a:lnTo>
                <a:lnTo>
                  <a:pt x="7442" y="776274"/>
                </a:lnTo>
                <a:lnTo>
                  <a:pt x="0" y="730059"/>
                </a:lnTo>
                <a:lnTo>
                  <a:pt x="0" y="145986"/>
                </a:lnTo>
                <a:close/>
              </a:path>
            </a:pathLst>
          </a:custGeom>
          <a:ln w="12700">
            <a:solidFill>
              <a:srgbClr val="CFD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5" name="object 115"/>
          <p:cNvGrpSpPr/>
          <p:nvPr/>
        </p:nvGrpSpPr>
        <p:grpSpPr>
          <a:xfrm>
            <a:off x="350520" y="5912484"/>
            <a:ext cx="1452285" cy="288815"/>
            <a:chOff x="4343400" y="5262236"/>
            <a:chExt cx="1614550" cy="302345"/>
          </a:xfrm>
        </p:grpSpPr>
        <p:pic>
          <p:nvPicPr>
            <p:cNvPr id="116" name="object 1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3400" y="5262236"/>
              <a:ext cx="1413287" cy="302345"/>
            </a:xfrm>
            <a:prstGeom prst="rect">
              <a:avLst/>
            </a:prstGeom>
          </p:spPr>
        </p:pic>
        <p:sp>
          <p:nvSpPr>
            <p:cNvPr id="117" name="object 117"/>
            <p:cNvSpPr/>
            <p:nvPr/>
          </p:nvSpPr>
          <p:spPr>
            <a:xfrm>
              <a:off x="4362450" y="5267324"/>
              <a:ext cx="1590675" cy="266700"/>
            </a:xfrm>
            <a:custGeom>
              <a:avLst/>
              <a:gdLst/>
              <a:ahLst/>
              <a:cxnLst/>
              <a:rect l="l" t="t" r="r" b="b"/>
              <a:pathLst>
                <a:path w="1590675" h="266700">
                  <a:moveTo>
                    <a:pt x="1563115" y="0"/>
                  </a:moveTo>
                  <a:lnTo>
                    <a:pt x="27304" y="0"/>
                  </a:lnTo>
                  <a:lnTo>
                    <a:pt x="16637" y="3428"/>
                  </a:lnTo>
                  <a:lnTo>
                    <a:pt x="8000" y="12953"/>
                  </a:lnTo>
                  <a:lnTo>
                    <a:pt x="2159" y="27178"/>
                  </a:lnTo>
                  <a:lnTo>
                    <a:pt x="0" y="44450"/>
                  </a:lnTo>
                  <a:lnTo>
                    <a:pt x="0" y="222122"/>
                  </a:lnTo>
                  <a:lnTo>
                    <a:pt x="2159" y="239522"/>
                  </a:lnTo>
                  <a:lnTo>
                    <a:pt x="8000" y="253619"/>
                  </a:lnTo>
                  <a:lnTo>
                    <a:pt x="16637" y="263144"/>
                  </a:lnTo>
                  <a:lnTo>
                    <a:pt x="27304" y="266700"/>
                  </a:lnTo>
                  <a:lnTo>
                    <a:pt x="1563115" y="266700"/>
                  </a:lnTo>
                  <a:lnTo>
                    <a:pt x="1573657" y="263144"/>
                  </a:lnTo>
                  <a:lnTo>
                    <a:pt x="1582420" y="253619"/>
                  </a:lnTo>
                  <a:lnTo>
                    <a:pt x="1588262" y="239522"/>
                  </a:lnTo>
                  <a:lnTo>
                    <a:pt x="1590421" y="222122"/>
                  </a:lnTo>
                  <a:lnTo>
                    <a:pt x="1590421" y="44450"/>
                  </a:lnTo>
                  <a:lnTo>
                    <a:pt x="1588262" y="27178"/>
                  </a:lnTo>
                  <a:lnTo>
                    <a:pt x="1582420" y="12953"/>
                  </a:lnTo>
                  <a:lnTo>
                    <a:pt x="1573657" y="3428"/>
                  </a:lnTo>
                  <a:lnTo>
                    <a:pt x="1563115" y="0"/>
                  </a:lnTo>
                  <a:close/>
                </a:path>
              </a:pathLst>
            </a:custGeom>
            <a:solidFill>
              <a:srgbClr val="EC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4367275" y="5272150"/>
              <a:ext cx="1590675" cy="266700"/>
            </a:xfrm>
            <a:custGeom>
              <a:avLst/>
              <a:gdLst/>
              <a:ahLst/>
              <a:cxnLst/>
              <a:rect l="l" t="t" r="r" b="b"/>
              <a:pathLst>
                <a:path w="1590675" h="266700">
                  <a:moveTo>
                    <a:pt x="0" y="44450"/>
                  </a:moveTo>
                  <a:lnTo>
                    <a:pt x="2032" y="27051"/>
                  </a:lnTo>
                  <a:lnTo>
                    <a:pt x="7874" y="12954"/>
                  </a:lnTo>
                  <a:lnTo>
                    <a:pt x="16637" y="3429"/>
                  </a:lnTo>
                  <a:lnTo>
                    <a:pt x="27177" y="0"/>
                  </a:lnTo>
                  <a:lnTo>
                    <a:pt x="1562989" y="0"/>
                  </a:lnTo>
                  <a:lnTo>
                    <a:pt x="1573657" y="3429"/>
                  </a:lnTo>
                  <a:lnTo>
                    <a:pt x="1582293" y="12954"/>
                  </a:lnTo>
                  <a:lnTo>
                    <a:pt x="1588135" y="27051"/>
                  </a:lnTo>
                  <a:lnTo>
                    <a:pt x="1590294" y="44450"/>
                  </a:lnTo>
                  <a:lnTo>
                    <a:pt x="1590294" y="222123"/>
                  </a:lnTo>
                  <a:lnTo>
                    <a:pt x="1588135" y="239395"/>
                  </a:lnTo>
                  <a:lnTo>
                    <a:pt x="1582293" y="253619"/>
                  </a:lnTo>
                  <a:lnTo>
                    <a:pt x="1573657" y="263144"/>
                  </a:lnTo>
                  <a:lnTo>
                    <a:pt x="1562989" y="266700"/>
                  </a:lnTo>
                  <a:lnTo>
                    <a:pt x="27177" y="266700"/>
                  </a:lnTo>
                  <a:lnTo>
                    <a:pt x="16637" y="263144"/>
                  </a:lnTo>
                  <a:lnTo>
                    <a:pt x="7874" y="253619"/>
                  </a:lnTo>
                  <a:lnTo>
                    <a:pt x="2032" y="239395"/>
                  </a:lnTo>
                  <a:lnTo>
                    <a:pt x="0" y="222123"/>
                  </a:lnTo>
                  <a:lnTo>
                    <a:pt x="0" y="44450"/>
                  </a:lnTo>
                  <a:close/>
                </a:path>
              </a:pathLst>
            </a:custGeom>
            <a:ln w="10160">
              <a:solidFill>
                <a:srgbClr val="C8DC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9" name="object 119"/>
          <p:cNvSpPr txBox="1"/>
          <p:nvPr/>
        </p:nvSpPr>
        <p:spPr>
          <a:xfrm>
            <a:off x="398145" y="5957252"/>
            <a:ext cx="134874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solidFill>
                  <a:srgbClr val="0E364F"/>
                </a:solidFill>
                <a:latin typeface="Tahoma"/>
                <a:cs typeface="Tahoma"/>
              </a:rPr>
              <a:t>KEY</a:t>
            </a:r>
            <a:r>
              <a:rPr sz="1200" b="1" spc="-5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 spc="-10">
                <a:solidFill>
                  <a:srgbClr val="0E364F"/>
                </a:solidFill>
                <a:latin typeface="Tahoma"/>
                <a:cs typeface="Tahoma"/>
              </a:rPr>
              <a:t>HIGHLIGHTS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3984625" y="5799592"/>
            <a:ext cx="2127885" cy="1853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>
                <a:solidFill>
                  <a:srgbClr val="0E364F"/>
                </a:solidFill>
                <a:latin typeface="Tahoma"/>
                <a:cs typeface="Tahoma"/>
              </a:rPr>
              <a:t>Low</a:t>
            </a:r>
            <a:r>
              <a:rPr sz="1100" b="1" spc="-2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100" b="1">
                <a:solidFill>
                  <a:srgbClr val="0E364F"/>
                </a:solidFill>
                <a:latin typeface="Tahoma"/>
                <a:cs typeface="Tahoma"/>
              </a:rPr>
              <a:t>Bandwidth</a:t>
            </a:r>
            <a:r>
              <a:rPr sz="1100" b="1" spc="-3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100" b="1">
                <a:solidFill>
                  <a:srgbClr val="0E364F"/>
                </a:solidFill>
                <a:latin typeface="Tahoma"/>
                <a:cs typeface="Tahoma"/>
              </a:rPr>
              <a:t>SMS</a:t>
            </a:r>
            <a:r>
              <a:rPr sz="1100" b="1" spc="-3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100" b="1" spc="-10">
                <a:solidFill>
                  <a:srgbClr val="0E364F"/>
                </a:solidFill>
                <a:latin typeface="Tahoma"/>
                <a:cs typeface="Tahoma"/>
              </a:rPr>
              <a:t>Access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4034155" y="6100762"/>
            <a:ext cx="1899920" cy="523861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57150">
              <a:spcBef>
                <a:spcPts val="125"/>
              </a:spcBef>
            </a:pPr>
            <a:r>
              <a:rPr sz="1100">
                <a:latin typeface="Tahoma"/>
                <a:cs typeface="Tahoma"/>
              </a:rPr>
              <a:t>Essential</a:t>
            </a:r>
            <a:r>
              <a:rPr sz="1100" spc="-20">
                <a:latin typeface="Tahoma"/>
                <a:cs typeface="Tahoma"/>
              </a:rPr>
              <a:t> </a:t>
            </a:r>
            <a:r>
              <a:rPr sz="1100">
                <a:latin typeface="Tahoma"/>
                <a:cs typeface="Tahoma"/>
              </a:rPr>
              <a:t>weather</a:t>
            </a:r>
            <a:r>
              <a:rPr sz="1100" spc="-20">
                <a:latin typeface="Tahoma"/>
                <a:cs typeface="Tahoma"/>
              </a:rPr>
              <a:t> </a:t>
            </a:r>
            <a:r>
              <a:rPr sz="1100">
                <a:latin typeface="Tahoma"/>
                <a:cs typeface="Tahoma"/>
              </a:rPr>
              <a:t>information</a:t>
            </a:r>
            <a:r>
              <a:rPr sz="1100" spc="-15">
                <a:latin typeface="Tahoma"/>
                <a:cs typeface="Tahoma"/>
              </a:rPr>
              <a:t> </a:t>
            </a:r>
            <a:r>
              <a:rPr sz="1100">
                <a:latin typeface="Tahoma"/>
                <a:cs typeface="Tahoma"/>
              </a:rPr>
              <a:t>even</a:t>
            </a:r>
            <a:r>
              <a:rPr sz="1100" spc="-10">
                <a:latin typeface="Tahoma"/>
                <a:cs typeface="Tahoma"/>
              </a:rPr>
              <a:t> </a:t>
            </a:r>
            <a:r>
              <a:rPr sz="1100">
                <a:latin typeface="Tahoma"/>
                <a:cs typeface="Tahoma"/>
              </a:rPr>
              <a:t>with</a:t>
            </a:r>
            <a:r>
              <a:rPr sz="1100" spc="-15">
                <a:latin typeface="Tahoma"/>
                <a:cs typeface="Tahoma"/>
              </a:rPr>
              <a:t> </a:t>
            </a:r>
            <a:r>
              <a:rPr lang="en-US" sz="1100" spc="-10">
                <a:latin typeface="Tahoma"/>
                <a:cs typeface="Tahoma"/>
              </a:rPr>
              <a:t>limited </a:t>
            </a:r>
            <a:r>
              <a:rPr lang="en-US" sz="1100">
                <a:latin typeface="Tahoma"/>
                <a:cs typeface="Tahoma"/>
              </a:rPr>
              <a:t>internet</a:t>
            </a:r>
            <a:r>
              <a:rPr sz="1100" spc="-25">
                <a:latin typeface="Tahoma"/>
                <a:cs typeface="Tahoma"/>
              </a:rPr>
              <a:t> </a:t>
            </a:r>
            <a:r>
              <a:rPr sz="1100" spc="-10">
                <a:latin typeface="Tahoma"/>
                <a:cs typeface="Tahoma"/>
              </a:rPr>
              <a:t>connectivity.</a:t>
            </a:r>
            <a:endParaRPr lang="en-US" sz="1100">
              <a:latin typeface="Tahoma"/>
              <a:cs typeface="Tahoma"/>
            </a:endParaRPr>
          </a:p>
        </p:txBody>
      </p:sp>
      <p:sp>
        <p:nvSpPr>
          <p:cNvPr id="125" name="object 125"/>
          <p:cNvSpPr/>
          <p:nvPr/>
        </p:nvSpPr>
        <p:spPr>
          <a:xfrm>
            <a:off x="3981196" y="5733732"/>
            <a:ext cx="1957070" cy="975360"/>
          </a:xfrm>
          <a:custGeom>
            <a:avLst/>
            <a:gdLst/>
            <a:ahLst/>
            <a:cxnLst/>
            <a:rect l="l" t="t" r="r" b="b"/>
            <a:pathLst>
              <a:path w="3094990" h="914400">
                <a:moveTo>
                  <a:pt x="0" y="152336"/>
                </a:moveTo>
                <a:lnTo>
                  <a:pt x="6731" y="104178"/>
                </a:lnTo>
                <a:lnTo>
                  <a:pt x="25781" y="62369"/>
                </a:lnTo>
                <a:lnTo>
                  <a:pt x="54863" y="29387"/>
                </a:lnTo>
                <a:lnTo>
                  <a:pt x="91694" y="7759"/>
                </a:lnTo>
                <a:lnTo>
                  <a:pt x="134112" y="0"/>
                </a:lnTo>
                <a:lnTo>
                  <a:pt x="2960878" y="0"/>
                </a:lnTo>
                <a:lnTo>
                  <a:pt x="3003296" y="7759"/>
                </a:lnTo>
                <a:lnTo>
                  <a:pt x="3040126" y="29387"/>
                </a:lnTo>
                <a:lnTo>
                  <a:pt x="3069081" y="62369"/>
                </a:lnTo>
                <a:lnTo>
                  <a:pt x="3088131" y="104178"/>
                </a:lnTo>
                <a:lnTo>
                  <a:pt x="3094990" y="152336"/>
                </a:lnTo>
                <a:lnTo>
                  <a:pt x="3094990" y="761936"/>
                </a:lnTo>
                <a:lnTo>
                  <a:pt x="3088131" y="810094"/>
                </a:lnTo>
                <a:lnTo>
                  <a:pt x="3069081" y="851954"/>
                </a:lnTo>
                <a:lnTo>
                  <a:pt x="3040126" y="884961"/>
                </a:lnTo>
                <a:lnTo>
                  <a:pt x="3003296" y="906614"/>
                </a:lnTo>
                <a:lnTo>
                  <a:pt x="2960878" y="914400"/>
                </a:lnTo>
                <a:lnTo>
                  <a:pt x="134112" y="914400"/>
                </a:lnTo>
                <a:lnTo>
                  <a:pt x="91694" y="906614"/>
                </a:lnTo>
                <a:lnTo>
                  <a:pt x="54863" y="884961"/>
                </a:lnTo>
                <a:lnTo>
                  <a:pt x="25781" y="851954"/>
                </a:lnTo>
                <a:lnTo>
                  <a:pt x="6731" y="810094"/>
                </a:lnTo>
                <a:lnTo>
                  <a:pt x="0" y="761936"/>
                </a:lnTo>
                <a:lnTo>
                  <a:pt x="0" y="152336"/>
                </a:lnTo>
                <a:close/>
              </a:path>
            </a:pathLst>
          </a:custGeom>
          <a:ln w="12700">
            <a:solidFill>
              <a:srgbClr val="CFD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 txBox="1"/>
          <p:nvPr/>
        </p:nvSpPr>
        <p:spPr>
          <a:xfrm>
            <a:off x="6045581" y="5804852"/>
            <a:ext cx="1867535" cy="367408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sz="1100" b="1">
                <a:solidFill>
                  <a:srgbClr val="0E364F"/>
                </a:solidFill>
                <a:latin typeface="Tahoma"/>
                <a:cs typeface="Tahoma"/>
              </a:rPr>
              <a:t>Regional</a:t>
            </a:r>
            <a:r>
              <a:rPr sz="1100" b="1" spc="-1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lang="en-US" sz="1100" b="1">
                <a:solidFill>
                  <a:srgbClr val="0E364F"/>
                </a:solidFill>
                <a:latin typeface="Tahoma"/>
                <a:cs typeface="Tahoma"/>
              </a:rPr>
              <a:t>Language Voice</a:t>
            </a:r>
            <a:r>
              <a:rPr sz="1100" b="1" spc="-4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100" b="1">
                <a:solidFill>
                  <a:srgbClr val="0E364F"/>
                </a:solidFill>
                <a:latin typeface="Tahoma"/>
                <a:cs typeface="Tahoma"/>
              </a:rPr>
              <a:t>&amp;</a:t>
            </a:r>
            <a:r>
              <a:rPr sz="1100" b="1" spc="-2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100" b="1" spc="-20">
                <a:solidFill>
                  <a:srgbClr val="0E364F"/>
                </a:solidFill>
                <a:latin typeface="Tahoma"/>
                <a:cs typeface="Tahoma"/>
              </a:rPr>
              <a:t>Text</a:t>
            </a:r>
            <a:endParaRPr lang="en-US" sz="1100">
              <a:latin typeface="Tahoma"/>
              <a:cs typeface="Tahoma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6089396" y="6178867"/>
            <a:ext cx="1696720" cy="515975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95"/>
              </a:spcBef>
            </a:pPr>
            <a:r>
              <a:rPr lang="en-US" sz="1100">
                <a:latin typeface="Tahoma"/>
                <a:cs typeface="Tahoma"/>
              </a:rPr>
              <a:t>Ask</a:t>
            </a:r>
            <a:r>
              <a:rPr lang="en-US" sz="1100" spc="-20">
                <a:latin typeface="Tahoma"/>
                <a:cs typeface="Tahoma"/>
              </a:rPr>
              <a:t> </a:t>
            </a:r>
            <a:r>
              <a:rPr lang="en-US" sz="1100">
                <a:latin typeface="Tahoma"/>
                <a:cs typeface="Tahoma"/>
              </a:rPr>
              <a:t>and receive weather guidance in the user's regional language</a:t>
            </a:r>
            <a:endParaRPr sz="1100" spc="30">
              <a:latin typeface="Tahoma"/>
              <a:cs typeface="Tahoma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EEECC6C-528C-EE4A-D22A-D86EB1CB0DB2}"/>
              </a:ext>
            </a:extLst>
          </p:cNvPr>
          <p:cNvSpPr txBox="1"/>
          <p:nvPr/>
        </p:nvSpPr>
        <p:spPr>
          <a:xfrm>
            <a:off x="3706378" y="2159296"/>
            <a:ext cx="267292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INTERACTIVE WEATHER </a:t>
            </a:r>
          </a:p>
          <a:p>
            <a:pPr algn="ctr"/>
            <a:r>
              <a:rPr lang="en-US" sz="900" b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MAPPING</a:t>
            </a: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40" name="object 125">
            <a:extLst>
              <a:ext uri="{FF2B5EF4-FFF2-40B4-BE49-F238E27FC236}">
                <a16:creationId xmlns:a16="http://schemas.microsoft.com/office/drawing/2014/main" id="{33E556E1-C8FF-A270-7E13-12AC30D6B406}"/>
              </a:ext>
            </a:extLst>
          </p:cNvPr>
          <p:cNvSpPr/>
          <p:nvPr/>
        </p:nvSpPr>
        <p:spPr>
          <a:xfrm>
            <a:off x="6003035" y="5733731"/>
            <a:ext cx="1916430" cy="985520"/>
          </a:xfrm>
          <a:custGeom>
            <a:avLst/>
            <a:gdLst/>
            <a:ahLst/>
            <a:cxnLst/>
            <a:rect l="l" t="t" r="r" b="b"/>
            <a:pathLst>
              <a:path w="3094990" h="914400">
                <a:moveTo>
                  <a:pt x="0" y="152336"/>
                </a:moveTo>
                <a:lnTo>
                  <a:pt x="6731" y="104178"/>
                </a:lnTo>
                <a:lnTo>
                  <a:pt x="25781" y="62369"/>
                </a:lnTo>
                <a:lnTo>
                  <a:pt x="54863" y="29387"/>
                </a:lnTo>
                <a:lnTo>
                  <a:pt x="91694" y="7759"/>
                </a:lnTo>
                <a:lnTo>
                  <a:pt x="134112" y="0"/>
                </a:lnTo>
                <a:lnTo>
                  <a:pt x="2960878" y="0"/>
                </a:lnTo>
                <a:lnTo>
                  <a:pt x="3003296" y="7759"/>
                </a:lnTo>
                <a:lnTo>
                  <a:pt x="3040126" y="29387"/>
                </a:lnTo>
                <a:lnTo>
                  <a:pt x="3069081" y="62369"/>
                </a:lnTo>
                <a:lnTo>
                  <a:pt x="3088131" y="104178"/>
                </a:lnTo>
                <a:lnTo>
                  <a:pt x="3094990" y="152336"/>
                </a:lnTo>
                <a:lnTo>
                  <a:pt x="3094990" y="761936"/>
                </a:lnTo>
                <a:lnTo>
                  <a:pt x="3088131" y="810094"/>
                </a:lnTo>
                <a:lnTo>
                  <a:pt x="3069081" y="851954"/>
                </a:lnTo>
                <a:lnTo>
                  <a:pt x="3040126" y="884961"/>
                </a:lnTo>
                <a:lnTo>
                  <a:pt x="3003296" y="906614"/>
                </a:lnTo>
                <a:lnTo>
                  <a:pt x="2960878" y="914400"/>
                </a:lnTo>
                <a:lnTo>
                  <a:pt x="134112" y="914400"/>
                </a:lnTo>
                <a:lnTo>
                  <a:pt x="91694" y="906614"/>
                </a:lnTo>
                <a:lnTo>
                  <a:pt x="54863" y="884961"/>
                </a:lnTo>
                <a:lnTo>
                  <a:pt x="25781" y="851954"/>
                </a:lnTo>
                <a:lnTo>
                  <a:pt x="6731" y="810094"/>
                </a:lnTo>
                <a:lnTo>
                  <a:pt x="0" y="761936"/>
                </a:lnTo>
                <a:lnTo>
                  <a:pt x="0" y="152336"/>
                </a:lnTo>
                <a:close/>
              </a:path>
            </a:pathLst>
          </a:custGeom>
          <a:ln w="12700">
            <a:solidFill>
              <a:srgbClr val="CFD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25">
            <a:extLst>
              <a:ext uri="{FF2B5EF4-FFF2-40B4-BE49-F238E27FC236}">
                <a16:creationId xmlns:a16="http://schemas.microsoft.com/office/drawing/2014/main" id="{EBC620D6-0732-6EA7-DA91-18334C9EA048}"/>
              </a:ext>
            </a:extLst>
          </p:cNvPr>
          <p:cNvSpPr/>
          <p:nvPr/>
        </p:nvSpPr>
        <p:spPr>
          <a:xfrm>
            <a:off x="10083137" y="5791239"/>
            <a:ext cx="2017071" cy="913634"/>
          </a:xfrm>
          <a:custGeom>
            <a:avLst/>
            <a:gdLst/>
            <a:ahLst/>
            <a:cxnLst/>
            <a:rect l="l" t="t" r="r" b="b"/>
            <a:pathLst>
              <a:path w="3094990" h="914400">
                <a:moveTo>
                  <a:pt x="0" y="152336"/>
                </a:moveTo>
                <a:lnTo>
                  <a:pt x="6731" y="104178"/>
                </a:lnTo>
                <a:lnTo>
                  <a:pt x="25781" y="62369"/>
                </a:lnTo>
                <a:lnTo>
                  <a:pt x="54863" y="29387"/>
                </a:lnTo>
                <a:lnTo>
                  <a:pt x="91694" y="7759"/>
                </a:lnTo>
                <a:lnTo>
                  <a:pt x="134112" y="0"/>
                </a:lnTo>
                <a:lnTo>
                  <a:pt x="2960878" y="0"/>
                </a:lnTo>
                <a:lnTo>
                  <a:pt x="3003296" y="7759"/>
                </a:lnTo>
                <a:lnTo>
                  <a:pt x="3040126" y="29387"/>
                </a:lnTo>
                <a:lnTo>
                  <a:pt x="3069081" y="62369"/>
                </a:lnTo>
                <a:lnTo>
                  <a:pt x="3088131" y="104178"/>
                </a:lnTo>
                <a:lnTo>
                  <a:pt x="3094990" y="152336"/>
                </a:lnTo>
                <a:lnTo>
                  <a:pt x="3094990" y="761936"/>
                </a:lnTo>
                <a:lnTo>
                  <a:pt x="3088131" y="810094"/>
                </a:lnTo>
                <a:lnTo>
                  <a:pt x="3069081" y="851954"/>
                </a:lnTo>
                <a:lnTo>
                  <a:pt x="3040126" y="884961"/>
                </a:lnTo>
                <a:lnTo>
                  <a:pt x="3003296" y="906614"/>
                </a:lnTo>
                <a:lnTo>
                  <a:pt x="2960878" y="914400"/>
                </a:lnTo>
                <a:lnTo>
                  <a:pt x="134112" y="914400"/>
                </a:lnTo>
                <a:lnTo>
                  <a:pt x="91694" y="906614"/>
                </a:lnTo>
                <a:lnTo>
                  <a:pt x="54863" y="884961"/>
                </a:lnTo>
                <a:lnTo>
                  <a:pt x="25781" y="851954"/>
                </a:lnTo>
                <a:lnTo>
                  <a:pt x="6731" y="810094"/>
                </a:lnTo>
                <a:lnTo>
                  <a:pt x="0" y="761936"/>
                </a:lnTo>
                <a:lnTo>
                  <a:pt x="0" y="152336"/>
                </a:lnTo>
                <a:close/>
              </a:path>
            </a:pathLst>
          </a:custGeom>
          <a:ln w="12700">
            <a:solidFill>
              <a:srgbClr val="CFD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25">
            <a:extLst>
              <a:ext uri="{FF2B5EF4-FFF2-40B4-BE49-F238E27FC236}">
                <a16:creationId xmlns:a16="http://schemas.microsoft.com/office/drawing/2014/main" id="{4E25C97A-8646-CD6E-7970-F0B5ED410508}"/>
              </a:ext>
            </a:extLst>
          </p:cNvPr>
          <p:cNvSpPr/>
          <p:nvPr/>
        </p:nvSpPr>
        <p:spPr>
          <a:xfrm>
            <a:off x="1939033" y="5733729"/>
            <a:ext cx="1987550" cy="985520"/>
          </a:xfrm>
          <a:custGeom>
            <a:avLst/>
            <a:gdLst/>
            <a:ahLst/>
            <a:cxnLst/>
            <a:rect l="l" t="t" r="r" b="b"/>
            <a:pathLst>
              <a:path w="3094990" h="914400">
                <a:moveTo>
                  <a:pt x="0" y="152336"/>
                </a:moveTo>
                <a:lnTo>
                  <a:pt x="6731" y="104178"/>
                </a:lnTo>
                <a:lnTo>
                  <a:pt x="25781" y="62369"/>
                </a:lnTo>
                <a:lnTo>
                  <a:pt x="54863" y="29387"/>
                </a:lnTo>
                <a:lnTo>
                  <a:pt x="91694" y="7759"/>
                </a:lnTo>
                <a:lnTo>
                  <a:pt x="134112" y="0"/>
                </a:lnTo>
                <a:lnTo>
                  <a:pt x="2960878" y="0"/>
                </a:lnTo>
                <a:lnTo>
                  <a:pt x="3003296" y="7759"/>
                </a:lnTo>
                <a:lnTo>
                  <a:pt x="3040126" y="29387"/>
                </a:lnTo>
                <a:lnTo>
                  <a:pt x="3069081" y="62369"/>
                </a:lnTo>
                <a:lnTo>
                  <a:pt x="3088131" y="104178"/>
                </a:lnTo>
                <a:lnTo>
                  <a:pt x="3094990" y="152336"/>
                </a:lnTo>
                <a:lnTo>
                  <a:pt x="3094990" y="761936"/>
                </a:lnTo>
                <a:lnTo>
                  <a:pt x="3088131" y="810094"/>
                </a:lnTo>
                <a:lnTo>
                  <a:pt x="3069081" y="851954"/>
                </a:lnTo>
                <a:lnTo>
                  <a:pt x="3040126" y="884961"/>
                </a:lnTo>
                <a:lnTo>
                  <a:pt x="3003296" y="906614"/>
                </a:lnTo>
                <a:lnTo>
                  <a:pt x="2960878" y="914400"/>
                </a:lnTo>
                <a:lnTo>
                  <a:pt x="134112" y="914400"/>
                </a:lnTo>
                <a:lnTo>
                  <a:pt x="91694" y="906614"/>
                </a:lnTo>
                <a:lnTo>
                  <a:pt x="54863" y="884961"/>
                </a:lnTo>
                <a:lnTo>
                  <a:pt x="25781" y="851954"/>
                </a:lnTo>
                <a:lnTo>
                  <a:pt x="6731" y="810094"/>
                </a:lnTo>
                <a:lnTo>
                  <a:pt x="0" y="761936"/>
                </a:lnTo>
                <a:lnTo>
                  <a:pt x="0" y="152336"/>
                </a:lnTo>
                <a:close/>
              </a:path>
            </a:pathLst>
          </a:custGeom>
          <a:ln w="12700">
            <a:solidFill>
              <a:srgbClr val="CFD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25">
            <a:extLst>
              <a:ext uri="{FF2B5EF4-FFF2-40B4-BE49-F238E27FC236}">
                <a16:creationId xmlns:a16="http://schemas.microsoft.com/office/drawing/2014/main" id="{C4EA5D01-7CF8-BD04-F8E9-651F3C1FBB95}"/>
              </a:ext>
            </a:extLst>
          </p:cNvPr>
          <p:cNvSpPr/>
          <p:nvPr/>
        </p:nvSpPr>
        <p:spPr>
          <a:xfrm>
            <a:off x="7958930" y="5749832"/>
            <a:ext cx="2045825" cy="985520"/>
          </a:xfrm>
          <a:custGeom>
            <a:avLst/>
            <a:gdLst/>
            <a:ahLst/>
            <a:cxnLst/>
            <a:rect l="l" t="t" r="r" b="b"/>
            <a:pathLst>
              <a:path w="3094990" h="914400">
                <a:moveTo>
                  <a:pt x="0" y="152336"/>
                </a:moveTo>
                <a:lnTo>
                  <a:pt x="6731" y="104178"/>
                </a:lnTo>
                <a:lnTo>
                  <a:pt x="25781" y="62369"/>
                </a:lnTo>
                <a:lnTo>
                  <a:pt x="54863" y="29387"/>
                </a:lnTo>
                <a:lnTo>
                  <a:pt x="91694" y="7759"/>
                </a:lnTo>
                <a:lnTo>
                  <a:pt x="134112" y="0"/>
                </a:lnTo>
                <a:lnTo>
                  <a:pt x="2960878" y="0"/>
                </a:lnTo>
                <a:lnTo>
                  <a:pt x="3003296" y="7759"/>
                </a:lnTo>
                <a:lnTo>
                  <a:pt x="3040126" y="29387"/>
                </a:lnTo>
                <a:lnTo>
                  <a:pt x="3069081" y="62369"/>
                </a:lnTo>
                <a:lnTo>
                  <a:pt x="3088131" y="104178"/>
                </a:lnTo>
                <a:lnTo>
                  <a:pt x="3094990" y="152336"/>
                </a:lnTo>
                <a:lnTo>
                  <a:pt x="3094990" y="761936"/>
                </a:lnTo>
                <a:lnTo>
                  <a:pt x="3088131" y="810094"/>
                </a:lnTo>
                <a:lnTo>
                  <a:pt x="3069081" y="851954"/>
                </a:lnTo>
                <a:lnTo>
                  <a:pt x="3040126" y="884961"/>
                </a:lnTo>
                <a:lnTo>
                  <a:pt x="3003296" y="906614"/>
                </a:lnTo>
                <a:lnTo>
                  <a:pt x="2960878" y="914400"/>
                </a:lnTo>
                <a:lnTo>
                  <a:pt x="134112" y="914400"/>
                </a:lnTo>
                <a:lnTo>
                  <a:pt x="91694" y="906614"/>
                </a:lnTo>
                <a:lnTo>
                  <a:pt x="54863" y="884961"/>
                </a:lnTo>
                <a:lnTo>
                  <a:pt x="25781" y="851954"/>
                </a:lnTo>
                <a:lnTo>
                  <a:pt x="6731" y="810094"/>
                </a:lnTo>
                <a:lnTo>
                  <a:pt x="0" y="761936"/>
                </a:lnTo>
                <a:lnTo>
                  <a:pt x="0" y="152336"/>
                </a:lnTo>
                <a:close/>
              </a:path>
            </a:pathLst>
          </a:custGeom>
          <a:ln w="12700">
            <a:solidFill>
              <a:srgbClr val="CFD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23">
            <a:extLst>
              <a:ext uri="{FF2B5EF4-FFF2-40B4-BE49-F238E27FC236}">
                <a16:creationId xmlns:a16="http://schemas.microsoft.com/office/drawing/2014/main" id="{F1FD376F-549E-D367-3A0F-81AF8DF357DC}"/>
              </a:ext>
            </a:extLst>
          </p:cNvPr>
          <p:cNvSpPr txBox="1"/>
          <p:nvPr/>
        </p:nvSpPr>
        <p:spPr>
          <a:xfrm>
            <a:off x="1968728" y="5818186"/>
            <a:ext cx="1969734" cy="354584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lang="en-US" sz="1100" b="1">
                <a:solidFill>
                  <a:srgbClr val="0E364F"/>
                </a:solidFill>
                <a:latin typeface="Tahoma"/>
                <a:ea typeface="Tahoma"/>
                <a:cs typeface="Tahoma"/>
              </a:rPr>
              <a:t>Plan-Aware Weather Intelligence</a:t>
            </a:r>
          </a:p>
        </p:txBody>
      </p:sp>
      <p:sp>
        <p:nvSpPr>
          <p:cNvPr id="143" name="object 123">
            <a:extLst>
              <a:ext uri="{FF2B5EF4-FFF2-40B4-BE49-F238E27FC236}">
                <a16:creationId xmlns:a16="http://schemas.microsoft.com/office/drawing/2014/main" id="{C454F678-A90C-46BC-3407-303FA595352B}"/>
              </a:ext>
            </a:extLst>
          </p:cNvPr>
          <p:cNvSpPr txBox="1"/>
          <p:nvPr/>
        </p:nvSpPr>
        <p:spPr>
          <a:xfrm>
            <a:off x="7950475" y="5797100"/>
            <a:ext cx="2127885" cy="185307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lang="en-US" sz="1100" b="1">
                <a:solidFill>
                  <a:srgbClr val="0E364F"/>
                </a:solidFill>
                <a:latin typeface="Tahoma"/>
                <a:ea typeface="Tahoma"/>
                <a:cs typeface="Tahoma"/>
              </a:rPr>
              <a:t>Conversational Weather Map</a:t>
            </a:r>
          </a:p>
        </p:txBody>
      </p:sp>
      <p:sp>
        <p:nvSpPr>
          <p:cNvPr id="144" name="object 123">
            <a:extLst>
              <a:ext uri="{FF2B5EF4-FFF2-40B4-BE49-F238E27FC236}">
                <a16:creationId xmlns:a16="http://schemas.microsoft.com/office/drawing/2014/main" id="{04914F24-192C-56C6-484A-33D043A8E1F1}"/>
              </a:ext>
            </a:extLst>
          </p:cNvPr>
          <p:cNvSpPr txBox="1"/>
          <p:nvPr/>
        </p:nvSpPr>
        <p:spPr>
          <a:xfrm>
            <a:off x="10121265" y="5808026"/>
            <a:ext cx="2127885" cy="185307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100" b="1" err="1">
                <a:solidFill>
                  <a:srgbClr val="0E364F"/>
                </a:solidFill>
                <a:latin typeface="Tahoma"/>
                <a:ea typeface="Tahoma"/>
                <a:cs typeface="Tahoma"/>
              </a:rPr>
              <a:t>Weather+Activity+Location</a:t>
            </a:r>
          </a:p>
        </p:txBody>
      </p:sp>
      <p:sp>
        <p:nvSpPr>
          <p:cNvPr id="146" name="object 124">
            <a:extLst>
              <a:ext uri="{FF2B5EF4-FFF2-40B4-BE49-F238E27FC236}">
                <a16:creationId xmlns:a16="http://schemas.microsoft.com/office/drawing/2014/main" id="{7611C030-EF66-8249-275A-A9A7825F59C0}"/>
              </a:ext>
            </a:extLst>
          </p:cNvPr>
          <p:cNvSpPr txBox="1"/>
          <p:nvPr/>
        </p:nvSpPr>
        <p:spPr>
          <a:xfrm>
            <a:off x="8102947" y="6100762"/>
            <a:ext cx="1899920" cy="523861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57150">
              <a:spcBef>
                <a:spcPts val="125"/>
              </a:spcBef>
            </a:pPr>
            <a:r>
              <a:rPr lang="en-US" sz="1100">
                <a:latin typeface="Tahoma"/>
                <a:cs typeface="Tahoma"/>
              </a:rPr>
              <a:t>Chat/Voice-driven map that dynamically displays weather along routes and locations</a:t>
            </a:r>
            <a:endParaRPr lang="en-US" sz="1100" err="1">
              <a:solidFill>
                <a:srgbClr val="00000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47" name="object 124">
            <a:extLst>
              <a:ext uri="{FF2B5EF4-FFF2-40B4-BE49-F238E27FC236}">
                <a16:creationId xmlns:a16="http://schemas.microsoft.com/office/drawing/2014/main" id="{471668C0-006F-B907-D3AA-73D95118564A}"/>
              </a:ext>
            </a:extLst>
          </p:cNvPr>
          <p:cNvSpPr txBox="1"/>
          <p:nvPr/>
        </p:nvSpPr>
        <p:spPr>
          <a:xfrm>
            <a:off x="10162848" y="6173830"/>
            <a:ext cx="1899920" cy="354584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57150">
              <a:spcBef>
                <a:spcPts val="125"/>
              </a:spcBef>
            </a:pPr>
            <a:r>
              <a:rPr lang="en-US" sz="1100">
                <a:latin typeface="Tahoma"/>
                <a:cs typeface="Tahoma"/>
              </a:rPr>
              <a:t>Finds suitable locations and time windows for activities</a:t>
            </a:r>
          </a:p>
        </p:txBody>
      </p:sp>
      <p:sp>
        <p:nvSpPr>
          <p:cNvPr id="148" name="object 124">
            <a:extLst>
              <a:ext uri="{FF2B5EF4-FFF2-40B4-BE49-F238E27FC236}">
                <a16:creationId xmlns:a16="http://schemas.microsoft.com/office/drawing/2014/main" id="{FAC74F20-D375-44B2-6A89-8EE5A9FE0812}"/>
              </a:ext>
            </a:extLst>
          </p:cNvPr>
          <p:cNvSpPr txBox="1"/>
          <p:nvPr/>
        </p:nvSpPr>
        <p:spPr>
          <a:xfrm>
            <a:off x="1906306" y="6129516"/>
            <a:ext cx="2043692" cy="536685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57150">
              <a:spcBef>
                <a:spcPts val="125"/>
              </a:spcBef>
            </a:pPr>
            <a:r>
              <a:rPr lang="en-US" sz="1100">
                <a:latin typeface="Tahoma"/>
                <a:cs typeface="Tahoma"/>
              </a:rPr>
              <a:t>Evaluates weather based on</a:t>
            </a:r>
            <a:endParaRPr lang="en-US">
              <a:latin typeface="Tahoma"/>
              <a:ea typeface="Tahoma"/>
              <a:cs typeface="Tahoma"/>
            </a:endParaRPr>
          </a:p>
          <a:p>
            <a:pPr marL="57150">
              <a:spcBef>
                <a:spcPts val="125"/>
              </a:spcBef>
            </a:pPr>
            <a:r>
              <a:rPr lang="en-US" sz="1100">
                <a:latin typeface="Tahoma"/>
                <a:cs typeface="Tahoma"/>
              </a:rPr>
              <a:t>plans ,schedules and travel needs</a:t>
            </a:r>
          </a:p>
        </p:txBody>
      </p:sp>
      <p:pic>
        <p:nvPicPr>
          <p:cNvPr id="150" name="object 89">
            <a:extLst>
              <a:ext uri="{FF2B5EF4-FFF2-40B4-BE49-F238E27FC236}">
                <a16:creationId xmlns:a16="http://schemas.microsoft.com/office/drawing/2014/main" id="{B0F4FEB9-6008-1447-2EE4-67A2B37BDC1F}"/>
              </a:ext>
            </a:extLst>
          </p:cNvPr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217778" y="4827198"/>
            <a:ext cx="123823" cy="133350"/>
          </a:xfrm>
          <a:prstGeom prst="rect">
            <a:avLst/>
          </a:prstGeom>
        </p:spPr>
      </p:pic>
      <p:pic>
        <p:nvPicPr>
          <p:cNvPr id="154" name="object 89">
            <a:extLst>
              <a:ext uri="{FF2B5EF4-FFF2-40B4-BE49-F238E27FC236}">
                <a16:creationId xmlns:a16="http://schemas.microsoft.com/office/drawing/2014/main" id="{3598D976-EB69-B65D-D86F-439052BA979B}"/>
              </a:ext>
            </a:extLst>
          </p:cNvPr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189023" y="3950179"/>
            <a:ext cx="123823" cy="133350"/>
          </a:xfrm>
          <a:prstGeom prst="rect">
            <a:avLst/>
          </a:prstGeom>
        </p:spPr>
      </p:pic>
      <p:pic>
        <p:nvPicPr>
          <p:cNvPr id="156" name="object 89">
            <a:extLst>
              <a:ext uri="{FF2B5EF4-FFF2-40B4-BE49-F238E27FC236}">
                <a16:creationId xmlns:a16="http://schemas.microsoft.com/office/drawing/2014/main" id="{5AA015B6-7966-E56D-CBA5-0E09D03EA597}"/>
              </a:ext>
            </a:extLst>
          </p:cNvPr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172834" y="3055395"/>
            <a:ext cx="123823" cy="133350"/>
          </a:xfrm>
          <a:prstGeom prst="rect">
            <a:avLst/>
          </a:prstGeom>
        </p:spPr>
      </p:pic>
      <p:grpSp>
        <p:nvGrpSpPr>
          <p:cNvPr id="47" name="object 105">
            <a:extLst>
              <a:ext uri="{FF2B5EF4-FFF2-40B4-BE49-F238E27FC236}">
                <a16:creationId xmlns:a16="http://schemas.microsoft.com/office/drawing/2014/main" id="{1DA5C6BC-FA73-E5B6-7AE8-ED4102E56A72}"/>
              </a:ext>
            </a:extLst>
          </p:cNvPr>
          <p:cNvGrpSpPr/>
          <p:nvPr/>
        </p:nvGrpSpPr>
        <p:grpSpPr>
          <a:xfrm>
            <a:off x="9910492" y="3014329"/>
            <a:ext cx="238125" cy="238125"/>
            <a:chOff x="9953625" y="4257675"/>
            <a:chExt cx="238125" cy="238125"/>
          </a:xfrm>
        </p:grpSpPr>
        <p:pic>
          <p:nvPicPr>
            <p:cNvPr id="48" name="object 106">
              <a:extLst>
                <a:ext uri="{FF2B5EF4-FFF2-40B4-BE49-F238E27FC236}">
                  <a16:creationId xmlns:a16="http://schemas.microsoft.com/office/drawing/2014/main" id="{DD712A80-AF98-06DB-76A3-461A435784B0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953625" y="4257675"/>
              <a:ext cx="238125" cy="238125"/>
            </a:xfrm>
            <a:prstGeom prst="rect">
              <a:avLst/>
            </a:prstGeom>
          </p:spPr>
        </p:pic>
        <p:pic>
          <p:nvPicPr>
            <p:cNvPr id="49" name="object 107">
              <a:extLst>
                <a:ext uri="{FF2B5EF4-FFF2-40B4-BE49-F238E27FC236}">
                  <a16:creationId xmlns:a16="http://schemas.microsoft.com/office/drawing/2014/main" id="{125BD7F7-5635-7078-4594-34B097B085F0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010775" y="4295775"/>
              <a:ext cx="123823" cy="123825"/>
            </a:xfrm>
            <a:prstGeom prst="rect">
              <a:avLst/>
            </a:prstGeom>
          </p:spPr>
        </p:pic>
      </p:grpSp>
      <p:pic>
        <p:nvPicPr>
          <p:cNvPr id="55" name="object 67">
            <a:extLst>
              <a:ext uri="{FF2B5EF4-FFF2-40B4-BE49-F238E27FC236}">
                <a16:creationId xmlns:a16="http://schemas.microsoft.com/office/drawing/2014/main" id="{37AD819A-090D-5B3F-223C-678AE75158D4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204664" y="3848008"/>
            <a:ext cx="125028" cy="113593"/>
          </a:xfrm>
          <a:prstGeom prst="rect">
            <a:avLst/>
          </a:prstGeom>
        </p:spPr>
      </p:pic>
      <p:pic>
        <p:nvPicPr>
          <p:cNvPr id="98" name="object 67">
            <a:extLst>
              <a:ext uri="{FF2B5EF4-FFF2-40B4-BE49-F238E27FC236}">
                <a16:creationId xmlns:a16="http://schemas.microsoft.com/office/drawing/2014/main" id="{B94E0E4B-5B27-69E2-2BC2-9AA0EAFA986F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225540" y="3015500"/>
            <a:ext cx="125028" cy="113593"/>
          </a:xfrm>
          <a:prstGeom prst="rect">
            <a:avLst/>
          </a:prstGeom>
        </p:spPr>
      </p:pic>
      <p:pic>
        <p:nvPicPr>
          <p:cNvPr id="99" name="object 67">
            <a:extLst>
              <a:ext uri="{FF2B5EF4-FFF2-40B4-BE49-F238E27FC236}">
                <a16:creationId xmlns:a16="http://schemas.microsoft.com/office/drawing/2014/main" id="{DD777E35-83F4-33C4-7A30-E209B3681A51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225541" y="4595631"/>
            <a:ext cx="125028" cy="113593"/>
          </a:xfrm>
          <a:prstGeom prst="rect">
            <a:avLst/>
          </a:prstGeom>
        </p:spPr>
      </p:pic>
      <p:pic>
        <p:nvPicPr>
          <p:cNvPr id="100" name="object 89">
            <a:extLst>
              <a:ext uri="{FF2B5EF4-FFF2-40B4-BE49-F238E27FC236}">
                <a16:creationId xmlns:a16="http://schemas.microsoft.com/office/drawing/2014/main" id="{F5007BB8-AEDD-A2B2-3503-B9E38DC2A635}"/>
              </a:ext>
            </a:extLst>
          </p:cNvPr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114041" y="4590463"/>
            <a:ext cx="123823" cy="13335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B312BFF8-A0B7-DFA4-EFDA-079F97BD3649}"/>
              </a:ext>
            </a:extLst>
          </p:cNvPr>
          <p:cNvSpPr txBox="1"/>
          <p:nvPr/>
        </p:nvSpPr>
        <p:spPr>
          <a:xfrm>
            <a:off x="8248660" y="4548742"/>
            <a:ext cx="1626951" cy="10926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900" b="1" i="1">
                <a:solidFill>
                  <a:srgbClr val="E76D09"/>
                </a:solidFill>
                <a:latin typeface="Trebuchet MS"/>
              </a:rPr>
              <a:t>Visual Weather Comparisons</a:t>
            </a:r>
            <a:r>
              <a:rPr lang="en-US" sz="1000">
                <a:solidFill>
                  <a:srgbClr val="17202A"/>
                </a:solidFill>
                <a:latin typeface="Tahoma"/>
                <a:ea typeface="Tahoma"/>
                <a:cs typeface="Tahoma"/>
              </a:rPr>
              <a:t>- </a:t>
            </a:r>
            <a:r>
              <a:rPr lang="en-US" sz="900">
                <a:solidFill>
                  <a:srgbClr val="17202A"/>
                </a:solidFill>
                <a:latin typeface="Tahoma"/>
                <a:ea typeface="Tahoma"/>
                <a:cs typeface="Tahoma"/>
              </a:rPr>
              <a:t>Compare weather across different locations to choose </a:t>
            </a:r>
            <a:r>
              <a:rPr lang="en-US" sz="900">
                <a:latin typeface="Tahoma"/>
                <a:ea typeface="Tahoma"/>
                <a:cs typeface="Tahoma"/>
              </a:rPr>
              <a:t>the better option</a:t>
            </a:r>
            <a:endParaRPr lang="en-US" sz="900">
              <a:solidFill>
                <a:srgbClr val="000000"/>
              </a:solidFill>
              <a:latin typeface="Tahoma"/>
              <a:ea typeface="Tahoma"/>
              <a:cs typeface="Tahoma"/>
            </a:endParaRPr>
          </a:p>
          <a:p>
            <a:pPr algn="l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E1DC375-4B6A-CED0-2BD2-B7B80FFD0FF6}"/>
              </a:ext>
            </a:extLst>
          </p:cNvPr>
          <p:cNvSpPr txBox="1"/>
          <p:nvPr/>
        </p:nvSpPr>
        <p:spPr>
          <a:xfrm>
            <a:off x="8308658" y="2160164"/>
            <a:ext cx="12106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WEATHER BASED PLANNING</a:t>
            </a:r>
            <a:endParaRPr lang="en-US" sz="900" b="1">
              <a:solidFill>
                <a:schemeClr val="bg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4F8EF2B-A661-45AE-BDCF-63D833519D3E}"/>
              </a:ext>
            </a:extLst>
          </p:cNvPr>
          <p:cNvSpPr txBox="1"/>
          <p:nvPr/>
        </p:nvSpPr>
        <p:spPr>
          <a:xfrm>
            <a:off x="8131036" y="2618563"/>
            <a:ext cx="152800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900" b="1">
                <a:solidFill>
                  <a:schemeClr val="tx2">
                    <a:lumMod val="76000"/>
                  </a:schemeClr>
                </a:solidFill>
                <a:latin typeface="Tahoma"/>
                <a:ea typeface="Tahoma"/>
                <a:cs typeface="Tahoma"/>
              </a:rPr>
              <a:t>Use weather to plan ahead</a:t>
            </a:r>
            <a:endParaRPr lang="en-US"/>
          </a:p>
        </p:txBody>
      </p:sp>
      <p:pic>
        <p:nvPicPr>
          <p:cNvPr id="67" name="object 67">
            <a:extLst>
              <a:ext uri="{FF2B5EF4-FFF2-40B4-BE49-F238E27FC236}">
                <a16:creationId xmlns:a16="http://schemas.microsoft.com/office/drawing/2014/main" id="{351ECE39-B4DF-7130-817C-25FB89C5F938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993785" y="3975828"/>
            <a:ext cx="125028" cy="113593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E7D04921-95C8-FF82-6A57-7A10106493B1}"/>
              </a:ext>
            </a:extLst>
          </p:cNvPr>
          <p:cNvSpPr txBox="1"/>
          <p:nvPr/>
        </p:nvSpPr>
        <p:spPr>
          <a:xfrm>
            <a:off x="10107084" y="3924556"/>
            <a:ext cx="161396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900" i="1">
                <a:solidFill>
                  <a:srgbClr val="E76D09"/>
                </a:solidFill>
                <a:latin typeface="Tahoma"/>
                <a:ea typeface="Tahoma"/>
                <a:cs typeface="Tahoma"/>
              </a:rPr>
              <a:t>Weather Stories</a:t>
            </a:r>
            <a:r>
              <a:rPr lang="en-US" sz="900">
                <a:solidFill>
                  <a:srgbClr val="17202A"/>
                </a:solidFill>
                <a:latin typeface="Tahoma"/>
                <a:ea typeface="Tahoma"/>
                <a:cs typeface="Tahoma"/>
              </a:rPr>
              <a:t>- Discover interesting weather facts, records and trends.</a:t>
            </a:r>
            <a:endParaRPr lang="en-US" sz="900">
              <a:latin typeface="Tahoma"/>
              <a:ea typeface="Tahoma"/>
              <a:cs typeface="Tahoma"/>
            </a:endParaRPr>
          </a:p>
          <a:p>
            <a:pPr algn="l"/>
            <a:endParaRPr lang="en-US" sz="9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770CE4D-742E-EC44-35A5-9B218E83344C}"/>
              </a:ext>
            </a:extLst>
          </p:cNvPr>
          <p:cNvSpPr txBox="1"/>
          <p:nvPr/>
        </p:nvSpPr>
        <p:spPr>
          <a:xfrm>
            <a:off x="10045685" y="2978987"/>
            <a:ext cx="1792734" cy="9387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900" b="1" i="1">
                <a:solidFill>
                  <a:srgbClr val="D9752B"/>
                </a:solidFill>
                <a:latin typeface="Trebuchet MS"/>
              </a:rPr>
              <a:t>W</a:t>
            </a:r>
            <a:r>
              <a:rPr lang="en-US" sz="900" b="1" i="1">
                <a:solidFill>
                  <a:srgbClr val="E76D09"/>
                </a:solidFill>
                <a:latin typeface="Trebuchet MS"/>
              </a:rPr>
              <a:t>ea</a:t>
            </a:r>
            <a:r>
              <a:rPr lang="en-US" sz="900" b="1" i="1">
                <a:solidFill>
                  <a:srgbClr val="D9752B"/>
                </a:solidFill>
                <a:latin typeface="Trebuchet MS"/>
              </a:rPr>
              <a:t>ther  Around  India</a:t>
            </a:r>
            <a:r>
              <a:rPr lang="en-US" sz="900">
                <a:solidFill>
                  <a:srgbClr val="17202A"/>
                </a:solidFill>
                <a:latin typeface="Tahoma"/>
                <a:ea typeface="Tahoma"/>
                <a:cs typeface="Tahoma"/>
              </a:rPr>
              <a:t>-Realtime  weather  updates  </a:t>
            </a:r>
            <a:endParaRPr lang="en-US" sz="900">
              <a:solidFill>
                <a:srgbClr val="000000"/>
              </a:solidFill>
              <a:latin typeface="Tahoma"/>
              <a:ea typeface="Tahoma"/>
              <a:cs typeface="Tahoma"/>
            </a:endParaRPr>
          </a:p>
          <a:p>
            <a:pPr algn="l"/>
            <a:r>
              <a:rPr lang="en-US" sz="900">
                <a:solidFill>
                  <a:srgbClr val="17202A"/>
                </a:solidFill>
                <a:latin typeface="Tahoma"/>
                <a:ea typeface="Tahoma"/>
                <a:cs typeface="Tahoma"/>
              </a:rPr>
              <a:t>nationwide through a map,  with temperature,</a:t>
            </a:r>
            <a:endParaRPr lang="en-US" sz="900">
              <a:solidFill>
                <a:srgbClr val="000000"/>
              </a:solidFill>
              <a:latin typeface="Tahoma"/>
              <a:ea typeface="Tahoma"/>
              <a:cs typeface="Tahoma"/>
            </a:endParaRPr>
          </a:p>
          <a:p>
            <a:pPr algn="l"/>
            <a:r>
              <a:rPr lang="en-US" sz="900">
                <a:solidFill>
                  <a:srgbClr val="17202A"/>
                </a:solidFill>
                <a:latin typeface="Tahoma"/>
                <a:ea typeface="Tahoma"/>
                <a:cs typeface="Tahoma"/>
              </a:rPr>
              <a:t>rainfall, conditions, and alerts.</a:t>
            </a:r>
            <a:endParaRPr lang="en-US" sz="900">
              <a:latin typeface="Tahoma"/>
              <a:ea typeface="Tahoma"/>
              <a:cs typeface="Tahoma"/>
            </a:endParaRPr>
          </a:p>
          <a:p>
            <a:pPr algn="l"/>
            <a:endParaRPr lang="en-US" sz="90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68E3D47-A2BC-F864-1278-CC7ECE91F134}"/>
              </a:ext>
            </a:extLst>
          </p:cNvPr>
          <p:cNvSpPr txBox="1"/>
          <p:nvPr/>
        </p:nvSpPr>
        <p:spPr>
          <a:xfrm>
            <a:off x="10078401" y="2653825"/>
            <a:ext cx="1523882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900" b="1">
                <a:solidFill>
                  <a:srgbClr val="0E364F"/>
                </a:solidFill>
                <a:latin typeface="Tahoma"/>
                <a:ea typeface="Tahoma"/>
                <a:cs typeface="Tahoma"/>
              </a:rPr>
              <a:t>Monitor what's happening nationwide</a:t>
            </a:r>
            <a:endParaRPr lang="en-US" sz="900">
              <a:latin typeface="Tahoma"/>
              <a:ea typeface="Tahoma"/>
              <a:cs typeface="Tahoma"/>
            </a:endParaRPr>
          </a:p>
          <a:p>
            <a:pPr algn="l"/>
            <a:endParaRPr lang="en-US" sz="80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AA6F151-92E0-AF79-A807-D3D49EB38858}"/>
              </a:ext>
            </a:extLst>
          </p:cNvPr>
          <p:cNvSpPr txBox="1"/>
          <p:nvPr/>
        </p:nvSpPr>
        <p:spPr>
          <a:xfrm>
            <a:off x="9960862" y="2199285"/>
            <a:ext cx="172229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900" b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NATIONWIDE WEATHER TRACKING</a:t>
            </a:r>
            <a:endParaRPr lang="en-US" sz="900">
              <a:solidFill>
                <a:schemeClr val="bg1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655FAE2-7719-881F-E905-2288EB0D2A10}"/>
              </a:ext>
            </a:extLst>
          </p:cNvPr>
          <p:cNvSpPr txBox="1"/>
          <p:nvPr/>
        </p:nvSpPr>
        <p:spPr>
          <a:xfrm>
            <a:off x="6271466" y="2968548"/>
            <a:ext cx="1488536" cy="9387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000" b="1" i="1">
                <a:solidFill>
                  <a:srgbClr val="D9752B"/>
                </a:solidFill>
                <a:latin typeface="Trebuchet MS"/>
                <a:ea typeface="Tahoma"/>
                <a:cs typeface="Tahoma"/>
              </a:rPr>
              <a:t>W</a:t>
            </a:r>
            <a:r>
              <a:rPr lang="en-US" sz="900" b="1" i="1">
                <a:solidFill>
                  <a:srgbClr val="D9752B"/>
                </a:solidFill>
                <a:latin typeface="Trebuchet MS"/>
                <a:ea typeface="Tahoma"/>
                <a:cs typeface="Tahoma"/>
              </a:rPr>
              <a:t>eather-</a:t>
            </a:r>
            <a:r>
              <a:rPr lang="en-US" sz="1000" b="1" i="1">
                <a:solidFill>
                  <a:srgbClr val="D9752B"/>
                </a:solidFill>
                <a:latin typeface="Trebuchet MS"/>
                <a:ea typeface="Tahoma"/>
                <a:cs typeface="Tahoma"/>
              </a:rPr>
              <a:t>Detective</a:t>
            </a:r>
            <a:r>
              <a:rPr lang="en-US" sz="1000">
                <a:solidFill>
                  <a:srgbClr val="17202A"/>
                </a:solidFill>
                <a:latin typeface="Tahoma"/>
                <a:ea typeface="Tahoma"/>
                <a:cs typeface="Tahoma"/>
              </a:rPr>
              <a:t>-</a:t>
            </a:r>
            <a:r>
              <a:rPr lang="en-US" sz="900">
                <a:solidFill>
                  <a:srgbClr val="17202A"/>
                </a:solidFill>
                <a:latin typeface="Tahoma"/>
                <a:ea typeface="Tahoma"/>
                <a:cs typeface="Tahoma"/>
              </a:rPr>
              <a:t>Explains why a weather event happens, its likely effects, and what action to take.</a:t>
            </a:r>
            <a:endParaRPr lang="en-US" sz="900">
              <a:latin typeface="Tahoma"/>
              <a:ea typeface="Tahoma"/>
              <a:cs typeface="Tahoma"/>
            </a:endParaRPr>
          </a:p>
          <a:p>
            <a:pPr algn="l"/>
            <a:endParaRPr lang="en-US" sz="900">
              <a:latin typeface="Tahoma"/>
              <a:ea typeface="Tahoma"/>
              <a:cs typeface="Tahoma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20D5A60-911B-F51A-65ED-3BC444A6E0DC}"/>
              </a:ext>
            </a:extLst>
          </p:cNvPr>
          <p:cNvSpPr txBox="1"/>
          <p:nvPr/>
        </p:nvSpPr>
        <p:spPr>
          <a:xfrm>
            <a:off x="4229502" y="1646675"/>
            <a:ext cx="729502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chemeClr val="tx2">
                    <a:lumMod val="76000"/>
                  </a:schemeClr>
                </a:solidFill>
                <a:latin typeface="Tahoma"/>
                <a:ea typeface="Tahoma"/>
                <a:cs typeface="Tahoma"/>
              </a:rPr>
              <a:t>WEATHERGPT – FEATURES AT A GLANCE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A2E063-4F48-29D0-5F00-0C95552F2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98FCA43-04FC-8A16-2B02-B4AC4043EC60}"/>
              </a:ext>
            </a:extLst>
          </p:cNvPr>
          <p:cNvSpPr txBox="1"/>
          <p:nvPr/>
        </p:nvSpPr>
        <p:spPr>
          <a:xfrm>
            <a:off x="3108960" y="25603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APPROACH</a:t>
            </a:r>
            <a:endParaRPr lang="en-US" sz="2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E65B817-5394-7634-92D8-8785E54E0682}"/>
              </a:ext>
            </a:extLst>
          </p:cNvPr>
          <p:cNvSpPr/>
          <p:nvPr/>
        </p:nvSpPr>
        <p:spPr>
          <a:xfrm>
            <a:off x="320040" y="292608"/>
            <a:ext cx="13716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7D02664-69B8-CA11-0BA0-F085DBB09EE7}"/>
              </a:ext>
            </a:extLst>
          </p:cNvPr>
          <p:cNvSpPr txBox="1"/>
          <p:nvPr/>
        </p:nvSpPr>
        <p:spPr>
          <a:xfrm>
            <a:off x="297628" y="285586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GRIFFINS</a:t>
            </a:r>
          </a:p>
        </p:txBody>
      </p:sp>
      <p:pic>
        <p:nvPicPr>
          <p:cNvPr id="78" name="object 3">
            <a:extLst>
              <a:ext uri="{FF2B5EF4-FFF2-40B4-BE49-F238E27FC236}">
                <a16:creationId xmlns:a16="http://schemas.microsoft.com/office/drawing/2014/main" id="{A41DA131-31DA-303C-52CC-26BDCB7B357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09643" y="18314"/>
            <a:ext cx="2197539" cy="1030171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045CEC03-C51C-E6A3-699B-BA8FF368AD9C}"/>
              </a:ext>
            </a:extLst>
          </p:cNvPr>
          <p:cNvSpPr/>
          <p:nvPr/>
        </p:nvSpPr>
        <p:spPr>
          <a:xfrm>
            <a:off x="137160" y="1014984"/>
            <a:ext cx="1874520" cy="3922776"/>
          </a:xfrm>
          <a:prstGeom prst="roundRect">
            <a:avLst>
              <a:gd name="adj" fmla="val 2927"/>
            </a:avLst>
          </a:prstGeom>
          <a:solidFill>
            <a:srgbClr val="E7F1FC"/>
          </a:solidFill>
          <a:ln w="9525">
            <a:solidFill>
              <a:srgbClr val="E7F1FC"/>
            </a:solidFill>
            <a:prstDash val="solid"/>
          </a:ln>
        </p:spPr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A4CD0719-E524-3B9B-30FB-CB735A697138}"/>
              </a:ext>
            </a:extLst>
          </p:cNvPr>
          <p:cNvSpPr txBox="1"/>
          <p:nvPr/>
        </p:nvSpPr>
        <p:spPr>
          <a:xfrm>
            <a:off x="228600" y="101498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Access</a:t>
            </a:r>
            <a:endParaRPr lang="en-US" sz="1100"/>
          </a:p>
        </p:txBody>
      </p:sp>
      <p:sp>
        <p:nvSpPr>
          <p:cNvPr id="79" name="Text 9">
            <a:extLst>
              <a:ext uri="{FF2B5EF4-FFF2-40B4-BE49-F238E27FC236}">
                <a16:creationId xmlns:a16="http://schemas.microsoft.com/office/drawing/2014/main" id="{ADA549A6-04BF-4AC8-3D45-11BD8523F553}"/>
              </a:ext>
            </a:extLst>
          </p:cNvPr>
          <p:cNvSpPr txBox="1"/>
          <p:nvPr/>
        </p:nvSpPr>
        <p:spPr>
          <a:xfrm>
            <a:off x="228600" y="125272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(Multi-Channel Input)</a:t>
            </a:r>
            <a:endParaRPr lang="en-US" sz="750"/>
          </a:p>
        </p:txBody>
      </p:sp>
      <p:sp>
        <p:nvSpPr>
          <p:cNvPr id="81" name="Shape 10">
            <a:extLst>
              <a:ext uri="{FF2B5EF4-FFF2-40B4-BE49-F238E27FC236}">
                <a16:creationId xmlns:a16="http://schemas.microsoft.com/office/drawing/2014/main" id="{1A5051B1-9483-625D-BE8C-01D0A79161E2}"/>
              </a:ext>
            </a:extLst>
          </p:cNvPr>
          <p:cNvSpPr/>
          <p:nvPr/>
        </p:nvSpPr>
        <p:spPr>
          <a:xfrm>
            <a:off x="246888" y="1540764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1B3A6B"/>
          </a:solidFill>
          <a:ln/>
        </p:spPr>
      </p:sp>
      <p:pic>
        <p:nvPicPr>
          <p:cNvPr id="83" name="Image 0" descr="/home/claude/ppt/icons/mobile.png">
            <a:extLst>
              <a:ext uri="{FF2B5EF4-FFF2-40B4-BE49-F238E27FC236}">
                <a16:creationId xmlns:a16="http://schemas.microsoft.com/office/drawing/2014/main" id="{C15408C4-D121-4D5C-7CE9-BCCD314155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168" y="1589044"/>
            <a:ext cx="122895" cy="122895"/>
          </a:xfrm>
          <a:prstGeom prst="rect">
            <a:avLst/>
          </a:prstGeom>
        </p:spPr>
      </p:pic>
      <p:sp>
        <p:nvSpPr>
          <p:cNvPr id="85" name="Text 11">
            <a:extLst>
              <a:ext uri="{FF2B5EF4-FFF2-40B4-BE49-F238E27FC236}">
                <a16:creationId xmlns:a16="http://schemas.microsoft.com/office/drawing/2014/main" id="{2980EEED-BD71-F717-0939-297865E49C82}"/>
              </a:ext>
            </a:extLst>
          </p:cNvPr>
          <p:cNvSpPr txBox="1"/>
          <p:nvPr/>
        </p:nvSpPr>
        <p:spPr>
          <a:xfrm>
            <a:off x="576072" y="1490472"/>
            <a:ext cx="1325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Web App</a:t>
            </a:r>
            <a:endParaRPr lang="en-US" sz="80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(Text / Voice)</a:t>
            </a:r>
            <a:endParaRPr lang="en-US" sz="800"/>
          </a:p>
        </p:txBody>
      </p:sp>
      <p:sp>
        <p:nvSpPr>
          <p:cNvPr id="87" name="Shape 12">
            <a:extLst>
              <a:ext uri="{FF2B5EF4-FFF2-40B4-BE49-F238E27FC236}">
                <a16:creationId xmlns:a16="http://schemas.microsoft.com/office/drawing/2014/main" id="{8C051873-FC1F-4CB0-D813-E23BC4D8A0F6}"/>
              </a:ext>
            </a:extLst>
          </p:cNvPr>
          <p:cNvSpPr/>
          <p:nvPr/>
        </p:nvSpPr>
        <p:spPr>
          <a:xfrm>
            <a:off x="246888" y="1897380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1B3A6B"/>
          </a:solidFill>
          <a:ln/>
        </p:spPr>
      </p:sp>
      <p:pic>
        <p:nvPicPr>
          <p:cNvPr id="89" name="Image 1" descr="/home/claude/ppt/icons/sms.png">
            <a:extLst>
              <a:ext uri="{FF2B5EF4-FFF2-40B4-BE49-F238E27FC236}">
                <a16:creationId xmlns:a16="http://schemas.microsoft.com/office/drawing/2014/main" id="{3A95DC99-4F7F-6560-0E53-A05EE7305D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168" y="1945660"/>
            <a:ext cx="122895" cy="122895"/>
          </a:xfrm>
          <a:prstGeom prst="rect">
            <a:avLst/>
          </a:prstGeom>
        </p:spPr>
      </p:pic>
      <p:sp>
        <p:nvSpPr>
          <p:cNvPr id="91" name="Text 13">
            <a:extLst>
              <a:ext uri="{FF2B5EF4-FFF2-40B4-BE49-F238E27FC236}">
                <a16:creationId xmlns:a16="http://schemas.microsoft.com/office/drawing/2014/main" id="{8FD5D244-EEAD-32D8-0276-D34064C4478A}"/>
              </a:ext>
            </a:extLst>
          </p:cNvPr>
          <p:cNvSpPr txBox="1"/>
          <p:nvPr/>
        </p:nvSpPr>
        <p:spPr>
          <a:xfrm>
            <a:off x="576072" y="1847088"/>
            <a:ext cx="1325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80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low network; send to our number</a:t>
            </a:r>
            <a:endParaRPr lang="en-US" sz="800"/>
          </a:p>
        </p:txBody>
      </p:sp>
      <p:sp>
        <p:nvSpPr>
          <p:cNvPr id="93" name="Shape 14">
            <a:extLst>
              <a:ext uri="{FF2B5EF4-FFF2-40B4-BE49-F238E27FC236}">
                <a16:creationId xmlns:a16="http://schemas.microsoft.com/office/drawing/2014/main" id="{723B971A-6A53-A424-995C-AD0060D8AC99}"/>
              </a:ext>
            </a:extLst>
          </p:cNvPr>
          <p:cNvSpPr/>
          <p:nvPr/>
        </p:nvSpPr>
        <p:spPr>
          <a:xfrm>
            <a:off x="246888" y="2253996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1B3A6B"/>
          </a:solidFill>
          <a:ln/>
        </p:spPr>
      </p:sp>
      <p:pic>
        <p:nvPicPr>
          <p:cNvPr id="95" name="Image 2" descr="/home/claude/ppt/icons/phone.png">
            <a:extLst>
              <a:ext uri="{FF2B5EF4-FFF2-40B4-BE49-F238E27FC236}">
                <a16:creationId xmlns:a16="http://schemas.microsoft.com/office/drawing/2014/main" id="{9E41A09F-23D2-07CD-7AC0-F689D3E17B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168" y="2302276"/>
            <a:ext cx="122895" cy="122895"/>
          </a:xfrm>
          <a:prstGeom prst="rect">
            <a:avLst/>
          </a:prstGeom>
        </p:spPr>
      </p:pic>
      <p:sp>
        <p:nvSpPr>
          <p:cNvPr id="97" name="Text 15">
            <a:extLst>
              <a:ext uri="{FF2B5EF4-FFF2-40B4-BE49-F238E27FC236}">
                <a16:creationId xmlns:a16="http://schemas.microsoft.com/office/drawing/2014/main" id="{2FA2A96A-FD25-DE71-3DD7-366C1A04E9B8}"/>
              </a:ext>
            </a:extLst>
          </p:cNvPr>
          <p:cNvSpPr txBox="1"/>
          <p:nvPr/>
        </p:nvSpPr>
        <p:spPr>
          <a:xfrm>
            <a:off x="576072" y="2203704"/>
            <a:ext cx="1325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Call (IVR)</a:t>
            </a:r>
            <a:endParaRPr lang="en-US" sz="80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voice response</a:t>
            </a:r>
            <a:endParaRPr lang="en-US" sz="800"/>
          </a:p>
        </p:txBody>
      </p:sp>
      <p:sp>
        <p:nvSpPr>
          <p:cNvPr id="99" name="Shape 16">
            <a:extLst>
              <a:ext uri="{FF2B5EF4-FFF2-40B4-BE49-F238E27FC236}">
                <a16:creationId xmlns:a16="http://schemas.microsoft.com/office/drawing/2014/main" id="{73CE791B-7FEA-A167-DE25-F73A80316723}"/>
              </a:ext>
            </a:extLst>
          </p:cNvPr>
          <p:cNvSpPr/>
          <p:nvPr/>
        </p:nvSpPr>
        <p:spPr>
          <a:xfrm>
            <a:off x="246888" y="2610612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1B3A6B"/>
          </a:solidFill>
          <a:ln/>
        </p:spPr>
      </p:sp>
      <p:pic>
        <p:nvPicPr>
          <p:cNvPr id="101" name="Image 3" descr="/home/claude/ppt/icons/location.png">
            <a:extLst>
              <a:ext uri="{FF2B5EF4-FFF2-40B4-BE49-F238E27FC236}">
                <a16:creationId xmlns:a16="http://schemas.microsoft.com/office/drawing/2014/main" id="{BCF306C4-C4D1-1142-930D-F2EEB1EEA2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168" y="2658892"/>
            <a:ext cx="122895" cy="122895"/>
          </a:xfrm>
          <a:prstGeom prst="rect">
            <a:avLst/>
          </a:prstGeom>
        </p:spPr>
      </p:pic>
      <p:sp>
        <p:nvSpPr>
          <p:cNvPr id="103" name="Text 17">
            <a:extLst>
              <a:ext uri="{FF2B5EF4-FFF2-40B4-BE49-F238E27FC236}">
                <a16:creationId xmlns:a16="http://schemas.microsoft.com/office/drawing/2014/main" id="{22EE2988-6513-36E3-3E7C-895DFD2E476D}"/>
              </a:ext>
            </a:extLst>
          </p:cNvPr>
          <p:cNvSpPr txBox="1"/>
          <p:nvPr/>
        </p:nvSpPr>
        <p:spPr>
          <a:xfrm>
            <a:off x="576072" y="2560320"/>
            <a:ext cx="1325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Input</a:t>
            </a:r>
            <a:endParaRPr lang="en-US" sz="80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/ Manual / PIN code</a:t>
            </a:r>
            <a:endParaRPr lang="en-US" sz="800"/>
          </a:p>
        </p:txBody>
      </p:sp>
      <p:sp>
        <p:nvSpPr>
          <p:cNvPr id="105" name="Shape 18">
            <a:extLst>
              <a:ext uri="{FF2B5EF4-FFF2-40B4-BE49-F238E27FC236}">
                <a16:creationId xmlns:a16="http://schemas.microsoft.com/office/drawing/2014/main" id="{E198B2D6-6763-AC47-103A-BF330617F158}"/>
              </a:ext>
            </a:extLst>
          </p:cNvPr>
          <p:cNvSpPr/>
          <p:nvPr/>
        </p:nvSpPr>
        <p:spPr>
          <a:xfrm>
            <a:off x="246888" y="2967228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1B3A6B"/>
          </a:solidFill>
          <a:ln/>
        </p:spPr>
      </p:sp>
      <p:pic>
        <p:nvPicPr>
          <p:cNvPr id="107" name="Image 4" descr="/home/claude/ppt/icons/users.png">
            <a:extLst>
              <a:ext uri="{FF2B5EF4-FFF2-40B4-BE49-F238E27FC236}">
                <a16:creationId xmlns:a16="http://schemas.microsoft.com/office/drawing/2014/main" id="{100A1668-8EBF-7A5A-C521-6FBAA1D867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168" y="3015508"/>
            <a:ext cx="122895" cy="122895"/>
          </a:xfrm>
          <a:prstGeom prst="rect">
            <a:avLst/>
          </a:prstGeom>
        </p:spPr>
      </p:pic>
      <p:sp>
        <p:nvSpPr>
          <p:cNvPr id="109" name="Text 19">
            <a:extLst>
              <a:ext uri="{FF2B5EF4-FFF2-40B4-BE49-F238E27FC236}">
                <a16:creationId xmlns:a16="http://schemas.microsoft.com/office/drawing/2014/main" id="{B43617B7-03B7-2098-D953-510A83E40168}"/>
              </a:ext>
            </a:extLst>
          </p:cNvPr>
          <p:cNvSpPr txBox="1"/>
          <p:nvPr/>
        </p:nvSpPr>
        <p:spPr>
          <a:xfrm>
            <a:off x="576072" y="2876296"/>
            <a:ext cx="1325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</a:t>
            </a:r>
            <a:endParaRPr lang="en-US" sz="80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/ Traveller / Student / Outdoor Worker / Disaster Manager / General</a:t>
            </a:r>
            <a:endParaRPr lang="en-US" sz="800"/>
          </a:p>
        </p:txBody>
      </p:sp>
      <p:sp>
        <p:nvSpPr>
          <p:cNvPr id="111" name="Shape 20">
            <a:extLst>
              <a:ext uri="{FF2B5EF4-FFF2-40B4-BE49-F238E27FC236}">
                <a16:creationId xmlns:a16="http://schemas.microsoft.com/office/drawing/2014/main" id="{45902F15-813E-80F8-1758-E15AF738585C}"/>
              </a:ext>
            </a:extLst>
          </p:cNvPr>
          <p:cNvSpPr/>
          <p:nvPr/>
        </p:nvSpPr>
        <p:spPr>
          <a:xfrm>
            <a:off x="228600" y="3383280"/>
            <a:ext cx="1691640" cy="1435608"/>
          </a:xfrm>
          <a:prstGeom prst="roundRect">
            <a:avLst>
              <a:gd name="adj" fmla="val 3822"/>
            </a:avLst>
          </a:prstGeom>
          <a:solidFill>
            <a:srgbClr val="FBE9EC"/>
          </a:solidFill>
          <a:ln w="9525">
            <a:solidFill>
              <a:srgbClr val="E7B6C0"/>
            </a:solidFill>
            <a:prstDash val="solid"/>
          </a:ln>
        </p:spPr>
      </p:sp>
      <p:sp>
        <p:nvSpPr>
          <p:cNvPr id="113" name="Text 21">
            <a:extLst>
              <a:ext uri="{FF2B5EF4-FFF2-40B4-BE49-F238E27FC236}">
                <a16:creationId xmlns:a16="http://schemas.microsoft.com/office/drawing/2014/main" id="{443EC8FA-062D-9CC7-BCC6-45D892A893BA}"/>
              </a:ext>
            </a:extLst>
          </p:cNvPr>
          <p:cNvSpPr txBox="1"/>
          <p:nvPr/>
        </p:nvSpPr>
        <p:spPr>
          <a:xfrm>
            <a:off x="320040" y="34472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A3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Queries</a:t>
            </a:r>
            <a:endParaRPr lang="en-US" sz="900"/>
          </a:p>
        </p:txBody>
      </p:sp>
      <p:sp>
        <p:nvSpPr>
          <p:cNvPr id="115" name="Text 22">
            <a:extLst>
              <a:ext uri="{FF2B5EF4-FFF2-40B4-BE49-F238E27FC236}">
                <a16:creationId xmlns:a16="http://schemas.microsoft.com/office/drawing/2014/main" id="{1FC068A7-9968-42FA-AC58-1847DFCA6CF8}"/>
              </a:ext>
            </a:extLst>
          </p:cNvPr>
          <p:cNvSpPr txBox="1"/>
          <p:nvPr/>
        </p:nvSpPr>
        <p:spPr>
          <a:xfrm>
            <a:off x="320040" y="365760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700" i="1">
                <a:solidFill>
                  <a:srgbClr val="6B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"Naalaiku Madurai la mazhai varuma?"</a:t>
            </a:r>
            <a:endParaRPr lang="en-US" sz="700"/>
          </a:p>
          <a:p>
            <a:pPr marL="0" indent="0">
              <a:lnSpc>
                <a:spcPct val="125000"/>
              </a:lnSpc>
              <a:buNone/>
            </a:pPr>
            <a:r>
              <a:rPr lang="en-US" sz="700" i="1">
                <a:solidFill>
                  <a:srgbClr val="6B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I go by bike?"</a:t>
            </a:r>
            <a:endParaRPr lang="en-US" sz="700"/>
          </a:p>
          <a:p>
            <a:pPr marL="0" indent="0">
              <a:lnSpc>
                <a:spcPct val="125000"/>
              </a:lnSpc>
              <a:buNone/>
            </a:pPr>
            <a:r>
              <a:rPr lang="en-US" sz="700" i="1">
                <a:solidFill>
                  <a:srgbClr val="6B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"Should I irrigate my field tomorrow?"</a:t>
            </a:r>
            <a:endParaRPr lang="en-US" sz="700"/>
          </a:p>
          <a:p>
            <a:pPr marL="0" indent="0">
              <a:lnSpc>
                <a:spcPct val="125000"/>
              </a:lnSpc>
              <a:buNone/>
            </a:pPr>
            <a:r>
              <a:rPr lang="en-US" sz="700" i="1">
                <a:solidFill>
                  <a:srgbClr val="6B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it safe to travel to Chennai?"</a:t>
            </a:r>
            <a:endParaRPr lang="en-US" sz="700"/>
          </a:p>
        </p:txBody>
      </p:sp>
      <p:sp>
        <p:nvSpPr>
          <p:cNvPr id="117" name="Shape 23">
            <a:extLst>
              <a:ext uri="{FF2B5EF4-FFF2-40B4-BE49-F238E27FC236}">
                <a16:creationId xmlns:a16="http://schemas.microsoft.com/office/drawing/2014/main" id="{11CC7C5C-76E6-7A22-02B0-BE65D474C9BF}"/>
              </a:ext>
            </a:extLst>
          </p:cNvPr>
          <p:cNvSpPr/>
          <p:nvPr/>
        </p:nvSpPr>
        <p:spPr>
          <a:xfrm>
            <a:off x="2084832" y="1014982"/>
            <a:ext cx="2112264" cy="3922777"/>
          </a:xfrm>
          <a:prstGeom prst="roundRect">
            <a:avLst>
              <a:gd name="adj" fmla="val 2597"/>
            </a:avLst>
          </a:prstGeom>
          <a:solidFill>
            <a:srgbClr val="FDEFDD"/>
          </a:solidFill>
          <a:ln w="9525">
            <a:solidFill>
              <a:srgbClr val="FDEFDD"/>
            </a:solidFill>
            <a:prstDash val="solid"/>
          </a:ln>
        </p:spPr>
      </p:sp>
      <p:sp>
        <p:nvSpPr>
          <p:cNvPr id="119" name="Text 24">
            <a:extLst>
              <a:ext uri="{FF2B5EF4-FFF2-40B4-BE49-F238E27FC236}">
                <a16:creationId xmlns:a16="http://schemas.microsoft.com/office/drawing/2014/main" id="{758E3CAE-460B-9AA2-BA72-CDF90764F6F9}"/>
              </a:ext>
            </a:extLst>
          </p:cNvPr>
          <p:cNvSpPr txBox="1"/>
          <p:nvPr/>
        </p:nvSpPr>
        <p:spPr>
          <a:xfrm>
            <a:off x="2176272" y="1014984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B4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Network-Aware Gateway</a:t>
            </a:r>
            <a:endParaRPr lang="en-US" sz="1100"/>
          </a:p>
        </p:txBody>
      </p:sp>
      <p:sp>
        <p:nvSpPr>
          <p:cNvPr id="121" name="Text 25">
            <a:extLst>
              <a:ext uri="{FF2B5EF4-FFF2-40B4-BE49-F238E27FC236}">
                <a16:creationId xmlns:a16="http://schemas.microsoft.com/office/drawing/2014/main" id="{0C0A08ED-8D14-DD78-790A-3B34793584B2}"/>
              </a:ext>
            </a:extLst>
          </p:cNvPr>
          <p:cNvSpPr txBox="1"/>
          <p:nvPr/>
        </p:nvSpPr>
        <p:spPr>
          <a:xfrm>
            <a:off x="2176272" y="1252728"/>
            <a:ext cx="1929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(Adaptive to Connectivity)</a:t>
            </a:r>
            <a:endParaRPr lang="en-US" sz="750"/>
          </a:p>
        </p:txBody>
      </p:sp>
      <p:sp>
        <p:nvSpPr>
          <p:cNvPr id="123" name="Shape 26">
            <a:extLst>
              <a:ext uri="{FF2B5EF4-FFF2-40B4-BE49-F238E27FC236}">
                <a16:creationId xmlns:a16="http://schemas.microsoft.com/office/drawing/2014/main" id="{3D967DE5-FBC5-23D6-888C-59389E3AC8CC}"/>
              </a:ext>
            </a:extLst>
          </p:cNvPr>
          <p:cNvSpPr/>
          <p:nvPr/>
        </p:nvSpPr>
        <p:spPr>
          <a:xfrm>
            <a:off x="2587752" y="1508760"/>
            <a:ext cx="1097280" cy="77724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B45A12"/>
            </a:solidFill>
            <a:prstDash val="solid"/>
          </a:ln>
        </p:spPr>
      </p:sp>
      <p:sp>
        <p:nvSpPr>
          <p:cNvPr id="125" name="Text 27">
            <a:extLst>
              <a:ext uri="{FF2B5EF4-FFF2-40B4-BE49-F238E27FC236}">
                <a16:creationId xmlns:a16="http://schemas.microsoft.com/office/drawing/2014/main" id="{A7BE032D-F44A-ED3C-D475-6B677F3C5D19}"/>
              </a:ext>
            </a:extLst>
          </p:cNvPr>
          <p:cNvSpPr txBox="1"/>
          <p:nvPr/>
        </p:nvSpPr>
        <p:spPr>
          <a:xfrm>
            <a:off x="2587752" y="15087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Is Internet</a:t>
            </a:r>
            <a:endParaRPr lang="en-US" sz="90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900" b="1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Available?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129" name="Text 29">
            <a:extLst>
              <a:ext uri="{FF2B5EF4-FFF2-40B4-BE49-F238E27FC236}">
                <a16:creationId xmlns:a16="http://schemas.microsoft.com/office/drawing/2014/main" id="{579180F2-AB70-41C1-E705-7B5D30F1926D}"/>
              </a:ext>
            </a:extLst>
          </p:cNvPr>
          <p:cNvSpPr txBox="1"/>
          <p:nvPr/>
        </p:nvSpPr>
        <p:spPr>
          <a:xfrm>
            <a:off x="2404872" y="23134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E8483C"/>
                </a:solidFill>
                <a:latin typeface="Calibri"/>
                <a:ea typeface="Calibri"/>
                <a:cs typeface="Calibri"/>
              </a:rPr>
              <a:t>No / Low </a:t>
            </a:r>
            <a:r>
              <a:rPr lang="en-US" sz="800" b="1">
                <a:solidFill>
                  <a:srgbClr val="E8483C"/>
                </a:solidFill>
                <a:latin typeface="Calibri"/>
                <a:ea typeface="Calibri"/>
                <a:cs typeface="Calibri"/>
              </a:rPr>
              <a:t>Network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131" name="Shape 30">
            <a:extLst>
              <a:ext uri="{FF2B5EF4-FFF2-40B4-BE49-F238E27FC236}">
                <a16:creationId xmlns:a16="http://schemas.microsoft.com/office/drawing/2014/main" id="{6ECA5FC0-0E8A-032C-5BB3-5CE174AD5AD0}"/>
              </a:ext>
            </a:extLst>
          </p:cNvPr>
          <p:cNvSpPr/>
          <p:nvPr/>
        </p:nvSpPr>
        <p:spPr>
          <a:xfrm>
            <a:off x="2176272" y="2560320"/>
            <a:ext cx="1929384" cy="2258568"/>
          </a:xfrm>
          <a:prstGeom prst="roundRect">
            <a:avLst>
              <a:gd name="adj" fmla="val 2844"/>
            </a:avLst>
          </a:prstGeom>
          <a:solidFill>
            <a:srgbClr val="FFFFFF"/>
          </a:solidFill>
          <a:ln w="12700">
            <a:solidFill>
              <a:srgbClr val="F4802A"/>
            </a:solidFill>
            <a:prstDash val="solid"/>
          </a:ln>
        </p:spPr>
      </p:sp>
      <p:sp>
        <p:nvSpPr>
          <p:cNvPr id="133" name="Text 31">
            <a:extLst>
              <a:ext uri="{FF2B5EF4-FFF2-40B4-BE49-F238E27FC236}">
                <a16:creationId xmlns:a16="http://schemas.microsoft.com/office/drawing/2014/main" id="{94BF4884-D844-A6BE-DB29-9A38A214EE28}"/>
              </a:ext>
            </a:extLst>
          </p:cNvPr>
          <p:cNvSpPr txBox="1"/>
          <p:nvPr/>
        </p:nvSpPr>
        <p:spPr>
          <a:xfrm>
            <a:off x="2267712" y="262432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B45A12"/>
                </a:solidFill>
                <a:latin typeface="Calibri"/>
                <a:ea typeface="Calibri"/>
                <a:cs typeface="Calibri"/>
              </a:rPr>
              <a:t>SMS / Voice Fallback Workflow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135" name="Shape 32">
            <a:extLst>
              <a:ext uri="{FF2B5EF4-FFF2-40B4-BE49-F238E27FC236}">
                <a16:creationId xmlns:a16="http://schemas.microsoft.com/office/drawing/2014/main" id="{C30D184C-C3BD-06FC-FD4B-96A10D411ED5}"/>
              </a:ext>
            </a:extLst>
          </p:cNvPr>
          <p:cNvSpPr/>
          <p:nvPr/>
        </p:nvSpPr>
        <p:spPr>
          <a:xfrm>
            <a:off x="2267712" y="2962656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B45A12"/>
          </a:solidFill>
          <a:ln/>
        </p:spPr>
      </p:sp>
      <p:pic>
        <p:nvPicPr>
          <p:cNvPr id="137" name="Image 5" descr="/home/claude/ppt/icons/sms.png">
            <a:extLst>
              <a:ext uri="{FF2B5EF4-FFF2-40B4-BE49-F238E27FC236}">
                <a16:creationId xmlns:a16="http://schemas.microsoft.com/office/drawing/2014/main" id="{143C8542-9439-29F2-E679-5C29853658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5992" y="3010936"/>
            <a:ext cx="122895" cy="122895"/>
          </a:xfrm>
          <a:prstGeom prst="rect">
            <a:avLst/>
          </a:prstGeom>
        </p:spPr>
      </p:pic>
      <p:sp>
        <p:nvSpPr>
          <p:cNvPr id="139" name="Text 33">
            <a:extLst>
              <a:ext uri="{FF2B5EF4-FFF2-40B4-BE49-F238E27FC236}">
                <a16:creationId xmlns:a16="http://schemas.microsoft.com/office/drawing/2014/main" id="{117B0A72-CFC6-0621-84A7-4873315F8FFD}"/>
              </a:ext>
            </a:extLst>
          </p:cNvPr>
          <p:cNvSpPr txBox="1"/>
          <p:nvPr/>
        </p:nvSpPr>
        <p:spPr>
          <a:xfrm>
            <a:off x="2596896" y="286207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</a:pPr>
            <a:r>
              <a:rPr lang="en-US" sz="900" b="1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1. User sends SMS</a:t>
            </a:r>
            <a:endParaRPr lang="en-US" sz="900">
              <a:latin typeface="Calibri"/>
              <a:ea typeface="Calibri"/>
              <a:cs typeface="Calibri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to our short code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141" name="Shape 34">
            <a:extLst>
              <a:ext uri="{FF2B5EF4-FFF2-40B4-BE49-F238E27FC236}">
                <a16:creationId xmlns:a16="http://schemas.microsoft.com/office/drawing/2014/main" id="{1FA2F969-586E-DDE2-95E2-418DF658B749}"/>
              </a:ext>
            </a:extLst>
          </p:cNvPr>
          <p:cNvSpPr/>
          <p:nvPr/>
        </p:nvSpPr>
        <p:spPr>
          <a:xfrm>
            <a:off x="2267712" y="3419856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B45A12"/>
          </a:solidFill>
          <a:ln/>
        </p:spPr>
      </p:sp>
      <p:pic>
        <p:nvPicPr>
          <p:cNvPr id="143" name="Image 6" descr="/home/claude/ppt/icons/exchange.png">
            <a:extLst>
              <a:ext uri="{FF2B5EF4-FFF2-40B4-BE49-F238E27FC236}">
                <a16:creationId xmlns:a16="http://schemas.microsoft.com/office/drawing/2014/main" id="{8C2A0AC6-2940-59CC-23CC-857B2F2EE1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15992" y="3468136"/>
            <a:ext cx="122895" cy="122895"/>
          </a:xfrm>
          <a:prstGeom prst="rect">
            <a:avLst/>
          </a:prstGeom>
        </p:spPr>
      </p:pic>
      <p:sp>
        <p:nvSpPr>
          <p:cNvPr id="145" name="Text 35">
            <a:extLst>
              <a:ext uri="{FF2B5EF4-FFF2-40B4-BE49-F238E27FC236}">
                <a16:creationId xmlns:a16="http://schemas.microsoft.com/office/drawing/2014/main" id="{A56EC9F8-DBC0-AE96-FD8A-4F047D615C9E}"/>
              </a:ext>
            </a:extLst>
          </p:cNvPr>
          <p:cNvSpPr txBox="1"/>
          <p:nvPr/>
        </p:nvSpPr>
        <p:spPr>
          <a:xfrm>
            <a:off x="2596896" y="331927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b="1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2. SMS Gateway</a:t>
            </a:r>
            <a:endParaRPr lang="en-US" sz="900">
              <a:latin typeface="Calibri"/>
              <a:ea typeface="Calibri"/>
              <a:cs typeface="Calibri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(Provider API) converts SMS ⇌ HTTP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147" name="Shape 36">
            <a:extLst>
              <a:ext uri="{FF2B5EF4-FFF2-40B4-BE49-F238E27FC236}">
                <a16:creationId xmlns:a16="http://schemas.microsoft.com/office/drawing/2014/main" id="{EE060E52-AE63-C4C3-7F0D-F77A36FCE63E}"/>
              </a:ext>
            </a:extLst>
          </p:cNvPr>
          <p:cNvSpPr/>
          <p:nvPr/>
        </p:nvSpPr>
        <p:spPr>
          <a:xfrm>
            <a:off x="2267712" y="3877056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B45A12"/>
          </a:solidFill>
          <a:ln/>
        </p:spPr>
      </p:sp>
      <p:pic>
        <p:nvPicPr>
          <p:cNvPr id="149" name="Image 7" descr="/home/claude/ppt/icons/cog.png">
            <a:extLst>
              <a:ext uri="{FF2B5EF4-FFF2-40B4-BE49-F238E27FC236}">
                <a16:creationId xmlns:a16="http://schemas.microsoft.com/office/drawing/2014/main" id="{931679A7-F1B5-FB44-3175-E47F31786E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15992" y="3925336"/>
            <a:ext cx="122895" cy="122895"/>
          </a:xfrm>
          <a:prstGeom prst="rect">
            <a:avLst/>
          </a:prstGeom>
        </p:spPr>
      </p:pic>
      <p:sp>
        <p:nvSpPr>
          <p:cNvPr id="151" name="Text 37">
            <a:extLst>
              <a:ext uri="{FF2B5EF4-FFF2-40B4-BE49-F238E27FC236}">
                <a16:creationId xmlns:a16="http://schemas.microsoft.com/office/drawing/2014/main" id="{51F45914-23C5-61AB-6123-7DAC58BEAFB0}"/>
              </a:ext>
            </a:extLst>
          </p:cNvPr>
          <p:cNvSpPr txBox="1"/>
          <p:nvPr/>
        </p:nvSpPr>
        <p:spPr>
          <a:xfrm>
            <a:off x="2596896" y="377647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Convert to structured request</a:t>
            </a:r>
            <a:endParaRPr lang="en-US" sz="90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(intent, location, text, etc.)</a:t>
            </a:r>
            <a:endParaRPr lang="en-US" sz="900"/>
          </a:p>
        </p:txBody>
      </p:sp>
      <p:sp>
        <p:nvSpPr>
          <p:cNvPr id="153" name="Shape 38">
            <a:extLst>
              <a:ext uri="{FF2B5EF4-FFF2-40B4-BE49-F238E27FC236}">
                <a16:creationId xmlns:a16="http://schemas.microsoft.com/office/drawing/2014/main" id="{F2973AC6-EDAE-23CE-7BA1-9E929BDA5640}"/>
              </a:ext>
            </a:extLst>
          </p:cNvPr>
          <p:cNvSpPr/>
          <p:nvPr/>
        </p:nvSpPr>
        <p:spPr>
          <a:xfrm>
            <a:off x="2267712" y="4334256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B45A12"/>
          </a:solidFill>
          <a:ln/>
        </p:spPr>
      </p:sp>
      <p:pic>
        <p:nvPicPr>
          <p:cNvPr id="155" name="Image 8" descr="/home/claude/ppt/icons/reply.png">
            <a:extLst>
              <a:ext uri="{FF2B5EF4-FFF2-40B4-BE49-F238E27FC236}">
                <a16:creationId xmlns:a16="http://schemas.microsoft.com/office/drawing/2014/main" id="{B9A73438-730F-3F72-B308-8AFFC74976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15992" y="4382536"/>
            <a:ext cx="122895" cy="122895"/>
          </a:xfrm>
          <a:prstGeom prst="rect">
            <a:avLst/>
          </a:prstGeom>
        </p:spPr>
      </p:pic>
      <p:sp>
        <p:nvSpPr>
          <p:cNvPr id="157" name="Text 39">
            <a:extLst>
              <a:ext uri="{FF2B5EF4-FFF2-40B4-BE49-F238E27FC236}">
                <a16:creationId xmlns:a16="http://schemas.microsoft.com/office/drawing/2014/main" id="{0B7E3D28-BD84-2988-B92B-47B4129D83C3}"/>
              </a:ext>
            </a:extLst>
          </p:cNvPr>
          <p:cNvSpPr txBox="1"/>
          <p:nvPr/>
        </p:nvSpPr>
        <p:spPr>
          <a:xfrm>
            <a:off x="2596896" y="423367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Send response back</a:t>
            </a:r>
            <a:endParaRPr lang="en-US" sz="90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SMS (Text) or Voice Call (TTS / IVR)</a:t>
            </a:r>
            <a:endParaRPr lang="en-US" sz="900"/>
          </a:p>
        </p:txBody>
      </p:sp>
      <p:sp>
        <p:nvSpPr>
          <p:cNvPr id="159" name="Shape 40">
            <a:extLst>
              <a:ext uri="{FF2B5EF4-FFF2-40B4-BE49-F238E27FC236}">
                <a16:creationId xmlns:a16="http://schemas.microsoft.com/office/drawing/2014/main" id="{DF5F3B17-4C7B-CCAA-C1E8-6A7A5460591F}"/>
              </a:ext>
            </a:extLst>
          </p:cNvPr>
          <p:cNvSpPr/>
          <p:nvPr/>
        </p:nvSpPr>
        <p:spPr>
          <a:xfrm>
            <a:off x="4270248" y="960120"/>
            <a:ext cx="5779008" cy="3977640"/>
          </a:xfrm>
          <a:prstGeom prst="roundRect">
            <a:avLst>
              <a:gd name="adj" fmla="val 1379"/>
            </a:avLst>
          </a:prstGeom>
          <a:solidFill>
            <a:srgbClr val="F7F9FC"/>
          </a:solidFill>
          <a:ln w="9525">
            <a:solidFill>
              <a:srgbClr val="F7F9FC"/>
            </a:solidFill>
            <a:prstDash val="solid"/>
          </a:ln>
        </p:spPr>
      </p:sp>
      <p:sp>
        <p:nvSpPr>
          <p:cNvPr id="161" name="Text 41">
            <a:extLst>
              <a:ext uri="{FF2B5EF4-FFF2-40B4-BE49-F238E27FC236}">
                <a16:creationId xmlns:a16="http://schemas.microsoft.com/office/drawing/2014/main" id="{EC84094E-4C35-4B18-6489-CDCBF5AD2A43}"/>
              </a:ext>
            </a:extLst>
          </p:cNvPr>
          <p:cNvSpPr txBox="1"/>
          <p:nvPr/>
        </p:nvSpPr>
        <p:spPr>
          <a:xfrm>
            <a:off x="4379976" y="1014984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Core Processing Pipeline (Backend)</a:t>
            </a:r>
            <a:endParaRPr lang="en-US" sz="750"/>
          </a:p>
        </p:txBody>
      </p:sp>
      <p:sp>
        <p:nvSpPr>
          <p:cNvPr id="163" name="Shape 42">
            <a:extLst>
              <a:ext uri="{FF2B5EF4-FFF2-40B4-BE49-F238E27FC236}">
                <a16:creationId xmlns:a16="http://schemas.microsoft.com/office/drawing/2014/main" id="{54B73FEC-0B3D-985C-8784-05F369ADA6A6}"/>
              </a:ext>
            </a:extLst>
          </p:cNvPr>
          <p:cNvSpPr/>
          <p:nvPr/>
        </p:nvSpPr>
        <p:spPr>
          <a:xfrm>
            <a:off x="4379976" y="1252728"/>
            <a:ext cx="5559552" cy="310896"/>
          </a:xfrm>
          <a:prstGeom prst="roundRect">
            <a:avLst>
              <a:gd name="adj" fmla="val 17647"/>
            </a:avLst>
          </a:prstGeom>
          <a:solidFill>
            <a:srgbClr val="F1EBFB"/>
          </a:solidFill>
          <a:ln w="9525">
            <a:solidFill>
              <a:srgbClr val="CBB8EC"/>
            </a:solidFill>
            <a:prstDash val="solid"/>
          </a:ln>
        </p:spPr>
      </p:sp>
      <p:sp>
        <p:nvSpPr>
          <p:cNvPr id="165" name="Text 43">
            <a:extLst>
              <a:ext uri="{FF2B5EF4-FFF2-40B4-BE49-F238E27FC236}">
                <a16:creationId xmlns:a16="http://schemas.microsoft.com/office/drawing/2014/main" id="{9982B1DB-690F-9382-23BE-6488AF1E1A40}"/>
              </a:ext>
            </a:extLst>
          </p:cNvPr>
          <p:cNvSpPr txBox="1"/>
          <p:nvPr/>
        </p:nvSpPr>
        <p:spPr>
          <a:xfrm>
            <a:off x="4453128" y="1252728"/>
            <a:ext cx="5413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5B3E9E"/>
                </a:solidFill>
                <a:latin typeface="Calibri"/>
                <a:ea typeface="Calibri"/>
                <a:cs typeface="Calibri"/>
              </a:rPr>
              <a:t>Conversation Memory &amp; Context Manager  —  Maintains user context, location, history, preferences, follow-ups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167" name="Shape 44">
            <a:extLst>
              <a:ext uri="{FF2B5EF4-FFF2-40B4-BE49-F238E27FC236}">
                <a16:creationId xmlns:a16="http://schemas.microsoft.com/office/drawing/2014/main" id="{5EDA0DDC-9147-04F4-DBDB-B4CB255782E7}"/>
              </a:ext>
            </a:extLst>
          </p:cNvPr>
          <p:cNvSpPr/>
          <p:nvPr/>
        </p:nvSpPr>
        <p:spPr>
          <a:xfrm>
            <a:off x="4379976" y="1636776"/>
            <a:ext cx="880872" cy="1783080"/>
          </a:xfrm>
          <a:prstGeom prst="roundRect">
            <a:avLst>
              <a:gd name="adj" fmla="val 6228"/>
            </a:avLst>
          </a:prstGeom>
          <a:solidFill>
            <a:srgbClr val="E7F1FC"/>
          </a:solidFill>
          <a:ln w="9525">
            <a:solidFill>
              <a:srgbClr val="E7F1FC"/>
            </a:solidFill>
            <a:prstDash val="solid"/>
          </a:ln>
        </p:spPr>
      </p:sp>
      <p:sp>
        <p:nvSpPr>
          <p:cNvPr id="169" name="Shape 45">
            <a:extLst>
              <a:ext uri="{FF2B5EF4-FFF2-40B4-BE49-F238E27FC236}">
                <a16:creationId xmlns:a16="http://schemas.microsoft.com/office/drawing/2014/main" id="{11AD532F-16F4-2F5F-2A5C-04F7EB8E7B6C}"/>
              </a:ext>
            </a:extLst>
          </p:cNvPr>
          <p:cNvSpPr/>
          <p:nvPr/>
        </p:nvSpPr>
        <p:spPr>
          <a:xfrm>
            <a:off x="4425696" y="1682496"/>
            <a:ext cx="201168" cy="201168"/>
          </a:xfrm>
          <a:prstGeom prst="roundRect">
            <a:avLst>
              <a:gd name="adj" fmla="val 22000"/>
            </a:avLst>
          </a:prstGeom>
          <a:solidFill>
            <a:srgbClr val="1B3A6B"/>
          </a:solidFill>
          <a:ln/>
        </p:spPr>
      </p:sp>
      <p:pic>
        <p:nvPicPr>
          <p:cNvPr id="171" name="Image 9" descr="/home/claude/ppt/icons/brain.png">
            <a:extLst>
              <a:ext uri="{FF2B5EF4-FFF2-40B4-BE49-F238E27FC236}">
                <a16:creationId xmlns:a16="http://schemas.microsoft.com/office/drawing/2014/main" id="{9730C537-A062-87F7-B49D-82F7A4C870D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69953" y="1726753"/>
            <a:ext cx="112654" cy="112654"/>
          </a:xfrm>
          <a:prstGeom prst="rect">
            <a:avLst/>
          </a:prstGeom>
        </p:spPr>
      </p:pic>
      <p:sp>
        <p:nvSpPr>
          <p:cNvPr id="173" name="Text 46">
            <a:extLst>
              <a:ext uri="{FF2B5EF4-FFF2-40B4-BE49-F238E27FC236}">
                <a16:creationId xmlns:a16="http://schemas.microsoft.com/office/drawing/2014/main" id="{88981943-9F57-B32E-88CE-57DCFF3A0859}"/>
              </a:ext>
            </a:extLst>
          </p:cNvPr>
          <p:cNvSpPr txBox="1"/>
          <p:nvPr/>
        </p:nvSpPr>
        <p:spPr>
          <a:xfrm>
            <a:off x="4631944" y="1655064"/>
            <a:ext cx="623824" cy="373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LLM Layer 1</a:t>
            </a:r>
            <a:endParaRPr lang="en-US" sz="700"/>
          </a:p>
          <a:p>
            <a:pPr marL="0" indent="0">
              <a:buNone/>
            </a:pPr>
            <a:r>
              <a:rPr lang="en-US" sz="7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(Query Understanding)</a:t>
            </a:r>
            <a:endParaRPr lang="en-US" sz="700"/>
          </a:p>
        </p:txBody>
      </p:sp>
      <p:sp>
        <p:nvSpPr>
          <p:cNvPr id="175" name="Text 47">
            <a:extLst>
              <a:ext uri="{FF2B5EF4-FFF2-40B4-BE49-F238E27FC236}">
                <a16:creationId xmlns:a16="http://schemas.microsoft.com/office/drawing/2014/main" id="{725B6643-1BF6-F7ED-38AA-18ADCD3FC36E}"/>
              </a:ext>
            </a:extLst>
          </p:cNvPr>
          <p:cNvSpPr txBox="1"/>
          <p:nvPr/>
        </p:nvSpPr>
        <p:spPr>
          <a:xfrm>
            <a:off x="4466336" y="2026920"/>
            <a:ext cx="789432" cy="1325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650" b="1" dirty="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Language detection</a:t>
            </a:r>
            <a:endParaRPr lang="en-US" sz="650" b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650" b="1" dirty="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Translate to English</a:t>
            </a:r>
            <a:endParaRPr lang="en-US" sz="650" b="1">
              <a:latin typeface="Calibri"/>
              <a:ea typeface="Calibri"/>
              <a:cs typeface="Calibri"/>
            </a:endParaRPr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650" b="1" dirty="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Intent extraction</a:t>
            </a:r>
            <a:endParaRPr lang="en-US" sz="650" b="1">
              <a:latin typeface="Calibri"/>
              <a:ea typeface="Calibri"/>
              <a:cs typeface="Calibri"/>
            </a:endParaRPr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650" b="1" dirty="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Extract location, time, parameters</a:t>
            </a:r>
            <a:endParaRPr lang="en-US" sz="650" b="1">
              <a:latin typeface="Calibri"/>
              <a:ea typeface="Calibri"/>
              <a:cs typeface="Calibri"/>
            </a:endParaRPr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650" b="1" dirty="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Identify user profile (if available)</a:t>
            </a:r>
            <a:endParaRPr lang="en-US" sz="650" b="1">
              <a:latin typeface="Calibri"/>
              <a:ea typeface="Calibri"/>
              <a:cs typeface="Calibri"/>
            </a:endParaRPr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650" b="1" dirty="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Generate structured </a:t>
            </a:r>
            <a:r>
              <a:rPr lang="en-US" sz="650" b="1" dirty="0" err="1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json</a:t>
            </a:r>
            <a:r>
              <a:rPr lang="en-US" sz="650" b="1" dirty="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 query</a:t>
            </a:r>
            <a:endParaRPr lang="en-US" sz="650" b="1">
              <a:latin typeface="Calibri"/>
              <a:ea typeface="Calibri"/>
              <a:cs typeface="Calibri"/>
            </a:endParaRPr>
          </a:p>
        </p:txBody>
      </p:sp>
      <p:sp>
        <p:nvSpPr>
          <p:cNvPr id="177" name="Shape 48">
            <a:extLst>
              <a:ext uri="{FF2B5EF4-FFF2-40B4-BE49-F238E27FC236}">
                <a16:creationId xmlns:a16="http://schemas.microsoft.com/office/drawing/2014/main" id="{8E3418A1-A6F9-4FEF-9848-DC42E4302288}"/>
              </a:ext>
            </a:extLst>
          </p:cNvPr>
          <p:cNvSpPr/>
          <p:nvPr/>
        </p:nvSpPr>
        <p:spPr>
          <a:xfrm>
            <a:off x="5315712" y="1636776"/>
            <a:ext cx="880872" cy="1783080"/>
          </a:xfrm>
          <a:prstGeom prst="roundRect">
            <a:avLst>
              <a:gd name="adj" fmla="val 6228"/>
            </a:avLst>
          </a:prstGeom>
          <a:solidFill>
            <a:srgbClr val="E8F7EE"/>
          </a:solidFill>
          <a:ln w="9525">
            <a:solidFill>
              <a:srgbClr val="E8F7EE"/>
            </a:solidFill>
            <a:prstDash val="solid"/>
          </a:ln>
        </p:spPr>
      </p:sp>
      <p:sp>
        <p:nvSpPr>
          <p:cNvPr id="179" name="Shape 49">
            <a:extLst>
              <a:ext uri="{FF2B5EF4-FFF2-40B4-BE49-F238E27FC236}">
                <a16:creationId xmlns:a16="http://schemas.microsoft.com/office/drawing/2014/main" id="{E016058B-267E-20D2-3CF3-6AA8DE604FEB}"/>
              </a:ext>
            </a:extLst>
          </p:cNvPr>
          <p:cNvSpPr/>
          <p:nvPr/>
        </p:nvSpPr>
        <p:spPr>
          <a:xfrm>
            <a:off x="5361432" y="1682496"/>
            <a:ext cx="201168" cy="201168"/>
          </a:xfrm>
          <a:prstGeom prst="roundRect">
            <a:avLst>
              <a:gd name="adj" fmla="val 22000"/>
            </a:avLst>
          </a:prstGeom>
          <a:solidFill>
            <a:srgbClr val="1E7A46"/>
          </a:solidFill>
          <a:ln/>
        </p:spPr>
      </p:sp>
      <p:pic>
        <p:nvPicPr>
          <p:cNvPr id="181" name="Image 10" descr="/home/claude/ppt/icons/database.png">
            <a:extLst>
              <a:ext uri="{FF2B5EF4-FFF2-40B4-BE49-F238E27FC236}">
                <a16:creationId xmlns:a16="http://schemas.microsoft.com/office/drawing/2014/main" id="{26E78FCE-BEE7-0006-3139-AB118515AFC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05689" y="1726753"/>
            <a:ext cx="112654" cy="112654"/>
          </a:xfrm>
          <a:prstGeom prst="rect">
            <a:avLst/>
          </a:prstGeom>
        </p:spPr>
      </p:pic>
      <p:sp>
        <p:nvSpPr>
          <p:cNvPr id="183" name="Text 50">
            <a:extLst>
              <a:ext uri="{FF2B5EF4-FFF2-40B4-BE49-F238E27FC236}">
                <a16:creationId xmlns:a16="http://schemas.microsoft.com/office/drawing/2014/main" id="{2D0B57C1-E931-B7A9-8D52-06D11E54B67C}"/>
              </a:ext>
            </a:extLst>
          </p:cNvPr>
          <p:cNvSpPr txBox="1"/>
          <p:nvPr/>
        </p:nvSpPr>
        <p:spPr>
          <a:xfrm>
            <a:off x="5608320" y="1655064"/>
            <a:ext cx="542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Data</a:t>
            </a:r>
            <a:endParaRPr lang="en-US" sz="700"/>
          </a:p>
          <a:p>
            <a:pPr marL="0" indent="0">
              <a:buNone/>
            </a:pPr>
            <a:r>
              <a:rPr lang="en-US" sz="700" b="1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700"/>
          </a:p>
        </p:txBody>
      </p:sp>
      <p:sp>
        <p:nvSpPr>
          <p:cNvPr id="185" name="Text 51">
            <a:extLst>
              <a:ext uri="{FF2B5EF4-FFF2-40B4-BE49-F238E27FC236}">
                <a16:creationId xmlns:a16="http://schemas.microsoft.com/office/drawing/2014/main" id="{B20ACA23-316D-FF77-CB26-5D3FB3169661}"/>
              </a:ext>
            </a:extLst>
          </p:cNvPr>
          <p:cNvSpPr txBox="1"/>
          <p:nvPr/>
        </p:nvSpPr>
        <p:spPr>
          <a:xfrm>
            <a:off x="5371592" y="2047240"/>
            <a:ext cx="789432" cy="1325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65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Fetch data from multiple sources</a:t>
            </a:r>
            <a:endParaRPr lang="en-US" sz="650">
              <a:latin typeface="Calibri"/>
              <a:ea typeface="Calibri"/>
              <a:cs typeface="Calibri"/>
            </a:endParaRPr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65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Official alerts (IMD, dynamic feeds)</a:t>
            </a:r>
            <a:endParaRPr lang="en-US" sz="650">
              <a:latin typeface="Calibri"/>
              <a:ea typeface="Calibri"/>
              <a:cs typeface="Calibri"/>
            </a:endParaRPr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65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Geospatial data (PostGIS, boundaries)</a:t>
            </a:r>
            <a:endParaRPr lang="en-US" sz="650">
              <a:latin typeface="Calibri"/>
              <a:ea typeface="Calibri"/>
              <a:cs typeface="Calibri"/>
            </a:endParaRPr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65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Historical climate data</a:t>
            </a:r>
            <a:endParaRPr lang="en-US" sz="650">
              <a:latin typeface="Calibri"/>
              <a:ea typeface="Calibri"/>
              <a:cs typeface="Calibri"/>
            </a:endParaRPr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650">
                <a:solidFill>
                  <a:srgbClr val="1B2733"/>
                </a:solidFill>
                <a:latin typeface="Calibri"/>
                <a:ea typeface="Calibri"/>
                <a:cs typeface="Calibri"/>
              </a:rPr>
              <a:t>Data validation &amp; freshness check</a:t>
            </a:r>
            <a:endParaRPr lang="en-US" sz="650">
              <a:latin typeface="Calibri"/>
              <a:ea typeface="Calibri"/>
              <a:cs typeface="Calibri"/>
            </a:endParaRPr>
          </a:p>
        </p:txBody>
      </p:sp>
      <p:sp>
        <p:nvSpPr>
          <p:cNvPr id="187" name="Shape 52">
            <a:extLst>
              <a:ext uri="{FF2B5EF4-FFF2-40B4-BE49-F238E27FC236}">
                <a16:creationId xmlns:a16="http://schemas.microsoft.com/office/drawing/2014/main" id="{E311D150-64F5-4467-B129-27C46DB90118}"/>
              </a:ext>
            </a:extLst>
          </p:cNvPr>
          <p:cNvSpPr/>
          <p:nvPr/>
        </p:nvSpPr>
        <p:spPr>
          <a:xfrm>
            <a:off x="6251448" y="1636776"/>
            <a:ext cx="880872" cy="1783080"/>
          </a:xfrm>
          <a:prstGeom prst="roundRect">
            <a:avLst>
              <a:gd name="adj" fmla="val 6228"/>
            </a:avLst>
          </a:prstGeom>
          <a:solidFill>
            <a:srgbClr val="FDEFDD"/>
          </a:solidFill>
          <a:ln w="9525">
            <a:solidFill>
              <a:srgbClr val="FDEFDD"/>
            </a:solidFill>
            <a:prstDash val="solid"/>
          </a:ln>
        </p:spPr>
      </p:sp>
      <p:sp>
        <p:nvSpPr>
          <p:cNvPr id="189" name="Shape 53">
            <a:extLst>
              <a:ext uri="{FF2B5EF4-FFF2-40B4-BE49-F238E27FC236}">
                <a16:creationId xmlns:a16="http://schemas.microsoft.com/office/drawing/2014/main" id="{26AF3694-44BD-FCE6-81EB-780F35E994D8}"/>
              </a:ext>
            </a:extLst>
          </p:cNvPr>
          <p:cNvSpPr/>
          <p:nvPr/>
        </p:nvSpPr>
        <p:spPr>
          <a:xfrm>
            <a:off x="6297168" y="1682496"/>
            <a:ext cx="201168" cy="201168"/>
          </a:xfrm>
          <a:prstGeom prst="roundRect">
            <a:avLst>
              <a:gd name="adj" fmla="val 22000"/>
            </a:avLst>
          </a:prstGeom>
          <a:solidFill>
            <a:srgbClr val="B45A12"/>
          </a:solidFill>
          <a:ln/>
        </p:spPr>
      </p:sp>
      <p:pic>
        <p:nvPicPr>
          <p:cNvPr id="191" name="Image 11" descr="/home/claude/ppt/icons/chartbar.png">
            <a:extLst>
              <a:ext uri="{FF2B5EF4-FFF2-40B4-BE49-F238E27FC236}">
                <a16:creationId xmlns:a16="http://schemas.microsoft.com/office/drawing/2014/main" id="{B09C28C3-436E-1B69-77CB-AAB884C85F4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41425" y="1726753"/>
            <a:ext cx="112654" cy="112654"/>
          </a:xfrm>
          <a:prstGeom prst="rect">
            <a:avLst/>
          </a:prstGeom>
        </p:spPr>
      </p:pic>
      <p:sp>
        <p:nvSpPr>
          <p:cNvPr id="193" name="Text 54">
            <a:extLst>
              <a:ext uri="{FF2B5EF4-FFF2-40B4-BE49-F238E27FC236}">
                <a16:creationId xmlns:a16="http://schemas.microsoft.com/office/drawing/2014/main" id="{13289605-B0AC-08A5-5417-E2B874365993}"/>
              </a:ext>
            </a:extLst>
          </p:cNvPr>
          <p:cNvSpPr txBox="1"/>
          <p:nvPr/>
        </p:nvSpPr>
        <p:spPr>
          <a:xfrm>
            <a:off x="6544056" y="1655064"/>
            <a:ext cx="542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>
                <a:solidFill>
                  <a:srgbClr val="B4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Model Consensus &amp; Uncertainty</a:t>
            </a:r>
            <a:endParaRPr lang="en-US" sz="700"/>
          </a:p>
        </p:txBody>
      </p:sp>
      <p:sp>
        <p:nvSpPr>
          <p:cNvPr id="195" name="Text 55">
            <a:extLst>
              <a:ext uri="{FF2B5EF4-FFF2-40B4-BE49-F238E27FC236}">
                <a16:creationId xmlns:a16="http://schemas.microsoft.com/office/drawing/2014/main" id="{E4678F1C-F75E-4370-F620-93ED91C92D63}"/>
              </a:ext>
            </a:extLst>
          </p:cNvPr>
          <p:cNvSpPr txBox="1"/>
          <p:nvPr/>
        </p:nvSpPr>
        <p:spPr>
          <a:xfrm>
            <a:off x="6297168" y="2057400"/>
            <a:ext cx="789432" cy="1325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6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GFS / WRF / ERA5</a:t>
            </a:r>
            <a:endParaRPr lang="en-US" sz="65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6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deviation</a:t>
            </a:r>
            <a:endParaRPr lang="en-US" sz="65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6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65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6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/ conflicting data</a:t>
            </a:r>
            <a:endParaRPr lang="en-US" sz="65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6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low confidence situations</a:t>
            </a:r>
            <a:endParaRPr lang="en-US" sz="650"/>
          </a:p>
        </p:txBody>
      </p:sp>
      <p:sp>
        <p:nvSpPr>
          <p:cNvPr id="197" name="Shape 56">
            <a:extLst>
              <a:ext uri="{FF2B5EF4-FFF2-40B4-BE49-F238E27FC236}">
                <a16:creationId xmlns:a16="http://schemas.microsoft.com/office/drawing/2014/main" id="{24E73844-F72D-0550-DFDB-D96D8306BB68}"/>
              </a:ext>
            </a:extLst>
          </p:cNvPr>
          <p:cNvSpPr/>
          <p:nvPr/>
        </p:nvSpPr>
        <p:spPr>
          <a:xfrm>
            <a:off x="7187184" y="1636776"/>
            <a:ext cx="880872" cy="1783080"/>
          </a:xfrm>
          <a:prstGeom prst="roundRect">
            <a:avLst>
              <a:gd name="adj" fmla="val 6228"/>
            </a:avLst>
          </a:prstGeom>
          <a:solidFill>
            <a:srgbClr val="FBE9EC"/>
          </a:solidFill>
          <a:ln w="9525">
            <a:solidFill>
              <a:srgbClr val="FBE9EC"/>
            </a:solidFill>
            <a:prstDash val="solid"/>
          </a:ln>
        </p:spPr>
      </p:sp>
      <p:sp>
        <p:nvSpPr>
          <p:cNvPr id="199" name="Shape 57">
            <a:extLst>
              <a:ext uri="{FF2B5EF4-FFF2-40B4-BE49-F238E27FC236}">
                <a16:creationId xmlns:a16="http://schemas.microsoft.com/office/drawing/2014/main" id="{E5ED3198-C892-C60A-4556-5154B1E32BA6}"/>
              </a:ext>
            </a:extLst>
          </p:cNvPr>
          <p:cNvSpPr/>
          <p:nvPr/>
        </p:nvSpPr>
        <p:spPr>
          <a:xfrm>
            <a:off x="7232904" y="1682496"/>
            <a:ext cx="201168" cy="201168"/>
          </a:xfrm>
          <a:prstGeom prst="roundRect">
            <a:avLst>
              <a:gd name="adj" fmla="val 22000"/>
            </a:avLst>
          </a:prstGeom>
          <a:solidFill>
            <a:srgbClr val="A31E33"/>
          </a:solidFill>
          <a:ln/>
        </p:spPr>
      </p:sp>
      <p:pic>
        <p:nvPicPr>
          <p:cNvPr id="201" name="Image 12" descr="/home/claude/ppt/icons/shield.png">
            <a:extLst>
              <a:ext uri="{FF2B5EF4-FFF2-40B4-BE49-F238E27FC236}">
                <a16:creationId xmlns:a16="http://schemas.microsoft.com/office/drawing/2014/main" id="{8085F6EF-2A8C-60DF-2A57-8DEC43FF4BD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77161" y="1726753"/>
            <a:ext cx="112654" cy="112654"/>
          </a:xfrm>
          <a:prstGeom prst="rect">
            <a:avLst/>
          </a:prstGeom>
        </p:spPr>
      </p:pic>
      <p:sp>
        <p:nvSpPr>
          <p:cNvPr id="203" name="Text 58">
            <a:extLst>
              <a:ext uri="{FF2B5EF4-FFF2-40B4-BE49-F238E27FC236}">
                <a16:creationId xmlns:a16="http://schemas.microsoft.com/office/drawing/2014/main" id="{CEA4018B-7F82-BA5C-326F-0214142A2B85}"/>
              </a:ext>
            </a:extLst>
          </p:cNvPr>
          <p:cNvSpPr txBox="1"/>
          <p:nvPr/>
        </p:nvSpPr>
        <p:spPr>
          <a:xfrm>
            <a:off x="7479792" y="1655064"/>
            <a:ext cx="542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>
                <a:solidFill>
                  <a:srgbClr val="A3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Risk &amp; Impact Engine</a:t>
            </a:r>
            <a:endParaRPr lang="en-US" sz="700"/>
          </a:p>
        </p:txBody>
      </p:sp>
      <p:sp>
        <p:nvSpPr>
          <p:cNvPr id="205" name="Text 59">
            <a:extLst>
              <a:ext uri="{FF2B5EF4-FFF2-40B4-BE49-F238E27FC236}">
                <a16:creationId xmlns:a16="http://schemas.microsoft.com/office/drawing/2014/main" id="{1C0C5F63-B86F-CF65-892B-288F3CCDB2AA}"/>
              </a:ext>
            </a:extLst>
          </p:cNvPr>
          <p:cNvSpPr txBox="1"/>
          <p:nvPr/>
        </p:nvSpPr>
        <p:spPr>
          <a:xfrm>
            <a:off x="7232904" y="2057400"/>
            <a:ext cx="789432" cy="1325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6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domain rules</a:t>
            </a:r>
            <a:endParaRPr lang="en-US" sz="65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6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detection (rain, heat, cyclone etc.)</a:t>
            </a:r>
            <a:endParaRPr lang="en-US" sz="65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6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risk analysis</a:t>
            </a:r>
            <a:endParaRPr lang="en-US" sz="65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6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65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6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(Low / Medium / High)</a:t>
            </a:r>
            <a:endParaRPr lang="en-US" sz="65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6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structured Risk Object</a:t>
            </a:r>
            <a:endParaRPr lang="en-US" sz="650"/>
          </a:p>
        </p:txBody>
      </p:sp>
      <p:sp>
        <p:nvSpPr>
          <p:cNvPr id="207" name="Shape 60">
            <a:extLst>
              <a:ext uri="{FF2B5EF4-FFF2-40B4-BE49-F238E27FC236}">
                <a16:creationId xmlns:a16="http://schemas.microsoft.com/office/drawing/2014/main" id="{63DF5AEB-3B7F-8583-0898-8BD82F413B7D}"/>
              </a:ext>
            </a:extLst>
          </p:cNvPr>
          <p:cNvSpPr/>
          <p:nvPr/>
        </p:nvSpPr>
        <p:spPr>
          <a:xfrm>
            <a:off x="8122920" y="1636776"/>
            <a:ext cx="880872" cy="1783080"/>
          </a:xfrm>
          <a:prstGeom prst="roundRect">
            <a:avLst>
              <a:gd name="adj" fmla="val 6228"/>
            </a:avLst>
          </a:prstGeom>
          <a:solidFill>
            <a:srgbClr val="F1EBFB"/>
          </a:solidFill>
          <a:ln w="9525">
            <a:solidFill>
              <a:srgbClr val="F1EBFB"/>
            </a:solidFill>
            <a:prstDash val="solid"/>
          </a:ln>
        </p:spPr>
      </p:sp>
      <p:sp>
        <p:nvSpPr>
          <p:cNvPr id="209" name="Shape 61">
            <a:extLst>
              <a:ext uri="{FF2B5EF4-FFF2-40B4-BE49-F238E27FC236}">
                <a16:creationId xmlns:a16="http://schemas.microsoft.com/office/drawing/2014/main" id="{CEBD6479-619A-B010-DF5B-0F8312167E29}"/>
              </a:ext>
            </a:extLst>
          </p:cNvPr>
          <p:cNvSpPr/>
          <p:nvPr/>
        </p:nvSpPr>
        <p:spPr>
          <a:xfrm>
            <a:off x="8168640" y="1682496"/>
            <a:ext cx="201168" cy="201168"/>
          </a:xfrm>
          <a:prstGeom prst="roundRect">
            <a:avLst>
              <a:gd name="adj" fmla="val 22000"/>
            </a:avLst>
          </a:prstGeom>
          <a:solidFill>
            <a:srgbClr val="5B3E9E"/>
          </a:solidFill>
          <a:ln/>
        </p:spPr>
      </p:sp>
      <p:pic>
        <p:nvPicPr>
          <p:cNvPr id="211" name="Image 13" descr="/home/claude/ppt/icons/usercog.png">
            <a:extLst>
              <a:ext uri="{FF2B5EF4-FFF2-40B4-BE49-F238E27FC236}">
                <a16:creationId xmlns:a16="http://schemas.microsoft.com/office/drawing/2014/main" id="{DD6CC813-4DB4-318D-0F5A-87FFB369980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12897" y="1726753"/>
            <a:ext cx="112654" cy="112654"/>
          </a:xfrm>
          <a:prstGeom prst="rect">
            <a:avLst/>
          </a:prstGeom>
        </p:spPr>
      </p:pic>
      <p:sp>
        <p:nvSpPr>
          <p:cNvPr id="213" name="Text 62">
            <a:extLst>
              <a:ext uri="{FF2B5EF4-FFF2-40B4-BE49-F238E27FC236}">
                <a16:creationId xmlns:a16="http://schemas.microsoft.com/office/drawing/2014/main" id="{8E7BA1FE-0EE5-FDCF-3BFE-C37B9F1325A2}"/>
              </a:ext>
            </a:extLst>
          </p:cNvPr>
          <p:cNvSpPr txBox="1"/>
          <p:nvPr/>
        </p:nvSpPr>
        <p:spPr>
          <a:xfrm>
            <a:off x="8415528" y="1655064"/>
            <a:ext cx="542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>
                <a:solidFill>
                  <a:srgbClr val="5B3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Persona-Based Abstraction</a:t>
            </a:r>
            <a:endParaRPr lang="en-US" sz="700"/>
          </a:p>
        </p:txBody>
      </p:sp>
      <p:sp>
        <p:nvSpPr>
          <p:cNvPr id="215" name="Text 63">
            <a:extLst>
              <a:ext uri="{FF2B5EF4-FFF2-40B4-BE49-F238E27FC236}">
                <a16:creationId xmlns:a16="http://schemas.microsoft.com/office/drawing/2014/main" id="{1F508776-5BE5-6C97-EB28-BCEBE4F2F8C0}"/>
              </a:ext>
            </a:extLst>
          </p:cNvPr>
          <p:cNvSpPr txBox="1"/>
          <p:nvPr/>
        </p:nvSpPr>
        <p:spPr>
          <a:xfrm>
            <a:off x="8168640" y="2057400"/>
            <a:ext cx="789432" cy="1325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6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info by user persona</a:t>
            </a:r>
            <a:endParaRPr lang="en-US" sz="65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6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prioritize relevant insights</a:t>
            </a:r>
            <a:endParaRPr lang="en-US" sz="65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6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risk to role-specific advice</a:t>
            </a:r>
            <a:endParaRPr lang="en-US" sz="65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6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Farmer→crop advisory, Traveller→travel advice, Disaster Manager→alerts</a:t>
            </a:r>
            <a:endParaRPr lang="en-US" sz="650"/>
          </a:p>
        </p:txBody>
      </p:sp>
      <p:sp>
        <p:nvSpPr>
          <p:cNvPr id="217" name="Shape 64">
            <a:extLst>
              <a:ext uri="{FF2B5EF4-FFF2-40B4-BE49-F238E27FC236}">
                <a16:creationId xmlns:a16="http://schemas.microsoft.com/office/drawing/2014/main" id="{B9977C50-96E9-36C2-35B2-0D3099E31FB0}"/>
              </a:ext>
            </a:extLst>
          </p:cNvPr>
          <p:cNvSpPr/>
          <p:nvPr/>
        </p:nvSpPr>
        <p:spPr>
          <a:xfrm>
            <a:off x="9058656" y="1636776"/>
            <a:ext cx="880872" cy="1783080"/>
          </a:xfrm>
          <a:prstGeom prst="roundRect">
            <a:avLst>
              <a:gd name="adj" fmla="val 6228"/>
            </a:avLst>
          </a:prstGeom>
          <a:solidFill>
            <a:srgbClr val="E7F1FC"/>
          </a:solidFill>
          <a:ln w="9525">
            <a:solidFill>
              <a:srgbClr val="E7F1FC"/>
            </a:solidFill>
            <a:prstDash val="solid"/>
          </a:ln>
        </p:spPr>
      </p:sp>
      <p:sp>
        <p:nvSpPr>
          <p:cNvPr id="219" name="Shape 65">
            <a:extLst>
              <a:ext uri="{FF2B5EF4-FFF2-40B4-BE49-F238E27FC236}">
                <a16:creationId xmlns:a16="http://schemas.microsoft.com/office/drawing/2014/main" id="{3EDAE0A5-6276-18B6-7DCB-E1F87089CA1B}"/>
              </a:ext>
            </a:extLst>
          </p:cNvPr>
          <p:cNvSpPr/>
          <p:nvPr/>
        </p:nvSpPr>
        <p:spPr>
          <a:xfrm>
            <a:off x="9104376" y="1682496"/>
            <a:ext cx="201168" cy="201168"/>
          </a:xfrm>
          <a:prstGeom prst="roundRect">
            <a:avLst>
              <a:gd name="adj" fmla="val 22000"/>
            </a:avLst>
          </a:prstGeom>
          <a:solidFill>
            <a:srgbClr val="1B3A6B"/>
          </a:solidFill>
          <a:ln/>
        </p:spPr>
      </p:sp>
      <p:pic>
        <p:nvPicPr>
          <p:cNvPr id="221" name="Image 14" descr="/home/claude/ppt/icons/brain.png">
            <a:extLst>
              <a:ext uri="{FF2B5EF4-FFF2-40B4-BE49-F238E27FC236}">
                <a16:creationId xmlns:a16="http://schemas.microsoft.com/office/drawing/2014/main" id="{2619A0CA-6920-7D09-7A52-C113175A82E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8633" y="1726753"/>
            <a:ext cx="112654" cy="112654"/>
          </a:xfrm>
          <a:prstGeom prst="rect">
            <a:avLst/>
          </a:prstGeom>
        </p:spPr>
      </p:pic>
      <p:sp>
        <p:nvSpPr>
          <p:cNvPr id="223" name="Text 66">
            <a:extLst>
              <a:ext uri="{FF2B5EF4-FFF2-40B4-BE49-F238E27FC236}">
                <a16:creationId xmlns:a16="http://schemas.microsoft.com/office/drawing/2014/main" id="{9D7929C8-D876-A85D-3AD4-3F41F5B65007}"/>
              </a:ext>
            </a:extLst>
          </p:cNvPr>
          <p:cNvSpPr txBox="1"/>
          <p:nvPr/>
        </p:nvSpPr>
        <p:spPr>
          <a:xfrm>
            <a:off x="9351264" y="1655064"/>
            <a:ext cx="583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LLM Layer 2</a:t>
            </a:r>
            <a:endParaRPr lang="en-US" sz="700"/>
          </a:p>
          <a:p>
            <a:pPr marL="0" indent="0">
              <a:buNone/>
            </a:pPr>
            <a:r>
              <a:rPr lang="en-US" sz="7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(Grounded Response)</a:t>
            </a:r>
            <a:endParaRPr lang="en-US" sz="700"/>
          </a:p>
        </p:txBody>
      </p:sp>
      <p:sp>
        <p:nvSpPr>
          <p:cNvPr id="225" name="Text 67">
            <a:extLst>
              <a:ext uri="{FF2B5EF4-FFF2-40B4-BE49-F238E27FC236}">
                <a16:creationId xmlns:a16="http://schemas.microsoft.com/office/drawing/2014/main" id="{F4D35472-6FAE-3D88-CAC6-B7168236BBEA}"/>
              </a:ext>
            </a:extLst>
          </p:cNvPr>
          <p:cNvSpPr txBox="1"/>
          <p:nvPr/>
        </p:nvSpPr>
        <p:spPr>
          <a:xfrm>
            <a:off x="9104376" y="2057400"/>
            <a:ext cx="789432" cy="1325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6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structured risk object only</a:t>
            </a:r>
            <a:endParaRPr lang="en-US" sz="65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6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natural language explanation</a:t>
            </a:r>
            <a:endParaRPr lang="en-US" sz="65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6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sources &amp; confidence</a:t>
            </a:r>
            <a:endParaRPr lang="en-US" sz="65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6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follow-up questions</a:t>
            </a:r>
            <a:endParaRPr lang="en-US" sz="650"/>
          </a:p>
          <a:p>
            <a:pPr marL="127000" indent="-127000" algn="l">
              <a:spcAft>
                <a:spcPts val="200"/>
              </a:spcAft>
              <a:buSzPct val="100000"/>
              <a:buChar char="•"/>
            </a:pPr>
            <a:r>
              <a:rPr lang="en-US" sz="65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hallucination of numerical values</a:t>
            </a:r>
            <a:endParaRPr lang="en-US" sz="650"/>
          </a:p>
        </p:txBody>
      </p:sp>
      <p:sp>
        <p:nvSpPr>
          <p:cNvPr id="227" name="Shape 68">
            <a:extLst>
              <a:ext uri="{FF2B5EF4-FFF2-40B4-BE49-F238E27FC236}">
                <a16:creationId xmlns:a16="http://schemas.microsoft.com/office/drawing/2014/main" id="{1154659B-4B22-5314-4688-B773D988CEC7}"/>
              </a:ext>
            </a:extLst>
          </p:cNvPr>
          <p:cNvSpPr/>
          <p:nvPr/>
        </p:nvSpPr>
        <p:spPr>
          <a:xfrm>
            <a:off x="4379976" y="3502152"/>
            <a:ext cx="2335012" cy="1325880"/>
          </a:xfrm>
          <a:prstGeom prst="roundRect">
            <a:avLst>
              <a:gd name="adj" fmla="val 4138"/>
            </a:avLst>
          </a:prstGeom>
          <a:solidFill>
            <a:srgbClr val="FBE9EC"/>
          </a:solidFill>
          <a:ln w="9525">
            <a:solidFill>
              <a:srgbClr val="E7B6C0"/>
            </a:solidFill>
            <a:prstDash val="solid"/>
          </a:ln>
        </p:spPr>
      </p:sp>
      <p:sp>
        <p:nvSpPr>
          <p:cNvPr id="229" name="Text 69">
            <a:extLst>
              <a:ext uri="{FF2B5EF4-FFF2-40B4-BE49-F238E27FC236}">
                <a16:creationId xmlns:a16="http://schemas.microsoft.com/office/drawing/2014/main" id="{D1549894-C015-B2CD-E435-2BA080C1A528}"/>
              </a:ext>
            </a:extLst>
          </p:cNvPr>
          <p:cNvSpPr txBox="1"/>
          <p:nvPr/>
        </p:nvSpPr>
        <p:spPr>
          <a:xfrm>
            <a:off x="4422648" y="3527552"/>
            <a:ext cx="21521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A3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Risk Object (Example)</a:t>
            </a:r>
            <a:endParaRPr lang="en-US" sz="900"/>
          </a:p>
        </p:txBody>
      </p:sp>
      <p:sp>
        <p:nvSpPr>
          <p:cNvPr id="231" name="Text 70">
            <a:extLst>
              <a:ext uri="{FF2B5EF4-FFF2-40B4-BE49-F238E27FC236}">
                <a16:creationId xmlns:a16="http://schemas.microsoft.com/office/drawing/2014/main" id="{82D3B2F7-463B-5BE3-2E54-0B9CDA832F18}"/>
              </a:ext>
            </a:extLst>
          </p:cNvPr>
          <p:cNvSpPr txBox="1"/>
          <p:nvPr/>
        </p:nvSpPr>
        <p:spPr>
          <a:xfrm>
            <a:off x="4483608" y="3667760"/>
            <a:ext cx="20606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>
                <a:solidFill>
                  <a:srgbClr val="5A2233"/>
                </a:solidFill>
                <a:latin typeface="Courier New"/>
                <a:ea typeface="Courier New" pitchFamily="34" charset="-122"/>
                <a:cs typeface="Courier New"/>
              </a:rPr>
              <a:t>{</a:t>
            </a:r>
            <a:endParaRPr lang="en-US" sz="60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600">
                <a:solidFill>
                  <a:srgbClr val="5A2233"/>
                </a:solidFill>
                <a:latin typeface="Courier New"/>
                <a:ea typeface="Courier New" pitchFamily="34" charset="-122"/>
                <a:cs typeface="Courier New"/>
              </a:rPr>
              <a:t>  "location": "Madurai",</a:t>
            </a:r>
            <a:endParaRPr lang="en-US" sz="60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600">
                <a:solidFill>
                  <a:srgbClr val="5A2233"/>
                </a:solidFill>
                <a:latin typeface="Courier New"/>
                <a:ea typeface="Courier New" pitchFamily="34" charset="-122"/>
                <a:cs typeface="Courier New"/>
              </a:rPr>
              <a:t>  "time": "2026-09-13",</a:t>
            </a:r>
            <a:endParaRPr lang="en-US" sz="60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600">
                <a:solidFill>
                  <a:srgbClr val="5A2233"/>
                </a:solidFill>
                <a:latin typeface="Courier New"/>
                <a:ea typeface="Courier New" pitchFamily="34" charset="-122"/>
                <a:cs typeface="Courier New"/>
              </a:rPr>
              <a:t>  "rain_prob": 0.72,</a:t>
            </a:r>
            <a:endParaRPr lang="en-US" sz="60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600">
                <a:solidFill>
                  <a:srgbClr val="5A2233"/>
                </a:solidFill>
                <a:latin typeface="Courier New"/>
                <a:ea typeface="Courier New" pitchFamily="34" charset="-122"/>
                <a:cs typeface="Courier New"/>
              </a:rPr>
              <a:t>  "temperature": 31,</a:t>
            </a:r>
            <a:endParaRPr lang="en-US" sz="60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600">
                <a:solidFill>
                  <a:srgbClr val="5A2233"/>
                </a:solidFill>
                <a:latin typeface="Courier New"/>
                <a:ea typeface="Courier New" pitchFamily="34" charset="-122"/>
                <a:cs typeface="Courier New"/>
              </a:rPr>
              <a:t>  "hazards": ["heavy_rain"],</a:t>
            </a:r>
            <a:endParaRPr lang="en-US" sz="60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600">
                <a:solidFill>
                  <a:srgbClr val="5A2233"/>
                </a:solidFill>
                <a:latin typeface="Courier New"/>
                <a:ea typeface="Courier New" pitchFamily="34" charset="-122"/>
                <a:cs typeface="Courier New"/>
              </a:rPr>
              <a:t>  "model_confidence": "high",</a:t>
            </a:r>
            <a:endParaRPr lang="en-US" sz="60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600">
                <a:solidFill>
                  <a:srgbClr val="5A2233"/>
                </a:solidFill>
                <a:latin typeface="Courier New"/>
                <a:ea typeface="Courier New" pitchFamily="34" charset="-122"/>
                <a:cs typeface="Courier New"/>
              </a:rPr>
              <a:t>  "official_warning": false,</a:t>
            </a:r>
            <a:endParaRPr lang="en-US" sz="60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600">
                <a:solidFill>
                  <a:srgbClr val="5A2233"/>
                </a:solidFill>
                <a:latin typeface="Courier New"/>
                <a:ea typeface="Courier New" pitchFamily="34" charset="-122"/>
                <a:cs typeface="Courier New"/>
              </a:rPr>
              <a:t>  "user_profile": "farmer",</a:t>
            </a:r>
            <a:endParaRPr lang="en-US" sz="60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600">
                <a:solidFill>
                  <a:srgbClr val="5A2233"/>
                </a:solidFill>
                <a:latin typeface="Courier New"/>
                <a:ea typeface="Courier New" pitchFamily="34" charset="-122"/>
                <a:cs typeface="Courier New"/>
              </a:rPr>
              <a:t>  "recommended_action": "postpone_irrigation"</a:t>
            </a:r>
            <a:endParaRPr lang="en-US" sz="60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600">
                <a:solidFill>
                  <a:srgbClr val="5A2233"/>
                </a:solidFill>
                <a:latin typeface="Courier New"/>
                <a:ea typeface="Courier New" pitchFamily="34" charset="-122"/>
                <a:cs typeface="Courier New"/>
              </a:rPr>
              <a:t>}</a:t>
            </a:r>
            <a:endParaRPr lang="en-US" sz="600">
              <a:latin typeface="Courier New"/>
              <a:cs typeface="Courier New"/>
            </a:endParaRPr>
          </a:p>
        </p:txBody>
      </p:sp>
      <p:sp>
        <p:nvSpPr>
          <p:cNvPr id="233" name="Shape 71">
            <a:extLst>
              <a:ext uri="{FF2B5EF4-FFF2-40B4-BE49-F238E27FC236}">
                <a16:creationId xmlns:a16="http://schemas.microsoft.com/office/drawing/2014/main" id="{0CA59130-4EB7-5FD7-7CEA-CFFBD9D1DD59}"/>
              </a:ext>
            </a:extLst>
          </p:cNvPr>
          <p:cNvSpPr/>
          <p:nvPr/>
        </p:nvSpPr>
        <p:spPr>
          <a:xfrm>
            <a:off x="6796268" y="3471672"/>
            <a:ext cx="31331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35" name="Text 72">
            <a:extLst>
              <a:ext uri="{FF2B5EF4-FFF2-40B4-BE49-F238E27FC236}">
                <a16:creationId xmlns:a16="http://schemas.microsoft.com/office/drawing/2014/main" id="{1E79FEFA-EF01-D827-BBAC-447067B5D922}"/>
              </a:ext>
            </a:extLst>
          </p:cNvPr>
          <p:cNvSpPr txBox="1"/>
          <p:nvPr/>
        </p:nvSpPr>
        <p:spPr>
          <a:xfrm>
            <a:off x="6879580" y="3547872"/>
            <a:ext cx="29867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Abstraction (Same weather, different decisions)</a:t>
            </a:r>
            <a:endParaRPr lang="en-US" sz="900"/>
          </a:p>
        </p:txBody>
      </p:sp>
      <p:sp>
        <p:nvSpPr>
          <p:cNvPr id="237" name="Shape 73">
            <a:extLst>
              <a:ext uri="{FF2B5EF4-FFF2-40B4-BE49-F238E27FC236}">
                <a16:creationId xmlns:a16="http://schemas.microsoft.com/office/drawing/2014/main" id="{E4ABEB63-BE57-CEA5-BA8F-52E67A6E541A}"/>
              </a:ext>
            </a:extLst>
          </p:cNvPr>
          <p:cNvSpPr/>
          <p:nvPr/>
        </p:nvSpPr>
        <p:spPr>
          <a:xfrm>
            <a:off x="6994489" y="3742091"/>
            <a:ext cx="237744" cy="237744"/>
          </a:xfrm>
          <a:prstGeom prst="ellipse">
            <a:avLst/>
          </a:prstGeom>
          <a:solidFill>
            <a:srgbClr val="1E7A46"/>
          </a:solidFill>
          <a:ln/>
        </p:spPr>
      </p:sp>
      <p:pic>
        <p:nvPicPr>
          <p:cNvPr id="239" name="Image 15" descr="/home/claude/ppt/icons/tractor.png">
            <a:extLst>
              <a:ext uri="{FF2B5EF4-FFF2-40B4-BE49-F238E27FC236}">
                <a16:creationId xmlns:a16="http://schemas.microsoft.com/office/drawing/2014/main" id="{CADF5FAA-BE8B-B5FD-8E8A-2EF98B017C6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56303" y="3803904"/>
            <a:ext cx="114117" cy="114117"/>
          </a:xfrm>
          <a:prstGeom prst="rect">
            <a:avLst/>
          </a:prstGeom>
        </p:spPr>
      </p:pic>
      <p:sp>
        <p:nvSpPr>
          <p:cNvPr id="241" name="Text 74">
            <a:extLst>
              <a:ext uri="{FF2B5EF4-FFF2-40B4-BE49-F238E27FC236}">
                <a16:creationId xmlns:a16="http://schemas.microsoft.com/office/drawing/2014/main" id="{805AAE41-F99B-4BFD-8CE4-1B4A5FC79E27}"/>
              </a:ext>
            </a:extLst>
          </p:cNvPr>
          <p:cNvSpPr txBox="1"/>
          <p:nvPr/>
        </p:nvSpPr>
        <p:spPr>
          <a:xfrm>
            <a:off x="6822430" y="3994891"/>
            <a:ext cx="5973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8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580"/>
          </a:p>
        </p:txBody>
      </p:sp>
      <p:sp>
        <p:nvSpPr>
          <p:cNvPr id="243" name="Text 75">
            <a:extLst>
              <a:ext uri="{FF2B5EF4-FFF2-40B4-BE49-F238E27FC236}">
                <a16:creationId xmlns:a16="http://schemas.microsoft.com/office/drawing/2014/main" id="{3130124B-60DC-6283-1657-A554FBDF1950}"/>
              </a:ext>
            </a:extLst>
          </p:cNvPr>
          <p:cNvSpPr txBox="1"/>
          <p:nvPr/>
        </p:nvSpPr>
        <p:spPr>
          <a:xfrm>
            <a:off x="6844333" y="4076192"/>
            <a:ext cx="591832" cy="96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6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</a:t>
            </a:r>
          </a:p>
          <a:p>
            <a:pPr algn="ctr"/>
            <a:r>
              <a:rPr lang="en-US" sz="6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</a:t>
            </a:r>
            <a:endParaRPr lang="en-US" sz="600"/>
          </a:p>
        </p:txBody>
      </p:sp>
      <p:sp>
        <p:nvSpPr>
          <p:cNvPr id="245" name="Shape 76">
            <a:extLst>
              <a:ext uri="{FF2B5EF4-FFF2-40B4-BE49-F238E27FC236}">
                <a16:creationId xmlns:a16="http://schemas.microsoft.com/office/drawing/2014/main" id="{91A47B88-E678-769E-EFD1-7A01CF882F82}"/>
              </a:ext>
            </a:extLst>
          </p:cNvPr>
          <p:cNvSpPr/>
          <p:nvPr/>
        </p:nvSpPr>
        <p:spPr>
          <a:xfrm>
            <a:off x="7426452" y="4505431"/>
            <a:ext cx="237744" cy="237744"/>
          </a:xfrm>
          <a:prstGeom prst="ellipse">
            <a:avLst/>
          </a:prstGeom>
          <a:solidFill>
            <a:srgbClr val="B45A12"/>
          </a:solidFill>
          <a:ln/>
        </p:spPr>
      </p:sp>
      <p:pic>
        <p:nvPicPr>
          <p:cNvPr id="247" name="Image 16" descr="/home/claude/ppt/icons/car.png">
            <a:extLst>
              <a:ext uri="{FF2B5EF4-FFF2-40B4-BE49-F238E27FC236}">
                <a16:creationId xmlns:a16="http://schemas.microsoft.com/office/drawing/2014/main" id="{293A6B2C-32F5-81B3-A180-9A73DF71CC3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88265" y="4557084"/>
            <a:ext cx="114117" cy="114117"/>
          </a:xfrm>
          <a:prstGeom prst="rect">
            <a:avLst/>
          </a:prstGeom>
        </p:spPr>
      </p:pic>
      <p:sp>
        <p:nvSpPr>
          <p:cNvPr id="249" name="Text 77">
            <a:extLst>
              <a:ext uri="{FF2B5EF4-FFF2-40B4-BE49-F238E27FC236}">
                <a16:creationId xmlns:a16="http://schemas.microsoft.com/office/drawing/2014/main" id="{10507202-471A-0A53-EEE8-D072FA51FBB0}"/>
              </a:ext>
            </a:extLst>
          </p:cNvPr>
          <p:cNvSpPr txBox="1"/>
          <p:nvPr/>
        </p:nvSpPr>
        <p:spPr>
          <a:xfrm>
            <a:off x="7292111" y="4443496"/>
            <a:ext cx="481560" cy="82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8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</a:t>
            </a:r>
            <a:endParaRPr lang="en-US" sz="580"/>
          </a:p>
        </p:txBody>
      </p:sp>
      <p:sp>
        <p:nvSpPr>
          <p:cNvPr id="251" name="Text 78">
            <a:extLst>
              <a:ext uri="{FF2B5EF4-FFF2-40B4-BE49-F238E27FC236}">
                <a16:creationId xmlns:a16="http://schemas.microsoft.com/office/drawing/2014/main" id="{E37B0C4E-07C8-5097-D252-9038F9BEE5D5}"/>
              </a:ext>
            </a:extLst>
          </p:cNvPr>
          <p:cNvSpPr txBox="1"/>
          <p:nvPr/>
        </p:nvSpPr>
        <p:spPr>
          <a:xfrm>
            <a:off x="7269989" y="4248585"/>
            <a:ext cx="53797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safety &amp; </a:t>
            </a:r>
          </a:p>
          <a:p>
            <a:pPr marL="0" indent="0" algn="ctr">
              <a:buNone/>
            </a:pPr>
            <a:r>
              <a:rPr lang="en-US" sz="6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time</a:t>
            </a:r>
            <a:endParaRPr lang="en-US" sz="600"/>
          </a:p>
        </p:txBody>
      </p:sp>
      <p:sp>
        <p:nvSpPr>
          <p:cNvPr id="253" name="Shape 79">
            <a:extLst>
              <a:ext uri="{FF2B5EF4-FFF2-40B4-BE49-F238E27FC236}">
                <a16:creationId xmlns:a16="http://schemas.microsoft.com/office/drawing/2014/main" id="{AFFE1955-19D9-8967-4848-B09ABC9F2D02}"/>
              </a:ext>
            </a:extLst>
          </p:cNvPr>
          <p:cNvSpPr/>
          <p:nvPr/>
        </p:nvSpPr>
        <p:spPr>
          <a:xfrm>
            <a:off x="7827386" y="3735324"/>
            <a:ext cx="237744" cy="237744"/>
          </a:xfrm>
          <a:prstGeom prst="ellipse">
            <a:avLst/>
          </a:prstGeom>
          <a:solidFill>
            <a:srgbClr val="1B3A6B"/>
          </a:solidFill>
          <a:ln/>
        </p:spPr>
      </p:sp>
      <p:pic>
        <p:nvPicPr>
          <p:cNvPr id="255" name="Image 17" descr="/home/claude/ppt/icons/running.png">
            <a:extLst>
              <a:ext uri="{FF2B5EF4-FFF2-40B4-BE49-F238E27FC236}">
                <a16:creationId xmlns:a16="http://schemas.microsoft.com/office/drawing/2014/main" id="{2900C6F0-DB4E-76A6-CBBF-3441CA5EBBE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889199" y="3797137"/>
            <a:ext cx="114117" cy="114117"/>
          </a:xfrm>
          <a:prstGeom prst="rect">
            <a:avLst/>
          </a:prstGeom>
        </p:spPr>
      </p:pic>
      <p:sp>
        <p:nvSpPr>
          <p:cNvPr id="257" name="Text 80">
            <a:extLst>
              <a:ext uri="{FF2B5EF4-FFF2-40B4-BE49-F238E27FC236}">
                <a16:creationId xmlns:a16="http://schemas.microsoft.com/office/drawing/2014/main" id="{645C9A71-C0EC-6B3C-F207-B4E0E099B26C}"/>
              </a:ext>
            </a:extLst>
          </p:cNvPr>
          <p:cNvSpPr txBox="1"/>
          <p:nvPr/>
        </p:nvSpPr>
        <p:spPr>
          <a:xfrm>
            <a:off x="7647578" y="4000500"/>
            <a:ext cx="5973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8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Activity</a:t>
            </a:r>
            <a:endParaRPr lang="en-US" sz="580"/>
          </a:p>
        </p:txBody>
      </p:sp>
      <p:sp>
        <p:nvSpPr>
          <p:cNvPr id="259" name="Text 81">
            <a:extLst>
              <a:ext uri="{FF2B5EF4-FFF2-40B4-BE49-F238E27FC236}">
                <a16:creationId xmlns:a16="http://schemas.microsoft.com/office/drawing/2014/main" id="{880693BE-7905-7C1A-9DAF-9EACD45B3242}"/>
              </a:ext>
            </a:extLst>
          </p:cNvPr>
          <p:cNvSpPr txBox="1"/>
          <p:nvPr/>
        </p:nvSpPr>
        <p:spPr>
          <a:xfrm>
            <a:off x="7700410" y="4085984"/>
            <a:ext cx="546970" cy="165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</a:t>
            </a:r>
          </a:p>
          <a:p>
            <a:pPr marL="0" indent="0" algn="ctr">
              <a:buNone/>
            </a:pPr>
            <a:r>
              <a:rPr lang="en-US" sz="6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suitability</a:t>
            </a:r>
            <a:endParaRPr lang="en-US" sz="600"/>
          </a:p>
        </p:txBody>
      </p:sp>
      <p:sp>
        <p:nvSpPr>
          <p:cNvPr id="265" name="Text 83">
            <a:extLst>
              <a:ext uri="{FF2B5EF4-FFF2-40B4-BE49-F238E27FC236}">
                <a16:creationId xmlns:a16="http://schemas.microsoft.com/office/drawing/2014/main" id="{E75EB29C-8319-8790-7C6E-0821BEB5924B}"/>
              </a:ext>
            </a:extLst>
          </p:cNvPr>
          <p:cNvSpPr txBox="1"/>
          <p:nvPr/>
        </p:nvSpPr>
        <p:spPr>
          <a:xfrm>
            <a:off x="8252460" y="4433336"/>
            <a:ext cx="597359" cy="11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8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Manager</a:t>
            </a:r>
            <a:endParaRPr lang="en-US" sz="580"/>
          </a:p>
        </p:txBody>
      </p:sp>
      <p:sp>
        <p:nvSpPr>
          <p:cNvPr id="267" name="Text 84">
            <a:extLst>
              <a:ext uri="{FF2B5EF4-FFF2-40B4-BE49-F238E27FC236}">
                <a16:creationId xmlns:a16="http://schemas.microsoft.com/office/drawing/2014/main" id="{D9CC1D58-EDB2-DA5E-4FBB-85361450D58B}"/>
              </a:ext>
            </a:extLst>
          </p:cNvPr>
          <p:cNvSpPr txBox="1"/>
          <p:nvPr/>
        </p:nvSpPr>
        <p:spPr>
          <a:xfrm>
            <a:off x="8272781" y="4261124"/>
            <a:ext cx="53721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response </a:t>
            </a:r>
          </a:p>
          <a:p>
            <a:pPr marL="0" indent="0" algn="ctr">
              <a:buNone/>
            </a:pPr>
            <a:r>
              <a:rPr lang="en-US" sz="6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alerts</a:t>
            </a:r>
            <a:endParaRPr lang="en-US" sz="600"/>
          </a:p>
        </p:txBody>
      </p:sp>
      <p:sp>
        <p:nvSpPr>
          <p:cNvPr id="269" name="Shape 85">
            <a:extLst>
              <a:ext uri="{FF2B5EF4-FFF2-40B4-BE49-F238E27FC236}">
                <a16:creationId xmlns:a16="http://schemas.microsoft.com/office/drawing/2014/main" id="{34D860A1-86C0-D87B-C087-BDC3E87F59DE}"/>
              </a:ext>
            </a:extLst>
          </p:cNvPr>
          <p:cNvSpPr/>
          <p:nvPr/>
        </p:nvSpPr>
        <p:spPr>
          <a:xfrm>
            <a:off x="9506711" y="4491899"/>
            <a:ext cx="237744" cy="237744"/>
          </a:xfrm>
          <a:prstGeom prst="ellipse">
            <a:avLst/>
          </a:prstGeom>
          <a:solidFill>
            <a:srgbClr val="5B6B7C"/>
          </a:solidFill>
          <a:ln/>
        </p:spPr>
      </p:sp>
      <p:pic>
        <p:nvPicPr>
          <p:cNvPr id="271" name="Image 19" descr="/home/claude/ppt/icons/user.png">
            <a:extLst>
              <a:ext uri="{FF2B5EF4-FFF2-40B4-BE49-F238E27FC236}">
                <a16:creationId xmlns:a16="http://schemas.microsoft.com/office/drawing/2014/main" id="{3AEAF8CF-A0CF-9301-0D95-A006C7B891C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58365" y="4553712"/>
            <a:ext cx="114117" cy="114117"/>
          </a:xfrm>
          <a:prstGeom prst="rect">
            <a:avLst/>
          </a:prstGeom>
        </p:spPr>
      </p:pic>
      <p:sp>
        <p:nvSpPr>
          <p:cNvPr id="273" name="Text 86">
            <a:extLst>
              <a:ext uri="{FF2B5EF4-FFF2-40B4-BE49-F238E27FC236}">
                <a16:creationId xmlns:a16="http://schemas.microsoft.com/office/drawing/2014/main" id="{1D384937-DD7C-930E-50FB-162E59915F6B}"/>
              </a:ext>
            </a:extLst>
          </p:cNvPr>
          <p:cNvSpPr txBox="1"/>
          <p:nvPr/>
        </p:nvSpPr>
        <p:spPr>
          <a:xfrm>
            <a:off x="9309129" y="4423176"/>
            <a:ext cx="597359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8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580"/>
          </a:p>
        </p:txBody>
      </p:sp>
      <p:sp>
        <p:nvSpPr>
          <p:cNvPr id="275" name="Text 87">
            <a:extLst>
              <a:ext uri="{FF2B5EF4-FFF2-40B4-BE49-F238E27FC236}">
                <a16:creationId xmlns:a16="http://schemas.microsoft.com/office/drawing/2014/main" id="{BAA5B8AE-0183-2CDE-BF26-81269E989409}"/>
              </a:ext>
            </a:extLst>
          </p:cNvPr>
          <p:cNvSpPr txBox="1"/>
          <p:nvPr/>
        </p:nvSpPr>
        <p:spPr>
          <a:xfrm>
            <a:off x="9296424" y="4278904"/>
            <a:ext cx="617679" cy="14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clear guidance</a:t>
            </a:r>
            <a:endParaRPr lang="en-US" sz="600"/>
          </a:p>
        </p:txBody>
      </p:sp>
      <p:sp>
        <p:nvSpPr>
          <p:cNvPr id="277" name="Shape 88">
            <a:extLst>
              <a:ext uri="{FF2B5EF4-FFF2-40B4-BE49-F238E27FC236}">
                <a16:creationId xmlns:a16="http://schemas.microsoft.com/office/drawing/2014/main" id="{F4CA7CD8-2694-0C78-CB85-992D7D196ED0}"/>
              </a:ext>
            </a:extLst>
          </p:cNvPr>
          <p:cNvSpPr/>
          <p:nvPr/>
        </p:nvSpPr>
        <p:spPr>
          <a:xfrm>
            <a:off x="10122408" y="1130710"/>
            <a:ext cx="1929384" cy="3807049"/>
          </a:xfrm>
          <a:prstGeom prst="roundRect">
            <a:avLst>
              <a:gd name="adj" fmla="val 2844"/>
            </a:avLst>
          </a:prstGeom>
          <a:solidFill>
            <a:srgbClr val="F1EBFB"/>
          </a:solidFill>
          <a:ln w="9525">
            <a:solidFill>
              <a:srgbClr val="F1EBFB"/>
            </a:solidFill>
            <a:prstDash val="solid"/>
          </a:ln>
        </p:spPr>
      </p:sp>
      <p:sp>
        <p:nvSpPr>
          <p:cNvPr id="279" name="Text 89">
            <a:extLst>
              <a:ext uri="{FF2B5EF4-FFF2-40B4-BE49-F238E27FC236}">
                <a16:creationId xmlns:a16="http://schemas.microsoft.com/office/drawing/2014/main" id="{F64076FC-B959-57F6-87EE-597814575721}"/>
              </a:ext>
            </a:extLst>
          </p:cNvPr>
          <p:cNvSpPr txBox="1"/>
          <p:nvPr/>
        </p:nvSpPr>
        <p:spPr>
          <a:xfrm>
            <a:off x="10213848" y="1113304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5B3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Output &amp; Delivery</a:t>
            </a:r>
            <a:endParaRPr lang="en-US" sz="1100"/>
          </a:p>
        </p:txBody>
      </p:sp>
      <p:sp>
        <p:nvSpPr>
          <p:cNvPr id="281" name="Text 90">
            <a:extLst>
              <a:ext uri="{FF2B5EF4-FFF2-40B4-BE49-F238E27FC236}">
                <a16:creationId xmlns:a16="http://schemas.microsoft.com/office/drawing/2014/main" id="{4C89B42B-4E7D-A587-2C31-27DD35F83AE9}"/>
              </a:ext>
            </a:extLst>
          </p:cNvPr>
          <p:cNvSpPr txBox="1"/>
          <p:nvPr/>
        </p:nvSpPr>
        <p:spPr>
          <a:xfrm>
            <a:off x="10213848" y="1292056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(Multi-Modal)</a:t>
            </a:r>
            <a:endParaRPr lang="en-US" sz="750"/>
          </a:p>
        </p:txBody>
      </p:sp>
      <p:sp>
        <p:nvSpPr>
          <p:cNvPr id="283" name="Shape 91">
            <a:extLst>
              <a:ext uri="{FF2B5EF4-FFF2-40B4-BE49-F238E27FC236}">
                <a16:creationId xmlns:a16="http://schemas.microsoft.com/office/drawing/2014/main" id="{A2187A6E-CD3B-CBB4-7374-03431AD861C8}"/>
              </a:ext>
            </a:extLst>
          </p:cNvPr>
          <p:cNvSpPr/>
          <p:nvPr/>
        </p:nvSpPr>
        <p:spPr>
          <a:xfrm>
            <a:off x="10232136" y="1522476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5B3E9E"/>
          </a:solidFill>
          <a:ln/>
        </p:spPr>
      </p:sp>
      <p:pic>
        <p:nvPicPr>
          <p:cNvPr id="285" name="Image 20" descr="/home/claude/ppt/icons/commentalt.png">
            <a:extLst>
              <a:ext uri="{FF2B5EF4-FFF2-40B4-BE49-F238E27FC236}">
                <a16:creationId xmlns:a16="http://schemas.microsoft.com/office/drawing/2014/main" id="{B3221E41-1C7D-A611-E8DE-7EB5079B602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80416" y="1570756"/>
            <a:ext cx="122895" cy="122895"/>
          </a:xfrm>
          <a:prstGeom prst="rect">
            <a:avLst/>
          </a:prstGeom>
        </p:spPr>
      </p:pic>
      <p:sp>
        <p:nvSpPr>
          <p:cNvPr id="287" name="Text 92">
            <a:extLst>
              <a:ext uri="{FF2B5EF4-FFF2-40B4-BE49-F238E27FC236}">
                <a16:creationId xmlns:a16="http://schemas.microsoft.com/office/drawing/2014/main" id="{D93B0A2A-8568-397D-7754-BFA722F2E245}"/>
              </a:ext>
            </a:extLst>
          </p:cNvPr>
          <p:cNvSpPr txBox="1"/>
          <p:nvPr/>
        </p:nvSpPr>
        <p:spPr>
          <a:xfrm>
            <a:off x="10561320" y="1490472"/>
            <a:ext cx="1380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b="1">
                <a:solidFill>
                  <a:srgbClr val="5B3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Response</a:t>
            </a:r>
            <a:endParaRPr lang="en-US" sz="80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info + actionable advice</a:t>
            </a:r>
            <a:endParaRPr lang="en-US" sz="800"/>
          </a:p>
        </p:txBody>
      </p:sp>
      <p:sp>
        <p:nvSpPr>
          <p:cNvPr id="289" name="Shape 93">
            <a:extLst>
              <a:ext uri="{FF2B5EF4-FFF2-40B4-BE49-F238E27FC236}">
                <a16:creationId xmlns:a16="http://schemas.microsoft.com/office/drawing/2014/main" id="{703C0C05-CF0B-C7F7-34CE-CE3C3F863448}"/>
              </a:ext>
            </a:extLst>
          </p:cNvPr>
          <p:cNvSpPr/>
          <p:nvPr/>
        </p:nvSpPr>
        <p:spPr>
          <a:xfrm>
            <a:off x="10232136" y="1842516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5B3E9E"/>
          </a:solidFill>
          <a:ln/>
        </p:spPr>
      </p:sp>
      <p:pic>
        <p:nvPicPr>
          <p:cNvPr id="291" name="Image 21" descr="/home/claude/ppt/icons/volume.png">
            <a:extLst>
              <a:ext uri="{FF2B5EF4-FFF2-40B4-BE49-F238E27FC236}">
                <a16:creationId xmlns:a16="http://schemas.microsoft.com/office/drawing/2014/main" id="{18BA8E76-E745-C215-AC76-CD64DDC8D2F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80416" y="1890796"/>
            <a:ext cx="122895" cy="122895"/>
          </a:xfrm>
          <a:prstGeom prst="rect">
            <a:avLst/>
          </a:prstGeom>
        </p:spPr>
      </p:pic>
      <p:sp>
        <p:nvSpPr>
          <p:cNvPr id="293" name="Text 94">
            <a:extLst>
              <a:ext uri="{FF2B5EF4-FFF2-40B4-BE49-F238E27FC236}">
                <a16:creationId xmlns:a16="http://schemas.microsoft.com/office/drawing/2014/main" id="{DA84FE42-8CE3-CB60-BF5B-52E38FBA707A}"/>
              </a:ext>
            </a:extLst>
          </p:cNvPr>
          <p:cNvSpPr txBox="1"/>
          <p:nvPr/>
        </p:nvSpPr>
        <p:spPr>
          <a:xfrm>
            <a:off x="10561320" y="1810512"/>
            <a:ext cx="1380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b="1">
                <a:solidFill>
                  <a:srgbClr val="5B3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Response</a:t>
            </a:r>
            <a:endParaRPr lang="en-US" sz="80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in user's language</a:t>
            </a:r>
            <a:endParaRPr lang="en-US" sz="800"/>
          </a:p>
        </p:txBody>
      </p:sp>
      <p:sp>
        <p:nvSpPr>
          <p:cNvPr id="295" name="Shape 95">
            <a:extLst>
              <a:ext uri="{FF2B5EF4-FFF2-40B4-BE49-F238E27FC236}">
                <a16:creationId xmlns:a16="http://schemas.microsoft.com/office/drawing/2014/main" id="{B4F1D168-6F7E-EA1A-AAF8-1D727D6D07B9}"/>
              </a:ext>
            </a:extLst>
          </p:cNvPr>
          <p:cNvSpPr/>
          <p:nvPr/>
        </p:nvSpPr>
        <p:spPr>
          <a:xfrm>
            <a:off x="10232136" y="2162556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5B3E9E"/>
          </a:solidFill>
          <a:ln/>
        </p:spPr>
      </p:sp>
      <p:pic>
        <p:nvPicPr>
          <p:cNvPr id="297" name="Image 22" descr="/home/claude/ppt/icons/smsalt.png">
            <a:extLst>
              <a:ext uri="{FF2B5EF4-FFF2-40B4-BE49-F238E27FC236}">
                <a16:creationId xmlns:a16="http://schemas.microsoft.com/office/drawing/2014/main" id="{67BDF53A-B7BC-8BB1-1BF5-AAE53DDBA08D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280416" y="2210836"/>
            <a:ext cx="122895" cy="122895"/>
          </a:xfrm>
          <a:prstGeom prst="rect">
            <a:avLst/>
          </a:prstGeom>
        </p:spPr>
      </p:pic>
      <p:sp>
        <p:nvSpPr>
          <p:cNvPr id="299" name="Text 96">
            <a:extLst>
              <a:ext uri="{FF2B5EF4-FFF2-40B4-BE49-F238E27FC236}">
                <a16:creationId xmlns:a16="http://schemas.microsoft.com/office/drawing/2014/main" id="{DFC25BC3-684B-6448-DD51-53189A4CD24A}"/>
              </a:ext>
            </a:extLst>
          </p:cNvPr>
          <p:cNvSpPr txBox="1"/>
          <p:nvPr/>
        </p:nvSpPr>
        <p:spPr>
          <a:xfrm>
            <a:off x="10561320" y="2130552"/>
            <a:ext cx="1380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b="1">
                <a:solidFill>
                  <a:srgbClr val="5B3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Response</a:t>
            </a:r>
            <a:endParaRPr lang="en-US" sz="80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low connectivity</a:t>
            </a:r>
            <a:endParaRPr lang="en-US" sz="800"/>
          </a:p>
        </p:txBody>
      </p:sp>
      <p:sp>
        <p:nvSpPr>
          <p:cNvPr id="301" name="Shape 97">
            <a:extLst>
              <a:ext uri="{FF2B5EF4-FFF2-40B4-BE49-F238E27FC236}">
                <a16:creationId xmlns:a16="http://schemas.microsoft.com/office/drawing/2014/main" id="{07787AD1-A7C9-C77C-363E-0553B1EFF9F9}"/>
              </a:ext>
            </a:extLst>
          </p:cNvPr>
          <p:cNvSpPr/>
          <p:nvPr/>
        </p:nvSpPr>
        <p:spPr>
          <a:xfrm>
            <a:off x="10232136" y="2482596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5B3E9E"/>
          </a:solidFill>
          <a:ln/>
        </p:spPr>
      </p:sp>
      <p:pic>
        <p:nvPicPr>
          <p:cNvPr id="303" name="Image 23" descr="/home/claude/ppt/icons/map.png">
            <a:extLst>
              <a:ext uri="{FF2B5EF4-FFF2-40B4-BE49-F238E27FC236}">
                <a16:creationId xmlns:a16="http://schemas.microsoft.com/office/drawing/2014/main" id="{FC0896DA-1080-744B-30D6-42FD9CA0F0C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280416" y="2530876"/>
            <a:ext cx="122895" cy="122895"/>
          </a:xfrm>
          <a:prstGeom prst="rect">
            <a:avLst/>
          </a:prstGeom>
        </p:spPr>
      </p:pic>
      <p:sp>
        <p:nvSpPr>
          <p:cNvPr id="305" name="Text 98">
            <a:extLst>
              <a:ext uri="{FF2B5EF4-FFF2-40B4-BE49-F238E27FC236}">
                <a16:creationId xmlns:a16="http://schemas.microsoft.com/office/drawing/2014/main" id="{9C2FF211-D2C2-CAC0-1C51-5B05732E9A41}"/>
              </a:ext>
            </a:extLst>
          </p:cNvPr>
          <p:cNvSpPr txBox="1"/>
          <p:nvPr/>
        </p:nvSpPr>
        <p:spPr>
          <a:xfrm>
            <a:off x="10561320" y="2414306"/>
            <a:ext cx="1380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b="1">
                <a:solidFill>
                  <a:srgbClr val="5B3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</a:t>
            </a:r>
            <a:endParaRPr lang="en-US" sz="80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radar, layers, route weather, alerts</a:t>
            </a:r>
            <a:endParaRPr lang="en-US" sz="800"/>
          </a:p>
        </p:txBody>
      </p:sp>
      <p:sp>
        <p:nvSpPr>
          <p:cNvPr id="307" name="Shape 99">
            <a:extLst>
              <a:ext uri="{FF2B5EF4-FFF2-40B4-BE49-F238E27FC236}">
                <a16:creationId xmlns:a16="http://schemas.microsoft.com/office/drawing/2014/main" id="{8FE28D08-69DE-85F0-0EC9-2522D36DD8D2}"/>
              </a:ext>
            </a:extLst>
          </p:cNvPr>
          <p:cNvSpPr/>
          <p:nvPr/>
        </p:nvSpPr>
        <p:spPr>
          <a:xfrm>
            <a:off x="10232136" y="2802636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5B3E9E"/>
          </a:solidFill>
          <a:ln/>
        </p:spPr>
      </p:sp>
      <p:pic>
        <p:nvPicPr>
          <p:cNvPr id="309" name="Image 24" descr="/home/claude/ppt/icons/bell.png">
            <a:extLst>
              <a:ext uri="{FF2B5EF4-FFF2-40B4-BE49-F238E27FC236}">
                <a16:creationId xmlns:a16="http://schemas.microsoft.com/office/drawing/2014/main" id="{CD5A6179-1DC3-B2B2-F093-663AB49FA858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280416" y="2850916"/>
            <a:ext cx="122895" cy="122895"/>
          </a:xfrm>
          <a:prstGeom prst="rect">
            <a:avLst/>
          </a:prstGeom>
        </p:spPr>
      </p:pic>
      <p:sp>
        <p:nvSpPr>
          <p:cNvPr id="311" name="Text 100">
            <a:extLst>
              <a:ext uri="{FF2B5EF4-FFF2-40B4-BE49-F238E27FC236}">
                <a16:creationId xmlns:a16="http://schemas.microsoft.com/office/drawing/2014/main" id="{8214FE24-A3E1-044A-3430-4F450301802C}"/>
              </a:ext>
            </a:extLst>
          </p:cNvPr>
          <p:cNvSpPr txBox="1"/>
          <p:nvPr/>
        </p:nvSpPr>
        <p:spPr>
          <a:xfrm>
            <a:off x="10561320" y="2770632"/>
            <a:ext cx="1380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b="1">
                <a:solidFill>
                  <a:srgbClr val="5B3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Alerts</a:t>
            </a:r>
            <a:endParaRPr lang="en-US" sz="80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/ scheduled</a:t>
            </a:r>
            <a:endParaRPr lang="en-US" sz="800"/>
          </a:p>
        </p:txBody>
      </p:sp>
      <p:sp>
        <p:nvSpPr>
          <p:cNvPr id="313" name="Shape 101">
            <a:extLst>
              <a:ext uri="{FF2B5EF4-FFF2-40B4-BE49-F238E27FC236}">
                <a16:creationId xmlns:a16="http://schemas.microsoft.com/office/drawing/2014/main" id="{A5E51544-D880-069A-104B-BA02B366740B}"/>
              </a:ext>
            </a:extLst>
          </p:cNvPr>
          <p:cNvSpPr/>
          <p:nvPr/>
        </p:nvSpPr>
        <p:spPr>
          <a:xfrm>
            <a:off x="10232136" y="3122676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5B3E9E"/>
          </a:solidFill>
          <a:ln/>
        </p:spPr>
      </p:sp>
      <p:pic>
        <p:nvPicPr>
          <p:cNvPr id="315" name="Image 25" descr="/home/claude/ppt/icons/chartline.png">
            <a:extLst>
              <a:ext uri="{FF2B5EF4-FFF2-40B4-BE49-F238E27FC236}">
                <a16:creationId xmlns:a16="http://schemas.microsoft.com/office/drawing/2014/main" id="{6D8FB08D-0D7B-24BA-5168-4993273EA1A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280416" y="3170956"/>
            <a:ext cx="122895" cy="122895"/>
          </a:xfrm>
          <a:prstGeom prst="rect">
            <a:avLst/>
          </a:prstGeom>
        </p:spPr>
      </p:pic>
      <p:sp>
        <p:nvSpPr>
          <p:cNvPr id="317" name="Text 102">
            <a:extLst>
              <a:ext uri="{FF2B5EF4-FFF2-40B4-BE49-F238E27FC236}">
                <a16:creationId xmlns:a16="http://schemas.microsoft.com/office/drawing/2014/main" id="{6899F090-B1CA-8B55-1673-93706AD4D1F2}"/>
              </a:ext>
            </a:extLst>
          </p:cNvPr>
          <p:cNvSpPr txBox="1"/>
          <p:nvPr/>
        </p:nvSpPr>
        <p:spPr>
          <a:xfrm>
            <a:off x="10561320" y="3090672"/>
            <a:ext cx="1380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b="1">
                <a:solidFill>
                  <a:srgbClr val="5B3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Insights</a:t>
            </a:r>
            <a:endParaRPr lang="en-US" sz="80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comparisons, trends</a:t>
            </a:r>
            <a:endParaRPr lang="en-US" sz="800"/>
          </a:p>
        </p:txBody>
      </p:sp>
      <p:sp>
        <p:nvSpPr>
          <p:cNvPr id="319" name="Shape 103">
            <a:extLst>
              <a:ext uri="{FF2B5EF4-FFF2-40B4-BE49-F238E27FC236}">
                <a16:creationId xmlns:a16="http://schemas.microsoft.com/office/drawing/2014/main" id="{72D242C7-8DB1-DEC3-76E9-7AA5E320A178}"/>
              </a:ext>
            </a:extLst>
          </p:cNvPr>
          <p:cNvSpPr/>
          <p:nvPr/>
        </p:nvSpPr>
        <p:spPr>
          <a:xfrm>
            <a:off x="10213848" y="3474720"/>
            <a:ext cx="1746504" cy="1344168"/>
          </a:xfrm>
          <a:prstGeom prst="roundRect">
            <a:avLst>
              <a:gd name="adj" fmla="val 4082"/>
            </a:avLst>
          </a:prstGeom>
          <a:solidFill>
            <a:srgbClr val="FBE9EC"/>
          </a:solidFill>
          <a:ln w="9525">
            <a:solidFill>
              <a:srgbClr val="E7B6C0"/>
            </a:solidFill>
            <a:prstDash val="solid"/>
          </a:ln>
        </p:spPr>
      </p:sp>
      <p:sp>
        <p:nvSpPr>
          <p:cNvPr id="321" name="Text 104">
            <a:extLst>
              <a:ext uri="{FF2B5EF4-FFF2-40B4-BE49-F238E27FC236}">
                <a16:creationId xmlns:a16="http://schemas.microsoft.com/office/drawing/2014/main" id="{2C229CBC-AE9B-0F0F-527E-882AA31D212E}"/>
              </a:ext>
            </a:extLst>
          </p:cNvPr>
          <p:cNvSpPr txBox="1"/>
          <p:nvPr/>
        </p:nvSpPr>
        <p:spPr>
          <a:xfrm>
            <a:off x="10305288" y="3538728"/>
            <a:ext cx="1563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A3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Response (SMS)</a:t>
            </a:r>
            <a:endParaRPr lang="en-US" sz="900"/>
          </a:p>
        </p:txBody>
      </p:sp>
      <p:sp>
        <p:nvSpPr>
          <p:cNvPr id="323" name="Text 105">
            <a:extLst>
              <a:ext uri="{FF2B5EF4-FFF2-40B4-BE49-F238E27FC236}">
                <a16:creationId xmlns:a16="http://schemas.microsoft.com/office/drawing/2014/main" id="{0C04FE36-3427-8884-6997-C61403658141}"/>
              </a:ext>
            </a:extLst>
          </p:cNvPr>
          <p:cNvSpPr txBox="1"/>
          <p:nvPr/>
        </p:nvSpPr>
        <p:spPr>
          <a:xfrm>
            <a:off x="10305288" y="3749040"/>
            <a:ext cx="15636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i="1">
                <a:solidFill>
                  <a:srgbClr val="6B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Madurai (13 Sep): 70% chance of rain. Carry umbrella. Avoid outdoor activities in evening. – WeatherGPT</a:t>
            </a:r>
            <a:endParaRPr lang="en-US" sz="720"/>
          </a:p>
        </p:txBody>
      </p:sp>
      <p:sp>
        <p:nvSpPr>
          <p:cNvPr id="325" name="Shape 106">
            <a:extLst>
              <a:ext uri="{FF2B5EF4-FFF2-40B4-BE49-F238E27FC236}">
                <a16:creationId xmlns:a16="http://schemas.microsoft.com/office/drawing/2014/main" id="{D4B290F8-265E-8FE9-58CA-77A4972C0DFC}"/>
              </a:ext>
            </a:extLst>
          </p:cNvPr>
          <p:cNvSpPr/>
          <p:nvPr/>
        </p:nvSpPr>
        <p:spPr>
          <a:xfrm>
            <a:off x="1911096" y="2455164"/>
            <a:ext cx="274320" cy="146304"/>
          </a:xfrm>
          <a:prstGeom prst="rightArrow">
            <a:avLst/>
          </a:prstGeom>
          <a:solidFill>
            <a:srgbClr val="15294D"/>
          </a:solidFill>
          <a:ln/>
        </p:spPr>
      </p:sp>
      <p:sp>
        <p:nvSpPr>
          <p:cNvPr id="327" name="Shape 107">
            <a:extLst>
              <a:ext uri="{FF2B5EF4-FFF2-40B4-BE49-F238E27FC236}">
                <a16:creationId xmlns:a16="http://schemas.microsoft.com/office/drawing/2014/main" id="{B5BB57CB-D60E-9128-FE2B-E5AAEF24E2B2}"/>
              </a:ext>
            </a:extLst>
          </p:cNvPr>
          <p:cNvSpPr/>
          <p:nvPr/>
        </p:nvSpPr>
        <p:spPr>
          <a:xfrm>
            <a:off x="4106672" y="2963164"/>
            <a:ext cx="274320" cy="146304"/>
          </a:xfrm>
          <a:prstGeom prst="rightArrow">
            <a:avLst/>
          </a:prstGeom>
          <a:solidFill>
            <a:srgbClr val="15294D"/>
          </a:solidFill>
          <a:ln/>
        </p:spPr>
      </p:sp>
      <p:sp>
        <p:nvSpPr>
          <p:cNvPr id="329" name="Shape 108">
            <a:extLst>
              <a:ext uri="{FF2B5EF4-FFF2-40B4-BE49-F238E27FC236}">
                <a16:creationId xmlns:a16="http://schemas.microsoft.com/office/drawing/2014/main" id="{026A45CE-2E7E-BC98-0A36-CB42E4095723}"/>
              </a:ext>
            </a:extLst>
          </p:cNvPr>
          <p:cNvSpPr/>
          <p:nvPr/>
        </p:nvSpPr>
        <p:spPr>
          <a:xfrm>
            <a:off x="9948672" y="2455164"/>
            <a:ext cx="274320" cy="146304"/>
          </a:xfrm>
          <a:prstGeom prst="rightArrow">
            <a:avLst/>
          </a:prstGeom>
          <a:solidFill>
            <a:srgbClr val="15294D"/>
          </a:solidFill>
          <a:ln/>
        </p:spPr>
      </p:sp>
      <p:sp>
        <p:nvSpPr>
          <p:cNvPr id="331" name="Shape 109">
            <a:extLst>
              <a:ext uri="{FF2B5EF4-FFF2-40B4-BE49-F238E27FC236}">
                <a16:creationId xmlns:a16="http://schemas.microsoft.com/office/drawing/2014/main" id="{3A5843EB-9695-8845-1D56-49B626C35196}"/>
              </a:ext>
            </a:extLst>
          </p:cNvPr>
          <p:cNvSpPr/>
          <p:nvPr/>
        </p:nvSpPr>
        <p:spPr>
          <a:xfrm>
            <a:off x="3712464" y="1810512"/>
            <a:ext cx="667512" cy="128016"/>
          </a:xfrm>
          <a:prstGeom prst="rightArrow">
            <a:avLst/>
          </a:prstGeom>
          <a:solidFill>
            <a:srgbClr val="1E7A46"/>
          </a:solidFill>
          <a:ln/>
        </p:spPr>
      </p:sp>
      <p:sp>
        <p:nvSpPr>
          <p:cNvPr id="333" name="Shape 110">
            <a:extLst>
              <a:ext uri="{FF2B5EF4-FFF2-40B4-BE49-F238E27FC236}">
                <a16:creationId xmlns:a16="http://schemas.microsoft.com/office/drawing/2014/main" id="{8AA084E7-4F87-C01C-CBD2-F4B4A6F15C40}"/>
              </a:ext>
            </a:extLst>
          </p:cNvPr>
          <p:cNvSpPr/>
          <p:nvPr/>
        </p:nvSpPr>
        <p:spPr>
          <a:xfrm>
            <a:off x="3063240" y="2459736"/>
            <a:ext cx="146304" cy="128016"/>
          </a:xfrm>
          <a:prstGeom prst="downArrow">
            <a:avLst/>
          </a:prstGeom>
          <a:solidFill>
            <a:srgbClr val="E8483C"/>
          </a:solidFill>
          <a:ln/>
        </p:spPr>
      </p:sp>
      <p:sp>
        <p:nvSpPr>
          <p:cNvPr id="339" name="Text 113">
            <a:extLst>
              <a:ext uri="{FF2B5EF4-FFF2-40B4-BE49-F238E27FC236}">
                <a16:creationId xmlns:a16="http://schemas.microsoft.com/office/drawing/2014/main" id="{DF4DEF63-D87C-D571-5D0C-9B6BF43019CF}"/>
              </a:ext>
            </a:extLst>
          </p:cNvPr>
          <p:cNvSpPr txBox="1"/>
          <p:nvPr/>
        </p:nvSpPr>
        <p:spPr>
          <a:xfrm>
            <a:off x="3453892" y="3109976"/>
            <a:ext cx="1132840" cy="105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to LLM Layer 1</a:t>
            </a:r>
            <a:endParaRPr lang="en-US" sz="700"/>
          </a:p>
        </p:txBody>
      </p:sp>
      <p:sp>
        <p:nvSpPr>
          <p:cNvPr id="345" name="Text 116">
            <a:extLst>
              <a:ext uri="{FF2B5EF4-FFF2-40B4-BE49-F238E27FC236}">
                <a16:creationId xmlns:a16="http://schemas.microsoft.com/office/drawing/2014/main" id="{B54DB104-6163-73DE-E993-A1CB8EEFD7E6}"/>
              </a:ext>
            </a:extLst>
          </p:cNvPr>
          <p:cNvSpPr txBox="1"/>
          <p:nvPr/>
        </p:nvSpPr>
        <p:spPr>
          <a:xfrm>
            <a:off x="1660652" y="4662424"/>
            <a:ext cx="3205480" cy="136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B4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(via SMS / Voice)</a:t>
            </a:r>
            <a:endParaRPr lang="en-US" sz="800"/>
          </a:p>
        </p:txBody>
      </p:sp>
      <p:sp>
        <p:nvSpPr>
          <p:cNvPr id="347" name="Shape 117">
            <a:extLst>
              <a:ext uri="{FF2B5EF4-FFF2-40B4-BE49-F238E27FC236}">
                <a16:creationId xmlns:a16="http://schemas.microsoft.com/office/drawing/2014/main" id="{F2196312-E53F-2D53-800D-FC732912563F}"/>
              </a:ext>
            </a:extLst>
          </p:cNvPr>
          <p:cNvSpPr/>
          <p:nvPr/>
        </p:nvSpPr>
        <p:spPr>
          <a:xfrm>
            <a:off x="5242560" y="2468880"/>
            <a:ext cx="91440" cy="118872"/>
          </a:xfrm>
          <a:prstGeom prst="rightArrow">
            <a:avLst/>
          </a:prstGeom>
          <a:solidFill>
            <a:srgbClr val="1B3A6B"/>
          </a:solidFill>
          <a:ln/>
        </p:spPr>
      </p:sp>
      <p:sp>
        <p:nvSpPr>
          <p:cNvPr id="349" name="Shape 118">
            <a:extLst>
              <a:ext uri="{FF2B5EF4-FFF2-40B4-BE49-F238E27FC236}">
                <a16:creationId xmlns:a16="http://schemas.microsoft.com/office/drawing/2014/main" id="{F32E2467-F7C8-558D-E15E-A644DC6FF432}"/>
              </a:ext>
            </a:extLst>
          </p:cNvPr>
          <p:cNvSpPr/>
          <p:nvPr/>
        </p:nvSpPr>
        <p:spPr>
          <a:xfrm>
            <a:off x="6178296" y="2468880"/>
            <a:ext cx="91440" cy="118872"/>
          </a:xfrm>
          <a:prstGeom prst="rightArrow">
            <a:avLst/>
          </a:prstGeom>
          <a:solidFill>
            <a:srgbClr val="1B3A6B"/>
          </a:solidFill>
          <a:ln/>
        </p:spPr>
      </p:sp>
      <p:sp>
        <p:nvSpPr>
          <p:cNvPr id="351" name="Shape 119">
            <a:extLst>
              <a:ext uri="{FF2B5EF4-FFF2-40B4-BE49-F238E27FC236}">
                <a16:creationId xmlns:a16="http://schemas.microsoft.com/office/drawing/2014/main" id="{172D20BB-3CA8-3BAD-4DF6-3E0FC71F4424}"/>
              </a:ext>
            </a:extLst>
          </p:cNvPr>
          <p:cNvSpPr/>
          <p:nvPr/>
        </p:nvSpPr>
        <p:spPr>
          <a:xfrm>
            <a:off x="7114032" y="2468880"/>
            <a:ext cx="91440" cy="118872"/>
          </a:xfrm>
          <a:prstGeom prst="rightArrow">
            <a:avLst/>
          </a:prstGeom>
          <a:solidFill>
            <a:srgbClr val="1B3A6B"/>
          </a:solidFill>
          <a:ln/>
        </p:spPr>
      </p:sp>
      <p:sp>
        <p:nvSpPr>
          <p:cNvPr id="353" name="Shape 120">
            <a:extLst>
              <a:ext uri="{FF2B5EF4-FFF2-40B4-BE49-F238E27FC236}">
                <a16:creationId xmlns:a16="http://schemas.microsoft.com/office/drawing/2014/main" id="{795E25CC-0B23-FD67-9717-F10A3CC8C6C4}"/>
              </a:ext>
            </a:extLst>
          </p:cNvPr>
          <p:cNvSpPr/>
          <p:nvPr/>
        </p:nvSpPr>
        <p:spPr>
          <a:xfrm>
            <a:off x="8049768" y="2468880"/>
            <a:ext cx="91440" cy="118872"/>
          </a:xfrm>
          <a:prstGeom prst="rightArrow">
            <a:avLst/>
          </a:prstGeom>
          <a:solidFill>
            <a:srgbClr val="1B3A6B"/>
          </a:solidFill>
          <a:ln/>
        </p:spPr>
      </p:sp>
      <p:sp>
        <p:nvSpPr>
          <p:cNvPr id="355" name="Shape 121">
            <a:extLst>
              <a:ext uri="{FF2B5EF4-FFF2-40B4-BE49-F238E27FC236}">
                <a16:creationId xmlns:a16="http://schemas.microsoft.com/office/drawing/2014/main" id="{802DC37A-5CDD-62A3-1162-B284C88E4868}"/>
              </a:ext>
            </a:extLst>
          </p:cNvPr>
          <p:cNvSpPr/>
          <p:nvPr/>
        </p:nvSpPr>
        <p:spPr>
          <a:xfrm>
            <a:off x="8985504" y="2468880"/>
            <a:ext cx="91440" cy="118872"/>
          </a:xfrm>
          <a:prstGeom prst="rightArrow">
            <a:avLst/>
          </a:prstGeom>
          <a:solidFill>
            <a:srgbClr val="1B3A6B"/>
          </a:solidFill>
          <a:ln/>
        </p:spPr>
      </p:sp>
      <p:sp>
        <p:nvSpPr>
          <p:cNvPr id="357" name="Shape 122">
            <a:extLst>
              <a:ext uri="{FF2B5EF4-FFF2-40B4-BE49-F238E27FC236}">
                <a16:creationId xmlns:a16="http://schemas.microsoft.com/office/drawing/2014/main" id="{F58466B0-E60C-D52D-8D09-56AC7381E06C}"/>
              </a:ext>
            </a:extLst>
          </p:cNvPr>
          <p:cNvSpPr/>
          <p:nvPr/>
        </p:nvSpPr>
        <p:spPr>
          <a:xfrm>
            <a:off x="4820412" y="1545336"/>
            <a:ext cx="0" cy="109728"/>
          </a:xfrm>
          <a:prstGeom prst="line">
            <a:avLst/>
          </a:prstGeom>
          <a:noFill/>
          <a:ln w="15875">
            <a:solidFill>
              <a:srgbClr val="5B3E9E"/>
            </a:solidFill>
            <a:prstDash val="solid"/>
            <a:headEnd type="triangle"/>
            <a:tailEnd type="triangle"/>
          </a:ln>
        </p:spPr>
      </p:sp>
      <p:sp>
        <p:nvSpPr>
          <p:cNvPr id="359" name="Shape 123">
            <a:extLst>
              <a:ext uri="{FF2B5EF4-FFF2-40B4-BE49-F238E27FC236}">
                <a16:creationId xmlns:a16="http://schemas.microsoft.com/office/drawing/2014/main" id="{B917296D-9D7A-EE88-C296-36AE586E529E}"/>
              </a:ext>
            </a:extLst>
          </p:cNvPr>
          <p:cNvSpPr/>
          <p:nvPr/>
        </p:nvSpPr>
        <p:spPr>
          <a:xfrm>
            <a:off x="9499092" y="1545336"/>
            <a:ext cx="0" cy="109728"/>
          </a:xfrm>
          <a:prstGeom prst="line">
            <a:avLst/>
          </a:prstGeom>
          <a:noFill/>
          <a:ln w="15875">
            <a:solidFill>
              <a:srgbClr val="5B3E9E"/>
            </a:solidFill>
            <a:prstDash val="solid"/>
            <a:headEnd type="triangle"/>
            <a:tailEnd type="triangle"/>
          </a:ln>
        </p:spPr>
      </p:sp>
      <p:sp>
        <p:nvSpPr>
          <p:cNvPr id="361" name="Shape 124">
            <a:extLst>
              <a:ext uri="{FF2B5EF4-FFF2-40B4-BE49-F238E27FC236}">
                <a16:creationId xmlns:a16="http://schemas.microsoft.com/office/drawing/2014/main" id="{FBDB1E53-4B57-D152-114F-C3A9598066F4}"/>
              </a:ext>
            </a:extLst>
          </p:cNvPr>
          <p:cNvSpPr/>
          <p:nvPr/>
        </p:nvSpPr>
        <p:spPr>
          <a:xfrm>
            <a:off x="7627620" y="3401568"/>
            <a:ext cx="0" cy="118872"/>
          </a:xfrm>
          <a:prstGeom prst="line">
            <a:avLst/>
          </a:prstGeom>
          <a:noFill/>
          <a:ln w="19050">
            <a:solidFill>
              <a:srgbClr val="A31E33"/>
            </a:solidFill>
            <a:prstDash val="solid"/>
            <a:headEnd type="none"/>
            <a:tailEnd type="triangle"/>
          </a:ln>
        </p:spPr>
      </p:sp>
      <p:sp>
        <p:nvSpPr>
          <p:cNvPr id="363" name="Shape 125">
            <a:extLst>
              <a:ext uri="{FF2B5EF4-FFF2-40B4-BE49-F238E27FC236}">
                <a16:creationId xmlns:a16="http://schemas.microsoft.com/office/drawing/2014/main" id="{E636C6F1-B50F-4C99-B0E9-ADDB024690F3}"/>
              </a:ext>
            </a:extLst>
          </p:cNvPr>
          <p:cNvSpPr/>
          <p:nvPr/>
        </p:nvSpPr>
        <p:spPr>
          <a:xfrm>
            <a:off x="8563356" y="3401568"/>
            <a:ext cx="0" cy="118872"/>
          </a:xfrm>
          <a:prstGeom prst="line">
            <a:avLst/>
          </a:prstGeom>
          <a:noFill/>
          <a:ln w="19050">
            <a:solidFill>
              <a:srgbClr val="5B3E9E"/>
            </a:solidFill>
            <a:prstDash val="solid"/>
            <a:headEnd type="triangle"/>
            <a:tailEnd type="none"/>
          </a:ln>
        </p:spPr>
      </p:sp>
      <p:sp>
        <p:nvSpPr>
          <p:cNvPr id="365" name="Shape 126">
            <a:extLst>
              <a:ext uri="{FF2B5EF4-FFF2-40B4-BE49-F238E27FC236}">
                <a16:creationId xmlns:a16="http://schemas.microsoft.com/office/drawing/2014/main" id="{EBD9B70C-DEB6-7730-6442-9CB226811DC3}"/>
              </a:ext>
            </a:extLst>
          </p:cNvPr>
          <p:cNvSpPr/>
          <p:nvPr/>
        </p:nvSpPr>
        <p:spPr>
          <a:xfrm>
            <a:off x="137160" y="5029200"/>
            <a:ext cx="3611880" cy="1051560"/>
          </a:xfrm>
          <a:prstGeom prst="roundRect">
            <a:avLst>
              <a:gd name="adj" fmla="val 5217"/>
            </a:avLst>
          </a:prstGeom>
          <a:solidFill>
            <a:srgbClr val="E8F7EE"/>
          </a:solidFill>
          <a:ln w="9525">
            <a:solidFill>
              <a:srgbClr val="E8F7EE"/>
            </a:solidFill>
            <a:prstDash val="solid"/>
          </a:ln>
        </p:spPr>
      </p:sp>
      <p:sp>
        <p:nvSpPr>
          <p:cNvPr id="367" name="Text 127">
            <a:extLst>
              <a:ext uri="{FF2B5EF4-FFF2-40B4-BE49-F238E27FC236}">
                <a16:creationId xmlns:a16="http://schemas.microsoft.com/office/drawing/2014/main" id="{040D806E-D162-8C3E-54B7-8DFEF280F451}"/>
              </a:ext>
            </a:extLst>
          </p:cNvPr>
          <p:cNvSpPr txBox="1"/>
          <p:nvPr/>
        </p:nvSpPr>
        <p:spPr>
          <a:xfrm>
            <a:off x="246888" y="5074920"/>
            <a:ext cx="3392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Weather Data Sources</a:t>
            </a:r>
            <a:endParaRPr lang="en-US" sz="950"/>
          </a:p>
        </p:txBody>
      </p:sp>
      <p:sp>
        <p:nvSpPr>
          <p:cNvPr id="369" name="Shape 128">
            <a:extLst>
              <a:ext uri="{FF2B5EF4-FFF2-40B4-BE49-F238E27FC236}">
                <a16:creationId xmlns:a16="http://schemas.microsoft.com/office/drawing/2014/main" id="{6316FDDD-9C2A-A3FB-8AB6-24CBFDAF9D65}"/>
              </a:ext>
            </a:extLst>
          </p:cNvPr>
          <p:cNvSpPr/>
          <p:nvPr/>
        </p:nvSpPr>
        <p:spPr>
          <a:xfrm>
            <a:off x="448970" y="5321808"/>
            <a:ext cx="274320" cy="274320"/>
          </a:xfrm>
          <a:prstGeom prst="ellipse">
            <a:avLst/>
          </a:prstGeom>
          <a:solidFill>
            <a:srgbClr val="1E7A46"/>
          </a:solidFill>
          <a:ln/>
        </p:spPr>
      </p:sp>
      <p:pic>
        <p:nvPicPr>
          <p:cNvPr id="371" name="Image 26" descr="/home/claude/ppt/icons/landmark.png">
            <a:extLst>
              <a:ext uri="{FF2B5EF4-FFF2-40B4-BE49-F238E27FC236}">
                <a16:creationId xmlns:a16="http://schemas.microsoft.com/office/drawing/2014/main" id="{D9039450-6BF9-A923-3B86-C986A12B2B9A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20294" y="5393131"/>
            <a:ext cx="131674" cy="131674"/>
          </a:xfrm>
          <a:prstGeom prst="rect">
            <a:avLst/>
          </a:prstGeom>
        </p:spPr>
      </p:pic>
      <p:sp>
        <p:nvSpPr>
          <p:cNvPr id="373" name="Text 129">
            <a:extLst>
              <a:ext uri="{FF2B5EF4-FFF2-40B4-BE49-F238E27FC236}">
                <a16:creationId xmlns:a16="http://schemas.microsoft.com/office/drawing/2014/main" id="{BDBD645E-1D9C-E30F-EACF-E1EB6DB00CC1}"/>
              </a:ext>
            </a:extLst>
          </p:cNvPr>
          <p:cNvSpPr txBox="1"/>
          <p:nvPr/>
        </p:nvSpPr>
        <p:spPr>
          <a:xfrm>
            <a:off x="246888" y="5632704"/>
            <a:ext cx="6784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</a:t>
            </a:r>
            <a:endParaRPr lang="en-US" sz="800"/>
          </a:p>
        </p:txBody>
      </p:sp>
      <p:sp>
        <p:nvSpPr>
          <p:cNvPr id="375" name="Text 130">
            <a:extLst>
              <a:ext uri="{FF2B5EF4-FFF2-40B4-BE49-F238E27FC236}">
                <a16:creationId xmlns:a16="http://schemas.microsoft.com/office/drawing/2014/main" id="{A1132339-CA07-A51E-B012-EDF910D0B4E0}"/>
              </a:ext>
            </a:extLst>
          </p:cNvPr>
          <p:cNvSpPr txBox="1"/>
          <p:nvPr/>
        </p:nvSpPr>
        <p:spPr>
          <a:xfrm>
            <a:off x="246888" y="5806440"/>
            <a:ext cx="6784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&amp; Warnings</a:t>
            </a:r>
            <a:endParaRPr lang="en-US" sz="800"/>
          </a:p>
        </p:txBody>
      </p:sp>
      <p:sp>
        <p:nvSpPr>
          <p:cNvPr id="377" name="Shape 131">
            <a:extLst>
              <a:ext uri="{FF2B5EF4-FFF2-40B4-BE49-F238E27FC236}">
                <a16:creationId xmlns:a16="http://schemas.microsoft.com/office/drawing/2014/main" id="{0E731208-C4A0-57A0-075C-0E203BCEF4E6}"/>
              </a:ext>
            </a:extLst>
          </p:cNvPr>
          <p:cNvSpPr/>
          <p:nvPr/>
        </p:nvSpPr>
        <p:spPr>
          <a:xfrm>
            <a:off x="1127455" y="5321808"/>
            <a:ext cx="274320" cy="274320"/>
          </a:xfrm>
          <a:prstGeom prst="ellipse">
            <a:avLst/>
          </a:prstGeom>
          <a:solidFill>
            <a:srgbClr val="1E7A46"/>
          </a:solidFill>
          <a:ln/>
        </p:spPr>
      </p:sp>
      <p:pic>
        <p:nvPicPr>
          <p:cNvPr id="379" name="Image 27" descr="/home/claude/ppt/icons/globe.png">
            <a:extLst>
              <a:ext uri="{FF2B5EF4-FFF2-40B4-BE49-F238E27FC236}">
                <a16:creationId xmlns:a16="http://schemas.microsoft.com/office/drawing/2014/main" id="{62F0E593-84CA-2D7A-C1F0-4A272B6276A3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98778" y="5393131"/>
            <a:ext cx="131674" cy="131674"/>
          </a:xfrm>
          <a:prstGeom prst="rect">
            <a:avLst/>
          </a:prstGeom>
        </p:spPr>
      </p:pic>
      <p:sp>
        <p:nvSpPr>
          <p:cNvPr id="381" name="Text 132">
            <a:extLst>
              <a:ext uri="{FF2B5EF4-FFF2-40B4-BE49-F238E27FC236}">
                <a16:creationId xmlns:a16="http://schemas.microsoft.com/office/drawing/2014/main" id="{C77F8593-ACDC-CAB9-729D-3710E59C93D6}"/>
              </a:ext>
            </a:extLst>
          </p:cNvPr>
          <p:cNvSpPr txBox="1"/>
          <p:nvPr/>
        </p:nvSpPr>
        <p:spPr>
          <a:xfrm>
            <a:off x="925373" y="5632704"/>
            <a:ext cx="6784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GFS</a:t>
            </a:r>
            <a:endParaRPr lang="en-US" sz="800"/>
          </a:p>
        </p:txBody>
      </p:sp>
      <p:sp>
        <p:nvSpPr>
          <p:cNvPr id="383" name="Text 133">
            <a:extLst>
              <a:ext uri="{FF2B5EF4-FFF2-40B4-BE49-F238E27FC236}">
                <a16:creationId xmlns:a16="http://schemas.microsoft.com/office/drawing/2014/main" id="{C298C2CC-4207-0E62-13B7-139339C3F44A}"/>
              </a:ext>
            </a:extLst>
          </p:cNvPr>
          <p:cNvSpPr txBox="1"/>
          <p:nvPr/>
        </p:nvSpPr>
        <p:spPr>
          <a:xfrm>
            <a:off x="925373" y="5806440"/>
            <a:ext cx="6784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NWP Forecast</a:t>
            </a:r>
            <a:endParaRPr lang="en-US" sz="800"/>
          </a:p>
        </p:txBody>
      </p:sp>
      <p:sp>
        <p:nvSpPr>
          <p:cNvPr id="385" name="Shape 134">
            <a:extLst>
              <a:ext uri="{FF2B5EF4-FFF2-40B4-BE49-F238E27FC236}">
                <a16:creationId xmlns:a16="http://schemas.microsoft.com/office/drawing/2014/main" id="{DE84BCD5-EBFF-1854-B173-EA4F2C03B5EC}"/>
              </a:ext>
            </a:extLst>
          </p:cNvPr>
          <p:cNvSpPr/>
          <p:nvPr/>
        </p:nvSpPr>
        <p:spPr>
          <a:xfrm>
            <a:off x="1805940" y="5321808"/>
            <a:ext cx="274320" cy="274320"/>
          </a:xfrm>
          <a:prstGeom prst="ellipse">
            <a:avLst/>
          </a:prstGeom>
          <a:solidFill>
            <a:srgbClr val="1E7A46"/>
          </a:solidFill>
          <a:ln/>
        </p:spPr>
      </p:sp>
      <p:pic>
        <p:nvPicPr>
          <p:cNvPr id="387" name="Image 28" descr="/home/claude/ppt/icons/cloud.png">
            <a:extLst>
              <a:ext uri="{FF2B5EF4-FFF2-40B4-BE49-F238E27FC236}">
                <a16:creationId xmlns:a16="http://schemas.microsoft.com/office/drawing/2014/main" id="{2902845E-63D7-8140-DF22-507C76BFBE8E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877263" y="5393131"/>
            <a:ext cx="131674" cy="131674"/>
          </a:xfrm>
          <a:prstGeom prst="rect">
            <a:avLst/>
          </a:prstGeom>
        </p:spPr>
      </p:pic>
      <p:sp>
        <p:nvSpPr>
          <p:cNvPr id="389" name="Text 135">
            <a:extLst>
              <a:ext uri="{FF2B5EF4-FFF2-40B4-BE49-F238E27FC236}">
                <a16:creationId xmlns:a16="http://schemas.microsoft.com/office/drawing/2014/main" id="{F4EC76E7-312B-CEB5-B45E-8238B52E95A7}"/>
              </a:ext>
            </a:extLst>
          </p:cNvPr>
          <p:cNvSpPr txBox="1"/>
          <p:nvPr/>
        </p:nvSpPr>
        <p:spPr>
          <a:xfrm>
            <a:off x="1603858" y="5632704"/>
            <a:ext cx="6784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WRF</a:t>
            </a:r>
            <a:endParaRPr lang="en-US" sz="800"/>
          </a:p>
        </p:txBody>
      </p:sp>
      <p:sp>
        <p:nvSpPr>
          <p:cNvPr id="391" name="Text 136">
            <a:extLst>
              <a:ext uri="{FF2B5EF4-FFF2-40B4-BE49-F238E27FC236}">
                <a16:creationId xmlns:a16="http://schemas.microsoft.com/office/drawing/2014/main" id="{27491A99-E205-8F0C-10B8-A8BA85394A27}"/>
              </a:ext>
            </a:extLst>
          </p:cNvPr>
          <p:cNvSpPr txBox="1"/>
          <p:nvPr/>
        </p:nvSpPr>
        <p:spPr>
          <a:xfrm>
            <a:off x="1603858" y="5806440"/>
            <a:ext cx="6784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 Forecast</a:t>
            </a:r>
            <a:endParaRPr lang="en-US" sz="800"/>
          </a:p>
        </p:txBody>
      </p:sp>
      <p:sp>
        <p:nvSpPr>
          <p:cNvPr id="393" name="Shape 137">
            <a:extLst>
              <a:ext uri="{FF2B5EF4-FFF2-40B4-BE49-F238E27FC236}">
                <a16:creationId xmlns:a16="http://schemas.microsoft.com/office/drawing/2014/main" id="{6FE5398F-63CF-DF67-B046-F8EA3549A9C1}"/>
              </a:ext>
            </a:extLst>
          </p:cNvPr>
          <p:cNvSpPr/>
          <p:nvPr/>
        </p:nvSpPr>
        <p:spPr>
          <a:xfrm>
            <a:off x="2484425" y="5321808"/>
            <a:ext cx="274320" cy="274320"/>
          </a:xfrm>
          <a:prstGeom prst="ellipse">
            <a:avLst/>
          </a:prstGeom>
          <a:solidFill>
            <a:srgbClr val="1E7A46"/>
          </a:solidFill>
          <a:ln/>
        </p:spPr>
      </p:sp>
      <p:pic>
        <p:nvPicPr>
          <p:cNvPr id="395" name="Image 29" descr="/home/claude/ppt/icons/history.png">
            <a:extLst>
              <a:ext uri="{FF2B5EF4-FFF2-40B4-BE49-F238E27FC236}">
                <a16:creationId xmlns:a16="http://schemas.microsoft.com/office/drawing/2014/main" id="{3686327B-961F-5084-EB72-54C8C0228EE7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555748" y="5393131"/>
            <a:ext cx="131674" cy="131674"/>
          </a:xfrm>
          <a:prstGeom prst="rect">
            <a:avLst/>
          </a:prstGeom>
        </p:spPr>
      </p:pic>
      <p:sp>
        <p:nvSpPr>
          <p:cNvPr id="397" name="Text 138">
            <a:extLst>
              <a:ext uri="{FF2B5EF4-FFF2-40B4-BE49-F238E27FC236}">
                <a16:creationId xmlns:a16="http://schemas.microsoft.com/office/drawing/2014/main" id="{F810FFF1-77F8-A80C-DECF-4E4F99F93CD5}"/>
              </a:ext>
            </a:extLst>
          </p:cNvPr>
          <p:cNvSpPr txBox="1"/>
          <p:nvPr/>
        </p:nvSpPr>
        <p:spPr>
          <a:xfrm>
            <a:off x="2282342" y="5632704"/>
            <a:ext cx="6784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ERA5</a:t>
            </a:r>
            <a:endParaRPr lang="en-US" sz="800"/>
          </a:p>
        </p:txBody>
      </p:sp>
      <p:sp>
        <p:nvSpPr>
          <p:cNvPr id="399" name="Text 139">
            <a:extLst>
              <a:ext uri="{FF2B5EF4-FFF2-40B4-BE49-F238E27FC236}">
                <a16:creationId xmlns:a16="http://schemas.microsoft.com/office/drawing/2014/main" id="{9D7B8857-193F-C4BD-6C87-DCD08E561C44}"/>
              </a:ext>
            </a:extLst>
          </p:cNvPr>
          <p:cNvSpPr txBox="1"/>
          <p:nvPr/>
        </p:nvSpPr>
        <p:spPr>
          <a:xfrm>
            <a:off x="2282342" y="5806440"/>
            <a:ext cx="6784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Climate</a:t>
            </a:r>
            <a:endParaRPr lang="en-US" sz="800"/>
          </a:p>
        </p:txBody>
      </p:sp>
      <p:sp>
        <p:nvSpPr>
          <p:cNvPr id="401" name="Shape 140">
            <a:extLst>
              <a:ext uri="{FF2B5EF4-FFF2-40B4-BE49-F238E27FC236}">
                <a16:creationId xmlns:a16="http://schemas.microsoft.com/office/drawing/2014/main" id="{25047622-F56B-61FC-F839-866B16FAA271}"/>
              </a:ext>
            </a:extLst>
          </p:cNvPr>
          <p:cNvSpPr/>
          <p:nvPr/>
        </p:nvSpPr>
        <p:spPr>
          <a:xfrm>
            <a:off x="3162910" y="5321808"/>
            <a:ext cx="274320" cy="274320"/>
          </a:xfrm>
          <a:prstGeom prst="ellipse">
            <a:avLst/>
          </a:prstGeom>
          <a:solidFill>
            <a:srgbClr val="1E7A46"/>
          </a:solidFill>
          <a:ln/>
        </p:spPr>
      </p:sp>
      <p:pic>
        <p:nvPicPr>
          <p:cNvPr id="403" name="Image 30" descr="/home/claude/ppt/icons/satellite.png">
            <a:extLst>
              <a:ext uri="{FF2B5EF4-FFF2-40B4-BE49-F238E27FC236}">
                <a16:creationId xmlns:a16="http://schemas.microsoft.com/office/drawing/2014/main" id="{ED817460-CA61-9B77-0F4F-9CADE2621934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234233" y="5393131"/>
            <a:ext cx="131674" cy="131674"/>
          </a:xfrm>
          <a:prstGeom prst="rect">
            <a:avLst/>
          </a:prstGeom>
        </p:spPr>
      </p:pic>
      <p:sp>
        <p:nvSpPr>
          <p:cNvPr id="405" name="Text 141">
            <a:extLst>
              <a:ext uri="{FF2B5EF4-FFF2-40B4-BE49-F238E27FC236}">
                <a16:creationId xmlns:a16="http://schemas.microsoft.com/office/drawing/2014/main" id="{D9B33CAF-F51E-21CB-579A-1B61A478FC4D}"/>
              </a:ext>
            </a:extLst>
          </p:cNvPr>
          <p:cNvSpPr txBox="1"/>
          <p:nvPr/>
        </p:nvSpPr>
        <p:spPr>
          <a:xfrm>
            <a:off x="2960827" y="5632704"/>
            <a:ext cx="6784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Satellite/Radar</a:t>
            </a:r>
            <a:endParaRPr lang="en-US" sz="800"/>
          </a:p>
        </p:txBody>
      </p:sp>
      <p:sp>
        <p:nvSpPr>
          <p:cNvPr id="407" name="Text 142">
            <a:extLst>
              <a:ext uri="{FF2B5EF4-FFF2-40B4-BE49-F238E27FC236}">
                <a16:creationId xmlns:a16="http://schemas.microsoft.com/office/drawing/2014/main" id="{B18F6CDE-C49E-38B1-BF76-27BA404BA3DA}"/>
              </a:ext>
            </a:extLst>
          </p:cNvPr>
          <p:cNvSpPr txBox="1"/>
          <p:nvPr/>
        </p:nvSpPr>
        <p:spPr>
          <a:xfrm>
            <a:off x="2960827" y="5806440"/>
            <a:ext cx="6784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Rainfall, Clouds</a:t>
            </a:r>
            <a:endParaRPr lang="en-US" sz="800"/>
          </a:p>
        </p:txBody>
      </p:sp>
      <p:sp>
        <p:nvSpPr>
          <p:cNvPr id="409" name="Shape 143">
            <a:extLst>
              <a:ext uri="{FF2B5EF4-FFF2-40B4-BE49-F238E27FC236}">
                <a16:creationId xmlns:a16="http://schemas.microsoft.com/office/drawing/2014/main" id="{4DE0BA8B-F542-AD82-B375-99A6D58C5339}"/>
              </a:ext>
            </a:extLst>
          </p:cNvPr>
          <p:cNvSpPr/>
          <p:nvPr/>
        </p:nvSpPr>
        <p:spPr>
          <a:xfrm>
            <a:off x="3840480" y="502920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8F7EE"/>
          </a:solidFill>
          <a:ln w="9525">
            <a:solidFill>
              <a:srgbClr val="E8F7EE"/>
            </a:solidFill>
            <a:prstDash val="solid"/>
          </a:ln>
        </p:spPr>
      </p:sp>
      <p:sp>
        <p:nvSpPr>
          <p:cNvPr id="411" name="Text 144">
            <a:extLst>
              <a:ext uri="{FF2B5EF4-FFF2-40B4-BE49-F238E27FC236}">
                <a16:creationId xmlns:a16="http://schemas.microsoft.com/office/drawing/2014/main" id="{149EE030-3FDA-8BD6-8520-28B8C77422E8}"/>
              </a:ext>
            </a:extLst>
          </p:cNvPr>
          <p:cNvSpPr txBox="1"/>
          <p:nvPr/>
        </p:nvSpPr>
        <p:spPr>
          <a:xfrm>
            <a:off x="3950208" y="5074920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Supporting Modules</a:t>
            </a:r>
            <a:endParaRPr lang="en-US" sz="950"/>
          </a:p>
        </p:txBody>
      </p:sp>
      <p:sp>
        <p:nvSpPr>
          <p:cNvPr id="413" name="Shape 145">
            <a:extLst>
              <a:ext uri="{FF2B5EF4-FFF2-40B4-BE49-F238E27FC236}">
                <a16:creationId xmlns:a16="http://schemas.microsoft.com/office/drawing/2014/main" id="{77336984-1A02-966F-CCD8-6BD8C09093B3}"/>
              </a:ext>
            </a:extLst>
          </p:cNvPr>
          <p:cNvSpPr/>
          <p:nvPr/>
        </p:nvSpPr>
        <p:spPr>
          <a:xfrm>
            <a:off x="4265676" y="5321808"/>
            <a:ext cx="274320" cy="274320"/>
          </a:xfrm>
          <a:prstGeom prst="ellipse">
            <a:avLst/>
          </a:prstGeom>
          <a:solidFill>
            <a:srgbClr val="1E7A46"/>
          </a:solidFill>
          <a:ln/>
        </p:spPr>
      </p:sp>
      <p:pic>
        <p:nvPicPr>
          <p:cNvPr id="415" name="Image 31" descr="/home/claude/ppt/icons/database.png">
            <a:extLst>
              <a:ext uri="{FF2B5EF4-FFF2-40B4-BE49-F238E27FC236}">
                <a16:creationId xmlns:a16="http://schemas.microsoft.com/office/drawing/2014/main" id="{C7A9461C-D72F-647F-6717-071C4E06DCD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36999" y="5393131"/>
            <a:ext cx="131674" cy="131674"/>
          </a:xfrm>
          <a:prstGeom prst="rect">
            <a:avLst/>
          </a:prstGeom>
        </p:spPr>
      </p:pic>
      <p:sp>
        <p:nvSpPr>
          <p:cNvPr id="417" name="Text 146">
            <a:extLst>
              <a:ext uri="{FF2B5EF4-FFF2-40B4-BE49-F238E27FC236}">
                <a16:creationId xmlns:a16="http://schemas.microsoft.com/office/drawing/2014/main" id="{1CD12EF8-E8E0-208E-B292-11500ED4CBC1}"/>
              </a:ext>
            </a:extLst>
          </p:cNvPr>
          <p:cNvSpPr txBox="1"/>
          <p:nvPr/>
        </p:nvSpPr>
        <p:spPr>
          <a:xfrm>
            <a:off x="3950208" y="5632704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</a:t>
            </a:r>
            <a:endParaRPr lang="en-US" sz="800"/>
          </a:p>
        </p:txBody>
      </p:sp>
      <p:sp>
        <p:nvSpPr>
          <p:cNvPr id="419" name="Text 147">
            <a:extLst>
              <a:ext uri="{FF2B5EF4-FFF2-40B4-BE49-F238E27FC236}">
                <a16:creationId xmlns:a16="http://schemas.microsoft.com/office/drawing/2014/main" id="{1FE15F89-6507-B508-DE9D-A8973E54DF08}"/>
              </a:ext>
            </a:extLst>
          </p:cNvPr>
          <p:cNvSpPr txBox="1"/>
          <p:nvPr/>
        </p:nvSpPr>
        <p:spPr>
          <a:xfrm>
            <a:off x="3950208" y="5806440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History</a:t>
            </a:r>
            <a:endParaRPr lang="en-US" sz="800"/>
          </a:p>
        </p:txBody>
      </p:sp>
      <p:sp>
        <p:nvSpPr>
          <p:cNvPr id="421" name="Shape 148">
            <a:extLst>
              <a:ext uri="{FF2B5EF4-FFF2-40B4-BE49-F238E27FC236}">
                <a16:creationId xmlns:a16="http://schemas.microsoft.com/office/drawing/2014/main" id="{819E4632-3866-054B-2809-B628840971B8}"/>
              </a:ext>
            </a:extLst>
          </p:cNvPr>
          <p:cNvSpPr/>
          <p:nvPr/>
        </p:nvSpPr>
        <p:spPr>
          <a:xfrm>
            <a:off x="5170932" y="5321808"/>
            <a:ext cx="274320" cy="274320"/>
          </a:xfrm>
          <a:prstGeom prst="ellipse">
            <a:avLst/>
          </a:prstGeom>
          <a:solidFill>
            <a:srgbClr val="1E7A46"/>
          </a:solidFill>
          <a:ln/>
        </p:spPr>
      </p:sp>
      <p:pic>
        <p:nvPicPr>
          <p:cNvPr id="423" name="Image 32" descr="/home/claude/ppt/icons/layers.png">
            <a:extLst>
              <a:ext uri="{FF2B5EF4-FFF2-40B4-BE49-F238E27FC236}">
                <a16:creationId xmlns:a16="http://schemas.microsoft.com/office/drawing/2014/main" id="{665668E5-60CA-75BF-C38C-615F02FA6594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242255" y="5393131"/>
            <a:ext cx="131674" cy="131674"/>
          </a:xfrm>
          <a:prstGeom prst="rect">
            <a:avLst/>
          </a:prstGeom>
        </p:spPr>
      </p:pic>
      <p:sp>
        <p:nvSpPr>
          <p:cNvPr id="425" name="Text 149">
            <a:extLst>
              <a:ext uri="{FF2B5EF4-FFF2-40B4-BE49-F238E27FC236}">
                <a16:creationId xmlns:a16="http://schemas.microsoft.com/office/drawing/2014/main" id="{AE304765-521F-C88F-2552-4A68EC93E4DC}"/>
              </a:ext>
            </a:extLst>
          </p:cNvPr>
          <p:cNvSpPr txBox="1"/>
          <p:nvPr/>
        </p:nvSpPr>
        <p:spPr>
          <a:xfrm>
            <a:off x="4855464" y="5632704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Layer</a:t>
            </a:r>
            <a:endParaRPr lang="en-US" sz="800"/>
          </a:p>
        </p:txBody>
      </p:sp>
      <p:sp>
        <p:nvSpPr>
          <p:cNvPr id="427" name="Text 150">
            <a:extLst>
              <a:ext uri="{FF2B5EF4-FFF2-40B4-BE49-F238E27FC236}">
                <a16:creationId xmlns:a16="http://schemas.microsoft.com/office/drawing/2014/main" id="{42210A34-4172-6C8E-1830-FA6892AB232B}"/>
              </a:ext>
            </a:extLst>
          </p:cNvPr>
          <p:cNvSpPr txBox="1"/>
          <p:nvPr/>
        </p:nvSpPr>
        <p:spPr>
          <a:xfrm>
            <a:off x="4855464" y="5806440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800"/>
          </a:p>
        </p:txBody>
      </p:sp>
      <p:sp>
        <p:nvSpPr>
          <p:cNvPr id="429" name="Shape 151">
            <a:extLst>
              <a:ext uri="{FF2B5EF4-FFF2-40B4-BE49-F238E27FC236}">
                <a16:creationId xmlns:a16="http://schemas.microsoft.com/office/drawing/2014/main" id="{EEA4EA21-2C2A-8104-FC6C-E260FC21B370}"/>
              </a:ext>
            </a:extLst>
          </p:cNvPr>
          <p:cNvSpPr/>
          <p:nvPr/>
        </p:nvSpPr>
        <p:spPr>
          <a:xfrm>
            <a:off x="6076188" y="5321808"/>
            <a:ext cx="274320" cy="274320"/>
          </a:xfrm>
          <a:prstGeom prst="ellipse">
            <a:avLst/>
          </a:prstGeom>
          <a:solidFill>
            <a:srgbClr val="1E7A46"/>
          </a:solidFill>
          <a:ln/>
        </p:spPr>
      </p:sp>
      <p:pic>
        <p:nvPicPr>
          <p:cNvPr id="431" name="Image 33" descr="/home/claude/ppt/icons/clipboard.png">
            <a:extLst>
              <a:ext uri="{FF2B5EF4-FFF2-40B4-BE49-F238E27FC236}">
                <a16:creationId xmlns:a16="http://schemas.microsoft.com/office/drawing/2014/main" id="{778C62EA-60CB-AE0B-5574-CEB9EA66DE5D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147511" y="5393131"/>
            <a:ext cx="131674" cy="131674"/>
          </a:xfrm>
          <a:prstGeom prst="rect">
            <a:avLst/>
          </a:prstGeom>
        </p:spPr>
      </p:pic>
      <p:sp>
        <p:nvSpPr>
          <p:cNvPr id="433" name="Text 152">
            <a:extLst>
              <a:ext uri="{FF2B5EF4-FFF2-40B4-BE49-F238E27FC236}">
                <a16:creationId xmlns:a16="http://schemas.microsoft.com/office/drawing/2014/main" id="{B4AAAE61-4A5F-3E83-C79F-35AE6BF42AF5}"/>
              </a:ext>
            </a:extLst>
          </p:cNvPr>
          <p:cNvSpPr txBox="1"/>
          <p:nvPr/>
        </p:nvSpPr>
        <p:spPr>
          <a:xfrm>
            <a:off x="5760720" y="5632704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Logs</a:t>
            </a:r>
            <a:endParaRPr lang="en-US" sz="800"/>
          </a:p>
        </p:txBody>
      </p:sp>
      <p:sp>
        <p:nvSpPr>
          <p:cNvPr id="435" name="Text 153">
            <a:extLst>
              <a:ext uri="{FF2B5EF4-FFF2-40B4-BE49-F238E27FC236}">
                <a16:creationId xmlns:a16="http://schemas.microsoft.com/office/drawing/2014/main" id="{12D383E5-9E30-9A96-BF5B-9982B13AC2BA}"/>
              </a:ext>
            </a:extLst>
          </p:cNvPr>
          <p:cNvSpPr txBox="1"/>
          <p:nvPr/>
        </p:nvSpPr>
        <p:spPr>
          <a:xfrm>
            <a:off x="5760720" y="5806440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Errors</a:t>
            </a:r>
            <a:endParaRPr lang="en-US" sz="800"/>
          </a:p>
        </p:txBody>
      </p:sp>
      <p:sp>
        <p:nvSpPr>
          <p:cNvPr id="437" name="Shape 154">
            <a:extLst>
              <a:ext uri="{FF2B5EF4-FFF2-40B4-BE49-F238E27FC236}">
                <a16:creationId xmlns:a16="http://schemas.microsoft.com/office/drawing/2014/main" id="{C1A487E9-7E3B-B205-4372-734BBBBB24CB}"/>
              </a:ext>
            </a:extLst>
          </p:cNvPr>
          <p:cNvSpPr/>
          <p:nvPr/>
        </p:nvSpPr>
        <p:spPr>
          <a:xfrm>
            <a:off x="6981444" y="5321808"/>
            <a:ext cx="274320" cy="274320"/>
          </a:xfrm>
          <a:prstGeom prst="ellipse">
            <a:avLst/>
          </a:prstGeom>
          <a:solidFill>
            <a:srgbClr val="1E7A46"/>
          </a:solidFill>
          <a:ln/>
        </p:spPr>
      </p:sp>
      <p:pic>
        <p:nvPicPr>
          <p:cNvPr id="439" name="Image 34" descr="/home/claude/ppt/icons/shield.png">
            <a:extLst>
              <a:ext uri="{FF2B5EF4-FFF2-40B4-BE49-F238E27FC236}">
                <a16:creationId xmlns:a16="http://schemas.microsoft.com/office/drawing/2014/main" id="{CFBD293B-5D2F-4740-B40A-7DD7139C51C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52767" y="5393131"/>
            <a:ext cx="131674" cy="131674"/>
          </a:xfrm>
          <a:prstGeom prst="rect">
            <a:avLst/>
          </a:prstGeom>
        </p:spPr>
      </p:pic>
      <p:sp>
        <p:nvSpPr>
          <p:cNvPr id="441" name="Text 155">
            <a:extLst>
              <a:ext uri="{FF2B5EF4-FFF2-40B4-BE49-F238E27FC236}">
                <a16:creationId xmlns:a16="http://schemas.microsoft.com/office/drawing/2014/main" id="{65466878-4BBE-20C8-4606-046CFD71BF0B}"/>
              </a:ext>
            </a:extLst>
          </p:cNvPr>
          <p:cNvSpPr txBox="1"/>
          <p:nvPr/>
        </p:nvSpPr>
        <p:spPr>
          <a:xfrm>
            <a:off x="6665976" y="5632704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Guardrails</a:t>
            </a:r>
            <a:endParaRPr lang="en-US" sz="800"/>
          </a:p>
        </p:txBody>
      </p:sp>
      <p:sp>
        <p:nvSpPr>
          <p:cNvPr id="443" name="Text 156">
            <a:extLst>
              <a:ext uri="{FF2B5EF4-FFF2-40B4-BE49-F238E27FC236}">
                <a16:creationId xmlns:a16="http://schemas.microsoft.com/office/drawing/2014/main" id="{D70CE43C-53F7-C317-79E0-9F9D5CB23B2B}"/>
              </a:ext>
            </a:extLst>
          </p:cNvPr>
          <p:cNvSpPr txBox="1"/>
          <p:nvPr/>
        </p:nvSpPr>
        <p:spPr>
          <a:xfrm>
            <a:off x="6665976" y="5806440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fabricated data</a:t>
            </a:r>
            <a:endParaRPr lang="en-US" sz="800"/>
          </a:p>
        </p:txBody>
      </p:sp>
      <p:sp>
        <p:nvSpPr>
          <p:cNvPr id="445" name="Shape 157">
            <a:extLst>
              <a:ext uri="{FF2B5EF4-FFF2-40B4-BE49-F238E27FC236}">
                <a16:creationId xmlns:a16="http://schemas.microsoft.com/office/drawing/2014/main" id="{44DF1EC8-5419-5930-583E-7A6E56611AC9}"/>
              </a:ext>
            </a:extLst>
          </p:cNvPr>
          <p:cNvSpPr/>
          <p:nvPr/>
        </p:nvSpPr>
        <p:spPr>
          <a:xfrm>
            <a:off x="7772400" y="5029200"/>
            <a:ext cx="4279392" cy="1051560"/>
          </a:xfrm>
          <a:prstGeom prst="roundRect">
            <a:avLst>
              <a:gd name="adj" fmla="val 5217"/>
            </a:avLst>
          </a:prstGeom>
          <a:solidFill>
            <a:srgbClr val="EFEAFB"/>
          </a:solidFill>
          <a:ln w="9525">
            <a:solidFill>
              <a:srgbClr val="EFEAFB"/>
            </a:solidFill>
            <a:prstDash val="solid"/>
          </a:ln>
        </p:spPr>
      </p:sp>
      <p:sp>
        <p:nvSpPr>
          <p:cNvPr id="447" name="Text 158">
            <a:extLst>
              <a:ext uri="{FF2B5EF4-FFF2-40B4-BE49-F238E27FC236}">
                <a16:creationId xmlns:a16="http://schemas.microsoft.com/office/drawing/2014/main" id="{0D7D6411-C350-ED14-1159-F3EFD004AA40}"/>
              </a:ext>
            </a:extLst>
          </p:cNvPr>
          <p:cNvSpPr txBox="1"/>
          <p:nvPr/>
        </p:nvSpPr>
        <p:spPr>
          <a:xfrm>
            <a:off x="7882128" y="5074920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5B3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Technology Stack</a:t>
            </a:r>
            <a:endParaRPr lang="en-US" sz="950"/>
          </a:p>
        </p:txBody>
      </p:sp>
      <p:sp>
        <p:nvSpPr>
          <p:cNvPr id="449" name="Shape 159">
            <a:extLst>
              <a:ext uri="{FF2B5EF4-FFF2-40B4-BE49-F238E27FC236}">
                <a16:creationId xmlns:a16="http://schemas.microsoft.com/office/drawing/2014/main" id="{4F334F7A-5842-947A-E21D-D06D98B57EB0}"/>
              </a:ext>
            </a:extLst>
          </p:cNvPr>
          <p:cNvSpPr/>
          <p:nvPr/>
        </p:nvSpPr>
        <p:spPr>
          <a:xfrm>
            <a:off x="8083296" y="5321808"/>
            <a:ext cx="274320" cy="274320"/>
          </a:xfrm>
          <a:prstGeom prst="ellipse">
            <a:avLst/>
          </a:prstGeom>
          <a:solidFill>
            <a:srgbClr val="5B3E9E"/>
          </a:solidFill>
          <a:ln/>
        </p:spPr>
      </p:sp>
      <p:pic>
        <p:nvPicPr>
          <p:cNvPr id="451" name="Image 35" descr="/home/claude/ppt/icons/react.png">
            <a:extLst>
              <a:ext uri="{FF2B5EF4-FFF2-40B4-BE49-F238E27FC236}">
                <a16:creationId xmlns:a16="http://schemas.microsoft.com/office/drawing/2014/main" id="{B8CFAE7D-53C4-6689-C0EA-78896B2F39AA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154619" y="5393131"/>
            <a:ext cx="131674" cy="131674"/>
          </a:xfrm>
          <a:prstGeom prst="rect">
            <a:avLst/>
          </a:prstGeom>
        </p:spPr>
      </p:pic>
      <p:sp>
        <p:nvSpPr>
          <p:cNvPr id="453" name="Text 160">
            <a:extLst>
              <a:ext uri="{FF2B5EF4-FFF2-40B4-BE49-F238E27FC236}">
                <a16:creationId xmlns:a16="http://schemas.microsoft.com/office/drawing/2014/main" id="{D640CF38-FEDC-5C02-E2D5-1F40CAC1A6E9}"/>
              </a:ext>
            </a:extLst>
          </p:cNvPr>
          <p:cNvSpPr txBox="1"/>
          <p:nvPr/>
        </p:nvSpPr>
        <p:spPr>
          <a:xfrm>
            <a:off x="7882128" y="5632704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00"/>
          </a:p>
        </p:txBody>
      </p:sp>
      <p:sp>
        <p:nvSpPr>
          <p:cNvPr id="455" name="Text 161">
            <a:extLst>
              <a:ext uri="{FF2B5EF4-FFF2-40B4-BE49-F238E27FC236}">
                <a16:creationId xmlns:a16="http://schemas.microsoft.com/office/drawing/2014/main" id="{9F38D623-205A-1BEA-AB97-6CDDBBC81573}"/>
              </a:ext>
            </a:extLst>
          </p:cNvPr>
          <p:cNvSpPr txBox="1"/>
          <p:nvPr/>
        </p:nvSpPr>
        <p:spPr>
          <a:xfrm>
            <a:off x="7882128" y="5806440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React Native</a:t>
            </a:r>
          </a:p>
        </p:txBody>
      </p:sp>
      <p:sp>
        <p:nvSpPr>
          <p:cNvPr id="457" name="Shape 162">
            <a:extLst>
              <a:ext uri="{FF2B5EF4-FFF2-40B4-BE49-F238E27FC236}">
                <a16:creationId xmlns:a16="http://schemas.microsoft.com/office/drawing/2014/main" id="{CB1755BB-30FB-7437-FCC9-DB6B45FA3EC0}"/>
              </a:ext>
            </a:extLst>
          </p:cNvPr>
          <p:cNvSpPr/>
          <p:nvPr/>
        </p:nvSpPr>
        <p:spPr>
          <a:xfrm>
            <a:off x="8759952" y="5321808"/>
            <a:ext cx="274320" cy="274320"/>
          </a:xfrm>
          <a:prstGeom prst="ellipse">
            <a:avLst/>
          </a:prstGeom>
          <a:solidFill>
            <a:srgbClr val="5B3E9E"/>
          </a:solidFill>
          <a:ln/>
        </p:spPr>
      </p:sp>
      <p:pic>
        <p:nvPicPr>
          <p:cNvPr id="459" name="Image 36" descr="/home/claude/ppt/icons/server.png">
            <a:extLst>
              <a:ext uri="{FF2B5EF4-FFF2-40B4-BE49-F238E27FC236}">
                <a16:creationId xmlns:a16="http://schemas.microsoft.com/office/drawing/2014/main" id="{098CF380-3554-DF24-0672-66B53053AB8E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831275" y="5393131"/>
            <a:ext cx="131674" cy="131674"/>
          </a:xfrm>
          <a:prstGeom prst="rect">
            <a:avLst/>
          </a:prstGeom>
        </p:spPr>
      </p:pic>
      <p:sp>
        <p:nvSpPr>
          <p:cNvPr id="461" name="Text 163">
            <a:extLst>
              <a:ext uri="{FF2B5EF4-FFF2-40B4-BE49-F238E27FC236}">
                <a16:creationId xmlns:a16="http://schemas.microsoft.com/office/drawing/2014/main" id="{289529AF-2171-E0F1-4F91-51F273B66345}"/>
              </a:ext>
            </a:extLst>
          </p:cNvPr>
          <p:cNvSpPr txBox="1"/>
          <p:nvPr/>
        </p:nvSpPr>
        <p:spPr>
          <a:xfrm>
            <a:off x="8558784" y="5632704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00"/>
          </a:p>
        </p:txBody>
      </p:sp>
      <p:sp>
        <p:nvSpPr>
          <p:cNvPr id="463" name="Text 164">
            <a:extLst>
              <a:ext uri="{FF2B5EF4-FFF2-40B4-BE49-F238E27FC236}">
                <a16:creationId xmlns:a16="http://schemas.microsoft.com/office/drawing/2014/main" id="{7AA23835-4B2B-32F0-C6A0-6D51A0CEE121}"/>
              </a:ext>
            </a:extLst>
          </p:cNvPr>
          <p:cNvSpPr txBox="1"/>
          <p:nvPr/>
        </p:nvSpPr>
        <p:spPr>
          <a:xfrm>
            <a:off x="8558784" y="5806440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00"/>
          </a:p>
        </p:txBody>
      </p:sp>
      <p:sp>
        <p:nvSpPr>
          <p:cNvPr id="465" name="Shape 165">
            <a:extLst>
              <a:ext uri="{FF2B5EF4-FFF2-40B4-BE49-F238E27FC236}">
                <a16:creationId xmlns:a16="http://schemas.microsoft.com/office/drawing/2014/main" id="{1C583E45-C1D2-8B75-8627-D0B845F17AD2}"/>
              </a:ext>
            </a:extLst>
          </p:cNvPr>
          <p:cNvSpPr/>
          <p:nvPr/>
        </p:nvSpPr>
        <p:spPr>
          <a:xfrm>
            <a:off x="9436608" y="5321808"/>
            <a:ext cx="274320" cy="274320"/>
          </a:xfrm>
          <a:prstGeom prst="ellipse">
            <a:avLst/>
          </a:prstGeom>
          <a:solidFill>
            <a:srgbClr val="5B3E9E"/>
          </a:solidFill>
          <a:ln/>
        </p:spPr>
      </p:sp>
      <p:pic>
        <p:nvPicPr>
          <p:cNvPr id="467" name="Image 37" descr="/home/claude/ppt/icons/database.png">
            <a:extLst>
              <a:ext uri="{FF2B5EF4-FFF2-40B4-BE49-F238E27FC236}">
                <a16:creationId xmlns:a16="http://schemas.microsoft.com/office/drawing/2014/main" id="{20AD6124-C16E-8436-F06F-1C0830C358F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07931" y="5393131"/>
            <a:ext cx="131674" cy="131674"/>
          </a:xfrm>
          <a:prstGeom prst="rect">
            <a:avLst/>
          </a:prstGeom>
        </p:spPr>
      </p:pic>
      <p:sp>
        <p:nvSpPr>
          <p:cNvPr id="469" name="Text 166">
            <a:extLst>
              <a:ext uri="{FF2B5EF4-FFF2-40B4-BE49-F238E27FC236}">
                <a16:creationId xmlns:a16="http://schemas.microsoft.com/office/drawing/2014/main" id="{4785CF3D-3D2C-42D2-1FE7-B6D9E5ADE39F}"/>
              </a:ext>
            </a:extLst>
          </p:cNvPr>
          <p:cNvSpPr txBox="1"/>
          <p:nvPr/>
        </p:nvSpPr>
        <p:spPr>
          <a:xfrm>
            <a:off x="9235440" y="5632704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/>
          </a:p>
        </p:txBody>
      </p:sp>
      <p:sp>
        <p:nvSpPr>
          <p:cNvPr id="471" name="Text 167">
            <a:extLst>
              <a:ext uri="{FF2B5EF4-FFF2-40B4-BE49-F238E27FC236}">
                <a16:creationId xmlns:a16="http://schemas.microsoft.com/office/drawing/2014/main" id="{269C3ED4-B38C-6803-7A58-15D1C3839191}"/>
              </a:ext>
            </a:extLst>
          </p:cNvPr>
          <p:cNvSpPr txBox="1"/>
          <p:nvPr/>
        </p:nvSpPr>
        <p:spPr>
          <a:xfrm>
            <a:off x="9235440" y="5806440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</a:t>
            </a:r>
            <a:endParaRPr lang="en-US" sz="800"/>
          </a:p>
        </p:txBody>
      </p:sp>
      <p:sp>
        <p:nvSpPr>
          <p:cNvPr id="473" name="Shape 168">
            <a:extLst>
              <a:ext uri="{FF2B5EF4-FFF2-40B4-BE49-F238E27FC236}">
                <a16:creationId xmlns:a16="http://schemas.microsoft.com/office/drawing/2014/main" id="{386A2E83-A493-C18F-EEB5-35E1154313BA}"/>
              </a:ext>
            </a:extLst>
          </p:cNvPr>
          <p:cNvSpPr/>
          <p:nvPr/>
        </p:nvSpPr>
        <p:spPr>
          <a:xfrm>
            <a:off x="10113264" y="5321808"/>
            <a:ext cx="274320" cy="274320"/>
          </a:xfrm>
          <a:prstGeom prst="ellipse">
            <a:avLst/>
          </a:prstGeom>
          <a:solidFill>
            <a:srgbClr val="5B3E9E"/>
          </a:solidFill>
          <a:ln/>
        </p:spPr>
      </p:sp>
      <p:pic>
        <p:nvPicPr>
          <p:cNvPr id="475" name="Image 38" descr="/home/claude/ppt/icons/robot.png">
            <a:extLst>
              <a:ext uri="{FF2B5EF4-FFF2-40B4-BE49-F238E27FC236}">
                <a16:creationId xmlns:a16="http://schemas.microsoft.com/office/drawing/2014/main" id="{95E85DD8-0F8B-5AF5-166C-42FB3126A75F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184587" y="5393131"/>
            <a:ext cx="131674" cy="131674"/>
          </a:xfrm>
          <a:prstGeom prst="rect">
            <a:avLst/>
          </a:prstGeom>
        </p:spPr>
      </p:pic>
      <p:sp>
        <p:nvSpPr>
          <p:cNvPr id="477" name="Text 169">
            <a:extLst>
              <a:ext uri="{FF2B5EF4-FFF2-40B4-BE49-F238E27FC236}">
                <a16:creationId xmlns:a16="http://schemas.microsoft.com/office/drawing/2014/main" id="{FC606E25-8958-E742-21EF-FE9194927718}"/>
              </a:ext>
            </a:extLst>
          </p:cNvPr>
          <p:cNvSpPr txBox="1"/>
          <p:nvPr/>
        </p:nvSpPr>
        <p:spPr>
          <a:xfrm>
            <a:off x="9912096" y="5632704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800"/>
          </a:p>
        </p:txBody>
      </p:sp>
      <p:sp>
        <p:nvSpPr>
          <p:cNvPr id="479" name="Text 170">
            <a:extLst>
              <a:ext uri="{FF2B5EF4-FFF2-40B4-BE49-F238E27FC236}">
                <a16:creationId xmlns:a16="http://schemas.microsoft.com/office/drawing/2014/main" id="{2CBDF379-CD8B-5129-2CFB-1FFB1E55C286}"/>
              </a:ext>
            </a:extLst>
          </p:cNvPr>
          <p:cNvSpPr txBox="1"/>
          <p:nvPr/>
        </p:nvSpPr>
        <p:spPr>
          <a:xfrm>
            <a:off x="9912096" y="5806440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800"/>
          </a:p>
        </p:txBody>
      </p:sp>
      <p:sp>
        <p:nvSpPr>
          <p:cNvPr id="481" name="Shape 171">
            <a:extLst>
              <a:ext uri="{FF2B5EF4-FFF2-40B4-BE49-F238E27FC236}">
                <a16:creationId xmlns:a16="http://schemas.microsoft.com/office/drawing/2014/main" id="{176305E7-4C59-7457-95C8-9679C529CE5E}"/>
              </a:ext>
            </a:extLst>
          </p:cNvPr>
          <p:cNvSpPr/>
          <p:nvPr/>
        </p:nvSpPr>
        <p:spPr>
          <a:xfrm>
            <a:off x="10789920" y="5321808"/>
            <a:ext cx="274320" cy="274320"/>
          </a:xfrm>
          <a:prstGeom prst="ellipse">
            <a:avLst/>
          </a:prstGeom>
          <a:solidFill>
            <a:srgbClr val="5B3E9E"/>
          </a:solidFill>
          <a:ln/>
        </p:spPr>
      </p:sp>
      <p:pic>
        <p:nvPicPr>
          <p:cNvPr id="483" name="Image 39" descr="/home/claude/ppt/icons/language.png">
            <a:extLst>
              <a:ext uri="{FF2B5EF4-FFF2-40B4-BE49-F238E27FC236}">
                <a16:creationId xmlns:a16="http://schemas.microsoft.com/office/drawing/2014/main" id="{3DC6DA9F-FEF8-CCB0-BB28-D3533C581CB6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861243" y="5393131"/>
            <a:ext cx="131674" cy="131674"/>
          </a:xfrm>
          <a:prstGeom prst="rect">
            <a:avLst/>
          </a:prstGeom>
        </p:spPr>
      </p:pic>
      <p:sp>
        <p:nvSpPr>
          <p:cNvPr id="485" name="Text 172">
            <a:extLst>
              <a:ext uri="{FF2B5EF4-FFF2-40B4-BE49-F238E27FC236}">
                <a16:creationId xmlns:a16="http://schemas.microsoft.com/office/drawing/2014/main" id="{DE1D9875-0CD3-1FA4-37E8-2243A85B7592}"/>
              </a:ext>
            </a:extLst>
          </p:cNvPr>
          <p:cNvSpPr txBox="1"/>
          <p:nvPr/>
        </p:nvSpPr>
        <p:spPr>
          <a:xfrm>
            <a:off x="10588752" y="5632704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800"/>
          </a:p>
        </p:txBody>
      </p:sp>
      <p:sp>
        <p:nvSpPr>
          <p:cNvPr id="487" name="Text 173">
            <a:extLst>
              <a:ext uri="{FF2B5EF4-FFF2-40B4-BE49-F238E27FC236}">
                <a16:creationId xmlns:a16="http://schemas.microsoft.com/office/drawing/2014/main" id="{99FB3B06-30F5-797D-A1F3-419EE3811901}"/>
              </a:ext>
            </a:extLst>
          </p:cNvPr>
          <p:cNvSpPr txBox="1"/>
          <p:nvPr/>
        </p:nvSpPr>
        <p:spPr>
          <a:xfrm>
            <a:off x="10588752" y="5806440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Bhashini ASR/NMT/TTS</a:t>
            </a:r>
            <a:endParaRPr lang="en-US" sz="800"/>
          </a:p>
        </p:txBody>
      </p:sp>
      <p:sp>
        <p:nvSpPr>
          <p:cNvPr id="489" name="Shape 174">
            <a:extLst>
              <a:ext uri="{FF2B5EF4-FFF2-40B4-BE49-F238E27FC236}">
                <a16:creationId xmlns:a16="http://schemas.microsoft.com/office/drawing/2014/main" id="{3D59E3BA-A2F3-7695-E6FF-363B5026F3F2}"/>
              </a:ext>
            </a:extLst>
          </p:cNvPr>
          <p:cNvSpPr/>
          <p:nvPr/>
        </p:nvSpPr>
        <p:spPr>
          <a:xfrm>
            <a:off x="11466576" y="5321808"/>
            <a:ext cx="274320" cy="274320"/>
          </a:xfrm>
          <a:prstGeom prst="ellipse">
            <a:avLst/>
          </a:prstGeom>
          <a:solidFill>
            <a:srgbClr val="5B3E9E"/>
          </a:solidFill>
          <a:ln/>
        </p:spPr>
      </p:sp>
      <p:pic>
        <p:nvPicPr>
          <p:cNvPr id="491" name="Image 40" descr="/home/claude/ppt/icons/docker.png">
            <a:extLst>
              <a:ext uri="{FF2B5EF4-FFF2-40B4-BE49-F238E27FC236}">
                <a16:creationId xmlns:a16="http://schemas.microsoft.com/office/drawing/2014/main" id="{197C6671-44C3-EF86-FE6E-4E36E2261D70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1537899" y="5393131"/>
            <a:ext cx="131674" cy="131674"/>
          </a:xfrm>
          <a:prstGeom prst="rect">
            <a:avLst/>
          </a:prstGeom>
        </p:spPr>
      </p:pic>
      <p:sp>
        <p:nvSpPr>
          <p:cNvPr id="493" name="Text 175">
            <a:extLst>
              <a:ext uri="{FF2B5EF4-FFF2-40B4-BE49-F238E27FC236}">
                <a16:creationId xmlns:a16="http://schemas.microsoft.com/office/drawing/2014/main" id="{22804836-9BFF-707B-BE53-CD83F57B8B0C}"/>
              </a:ext>
            </a:extLst>
          </p:cNvPr>
          <p:cNvSpPr txBox="1"/>
          <p:nvPr/>
        </p:nvSpPr>
        <p:spPr>
          <a:xfrm>
            <a:off x="11265408" y="5632704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00"/>
          </a:p>
        </p:txBody>
      </p:sp>
      <p:sp>
        <p:nvSpPr>
          <p:cNvPr id="495" name="Text 176">
            <a:extLst>
              <a:ext uri="{FF2B5EF4-FFF2-40B4-BE49-F238E27FC236}">
                <a16:creationId xmlns:a16="http://schemas.microsoft.com/office/drawing/2014/main" id="{C409D3D5-0865-7FF6-5454-A6A815B9A117}"/>
              </a:ext>
            </a:extLst>
          </p:cNvPr>
          <p:cNvSpPr txBox="1"/>
          <p:nvPr/>
        </p:nvSpPr>
        <p:spPr>
          <a:xfrm>
            <a:off x="11265408" y="5806440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Cloud</a:t>
            </a:r>
            <a:endParaRPr lang="en-US" sz="800"/>
          </a:p>
        </p:txBody>
      </p:sp>
      <p:sp>
        <p:nvSpPr>
          <p:cNvPr id="497" name="Shape 177">
            <a:extLst>
              <a:ext uri="{FF2B5EF4-FFF2-40B4-BE49-F238E27FC236}">
                <a16:creationId xmlns:a16="http://schemas.microsoft.com/office/drawing/2014/main" id="{B20EE090-FB8D-FAF0-9825-5DE47694A694}"/>
              </a:ext>
            </a:extLst>
          </p:cNvPr>
          <p:cNvSpPr/>
          <p:nvPr/>
        </p:nvSpPr>
        <p:spPr>
          <a:xfrm>
            <a:off x="137160" y="6172200"/>
            <a:ext cx="11914632" cy="502920"/>
          </a:xfrm>
          <a:prstGeom prst="roundRect">
            <a:avLst>
              <a:gd name="adj" fmla="val 10909"/>
            </a:avLst>
          </a:prstGeom>
          <a:solidFill>
            <a:srgbClr val="15294D"/>
          </a:solidFill>
          <a:ln/>
        </p:spPr>
      </p:sp>
      <p:pic>
        <p:nvPicPr>
          <p:cNvPr id="499" name="Image 41" descr="/home/claude/ppt/icons/wifi.png">
            <a:extLst>
              <a:ext uri="{FF2B5EF4-FFF2-40B4-BE49-F238E27FC236}">
                <a16:creationId xmlns:a16="http://schemas.microsoft.com/office/drawing/2014/main" id="{EBFFF734-2BD2-3856-912E-A957BFB2EE66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28600" y="6318504"/>
            <a:ext cx="219456" cy="219456"/>
          </a:xfrm>
          <a:prstGeom prst="rect">
            <a:avLst/>
          </a:prstGeom>
        </p:spPr>
      </p:pic>
      <p:sp>
        <p:nvSpPr>
          <p:cNvPr id="501" name="Text 178">
            <a:extLst>
              <a:ext uri="{FF2B5EF4-FFF2-40B4-BE49-F238E27FC236}">
                <a16:creationId xmlns:a16="http://schemas.microsoft.com/office/drawing/2014/main" id="{12353AEE-DC48-7C50-F9C5-A36D62F264A5}"/>
              </a:ext>
            </a:extLst>
          </p:cNvPr>
          <p:cNvSpPr txBox="1"/>
          <p:nvPr/>
        </p:nvSpPr>
        <p:spPr>
          <a:xfrm>
            <a:off x="502920" y="6172200"/>
            <a:ext cx="199887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7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Any Network (App / Low Data / SMS / Voice)</a:t>
            </a:r>
            <a:endParaRPr lang="en-US" sz="750"/>
          </a:p>
        </p:txBody>
      </p:sp>
      <p:pic>
        <p:nvPicPr>
          <p:cNvPr id="503" name="Image 42" descr="/home/claude/ppt/icons/users.png">
            <a:extLst>
              <a:ext uri="{FF2B5EF4-FFF2-40B4-BE49-F238E27FC236}">
                <a16:creationId xmlns:a16="http://schemas.microsoft.com/office/drawing/2014/main" id="{634AECD9-7BFE-2D7A-CEA9-F28A1E24A1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4950" y="6318504"/>
            <a:ext cx="219456" cy="219456"/>
          </a:xfrm>
          <a:prstGeom prst="rect">
            <a:avLst/>
          </a:prstGeom>
        </p:spPr>
      </p:pic>
      <p:sp>
        <p:nvSpPr>
          <p:cNvPr id="505" name="Text 179">
            <a:extLst>
              <a:ext uri="{FF2B5EF4-FFF2-40B4-BE49-F238E27FC236}">
                <a16:creationId xmlns:a16="http://schemas.microsoft.com/office/drawing/2014/main" id="{9800D3B6-1BB2-E291-29F8-B70158FC8376}"/>
              </a:ext>
            </a:extLst>
          </p:cNvPr>
          <p:cNvSpPr txBox="1"/>
          <p:nvPr/>
        </p:nvSpPr>
        <p:spPr>
          <a:xfrm>
            <a:off x="2849270" y="6172200"/>
            <a:ext cx="199887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7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Multi-lingual &amp; Inclusive (Indian Languages)</a:t>
            </a:r>
            <a:endParaRPr lang="en-US" sz="750"/>
          </a:p>
        </p:txBody>
      </p:sp>
      <p:pic>
        <p:nvPicPr>
          <p:cNvPr id="507" name="Image 43" descr="/home/claude/ppt/icons/bullseye.png">
            <a:extLst>
              <a:ext uri="{FF2B5EF4-FFF2-40B4-BE49-F238E27FC236}">
                <a16:creationId xmlns:a16="http://schemas.microsoft.com/office/drawing/2014/main" id="{9074D301-A74B-A278-6539-90B6A86C838C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921301" y="6318504"/>
            <a:ext cx="219456" cy="219456"/>
          </a:xfrm>
          <a:prstGeom prst="rect">
            <a:avLst/>
          </a:prstGeom>
        </p:spPr>
      </p:pic>
      <p:sp>
        <p:nvSpPr>
          <p:cNvPr id="509" name="Text 180">
            <a:extLst>
              <a:ext uri="{FF2B5EF4-FFF2-40B4-BE49-F238E27FC236}">
                <a16:creationId xmlns:a16="http://schemas.microsoft.com/office/drawing/2014/main" id="{40B90566-735B-2815-D0BF-36A49AF35A3E}"/>
              </a:ext>
            </a:extLst>
          </p:cNvPr>
          <p:cNvSpPr txBox="1"/>
          <p:nvPr/>
        </p:nvSpPr>
        <p:spPr>
          <a:xfrm>
            <a:off x="5195621" y="6172200"/>
            <a:ext cx="199887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7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Forecasts to Real-world Decisions (Understand → Decide → Stay Safe)</a:t>
            </a:r>
            <a:endParaRPr lang="en-US" sz="750"/>
          </a:p>
        </p:txBody>
      </p:sp>
      <p:pic>
        <p:nvPicPr>
          <p:cNvPr id="511" name="Image 44" descr="/home/claude/ppt/icons/shield.png">
            <a:extLst>
              <a:ext uri="{FF2B5EF4-FFF2-40B4-BE49-F238E27FC236}">
                <a16:creationId xmlns:a16="http://schemas.microsoft.com/office/drawing/2014/main" id="{FBC91B75-A7E7-144F-6BE4-E8D61D2965E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67651" y="6318504"/>
            <a:ext cx="219456" cy="219456"/>
          </a:xfrm>
          <a:prstGeom prst="rect">
            <a:avLst/>
          </a:prstGeom>
        </p:spPr>
      </p:pic>
      <p:sp>
        <p:nvSpPr>
          <p:cNvPr id="513" name="Text 181">
            <a:extLst>
              <a:ext uri="{FF2B5EF4-FFF2-40B4-BE49-F238E27FC236}">
                <a16:creationId xmlns:a16="http://schemas.microsoft.com/office/drawing/2014/main" id="{A850DC09-3965-D75E-AD39-ECE63D54C69A}"/>
              </a:ext>
            </a:extLst>
          </p:cNvPr>
          <p:cNvSpPr txBox="1"/>
          <p:nvPr/>
        </p:nvSpPr>
        <p:spPr>
          <a:xfrm>
            <a:off x="7541971" y="6172200"/>
            <a:ext cx="199887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7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Reliable &amp; Transparent (Citations, Confidence, No Hallucination)</a:t>
            </a:r>
            <a:endParaRPr lang="en-US" sz="750"/>
          </a:p>
        </p:txBody>
      </p:sp>
      <p:pic>
        <p:nvPicPr>
          <p:cNvPr id="515" name="Image 45" descr="/home/claude/ppt/icons/leaf.png">
            <a:extLst>
              <a:ext uri="{FF2B5EF4-FFF2-40B4-BE49-F238E27FC236}">
                <a16:creationId xmlns:a16="http://schemas.microsoft.com/office/drawing/2014/main" id="{D68DAE48-5A20-99AF-DE21-1EF98D89E85B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614002" y="6318504"/>
            <a:ext cx="219456" cy="219456"/>
          </a:xfrm>
          <a:prstGeom prst="rect">
            <a:avLst/>
          </a:prstGeom>
        </p:spPr>
      </p:pic>
      <p:sp>
        <p:nvSpPr>
          <p:cNvPr id="517" name="Text 182">
            <a:extLst>
              <a:ext uri="{FF2B5EF4-FFF2-40B4-BE49-F238E27FC236}">
                <a16:creationId xmlns:a16="http://schemas.microsoft.com/office/drawing/2014/main" id="{B950C770-A13C-2007-7CFB-6894F055D56F}"/>
              </a:ext>
            </a:extLst>
          </p:cNvPr>
          <p:cNvSpPr txBox="1"/>
          <p:nvPr/>
        </p:nvSpPr>
        <p:spPr>
          <a:xfrm>
            <a:off x="9888322" y="6172200"/>
            <a:ext cx="199887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7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Safer, Weather-Ready India</a:t>
            </a:r>
            <a:endParaRPr lang="en-US" sz="750"/>
          </a:p>
        </p:txBody>
      </p:sp>
      <p:sp>
        <p:nvSpPr>
          <p:cNvPr id="521" name="Shape 82">
            <a:extLst>
              <a:ext uri="{FF2B5EF4-FFF2-40B4-BE49-F238E27FC236}">
                <a16:creationId xmlns:a16="http://schemas.microsoft.com/office/drawing/2014/main" id="{E5765ED6-FB42-C8C4-F26B-CF4FAC2A7498}"/>
              </a:ext>
            </a:extLst>
          </p:cNvPr>
          <p:cNvSpPr/>
          <p:nvPr/>
        </p:nvSpPr>
        <p:spPr>
          <a:xfrm>
            <a:off x="8400897" y="4514942"/>
            <a:ext cx="237744" cy="237744"/>
          </a:xfrm>
          <a:prstGeom prst="ellipse">
            <a:avLst/>
          </a:prstGeom>
          <a:solidFill>
            <a:srgbClr val="E8483C"/>
          </a:solidFill>
          <a:ln/>
        </p:spPr>
      </p:sp>
      <p:pic>
        <p:nvPicPr>
          <p:cNvPr id="522" name="Image 18" descr="/home/claude/ppt/icons/triangle.png">
            <a:extLst>
              <a:ext uri="{FF2B5EF4-FFF2-40B4-BE49-F238E27FC236}">
                <a16:creationId xmlns:a16="http://schemas.microsoft.com/office/drawing/2014/main" id="{D5FA7100-0C85-8F85-28BE-B2B430441B99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462711" y="4576755"/>
            <a:ext cx="114117" cy="114117"/>
          </a:xfrm>
          <a:prstGeom prst="rect">
            <a:avLst/>
          </a:prstGeom>
        </p:spPr>
      </p:pic>
      <p:sp>
        <p:nvSpPr>
          <p:cNvPr id="524" name="Shape 85">
            <a:extLst>
              <a:ext uri="{FF2B5EF4-FFF2-40B4-BE49-F238E27FC236}">
                <a16:creationId xmlns:a16="http://schemas.microsoft.com/office/drawing/2014/main" id="{409D9DF1-A4EC-4B38-ADD3-96166C51F208}"/>
              </a:ext>
            </a:extLst>
          </p:cNvPr>
          <p:cNvSpPr/>
          <p:nvPr/>
        </p:nvSpPr>
        <p:spPr>
          <a:xfrm>
            <a:off x="8979469" y="3742944"/>
            <a:ext cx="219456" cy="219456"/>
          </a:xfrm>
          <a:prstGeom prst="ellipse">
            <a:avLst/>
          </a:prstGeom>
          <a:solidFill>
            <a:srgbClr val="5B3E9E"/>
          </a:solidFill>
          <a:ln/>
        </p:spPr>
      </p:sp>
      <p:pic>
        <p:nvPicPr>
          <p:cNvPr id="526" name="Image 19" descr="/home/claude/ppt/icons/microscope.png">
            <a:extLst>
              <a:ext uri="{FF2B5EF4-FFF2-40B4-BE49-F238E27FC236}">
                <a16:creationId xmlns:a16="http://schemas.microsoft.com/office/drawing/2014/main" id="{6641E596-CAE3-2D99-00DB-4447F2309E6B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036528" y="3800003"/>
            <a:ext cx="105339" cy="105339"/>
          </a:xfrm>
          <a:prstGeom prst="rect">
            <a:avLst/>
          </a:prstGeom>
        </p:spPr>
      </p:pic>
      <p:sp>
        <p:nvSpPr>
          <p:cNvPr id="528" name="Text 86">
            <a:extLst>
              <a:ext uri="{FF2B5EF4-FFF2-40B4-BE49-F238E27FC236}">
                <a16:creationId xmlns:a16="http://schemas.microsoft.com/office/drawing/2014/main" id="{FBDD3C66-D2B2-09FF-FF11-62837C33F734}"/>
              </a:ext>
            </a:extLst>
          </p:cNvPr>
          <p:cNvSpPr txBox="1"/>
          <p:nvPr/>
        </p:nvSpPr>
        <p:spPr>
          <a:xfrm>
            <a:off x="8840297" y="3989832"/>
            <a:ext cx="49779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4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540"/>
          </a:p>
        </p:txBody>
      </p:sp>
      <p:sp>
        <p:nvSpPr>
          <p:cNvPr id="530" name="Text 87">
            <a:extLst>
              <a:ext uri="{FF2B5EF4-FFF2-40B4-BE49-F238E27FC236}">
                <a16:creationId xmlns:a16="http://schemas.microsoft.com/office/drawing/2014/main" id="{0580F6B7-522E-486C-620D-988437D50624}"/>
              </a:ext>
            </a:extLst>
          </p:cNvPr>
          <p:cNvSpPr txBox="1"/>
          <p:nvPr/>
        </p:nvSpPr>
        <p:spPr>
          <a:xfrm>
            <a:off x="8859347" y="4074134"/>
            <a:ext cx="497799" cy="188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trends &amp; model insights</a:t>
            </a:r>
            <a:endParaRPr lang="en-US" sz="600"/>
          </a:p>
        </p:txBody>
      </p:sp>
      <p:sp>
        <p:nvSpPr>
          <p:cNvPr id="127" name="Text 28">
            <a:extLst>
              <a:ext uri="{FF2B5EF4-FFF2-40B4-BE49-F238E27FC236}">
                <a16:creationId xmlns:a16="http://schemas.microsoft.com/office/drawing/2014/main" id="{1C7EC63A-86D4-70A9-440B-767EC2277B37}"/>
              </a:ext>
            </a:extLst>
          </p:cNvPr>
          <p:cNvSpPr txBox="1"/>
          <p:nvPr/>
        </p:nvSpPr>
        <p:spPr>
          <a:xfrm>
            <a:off x="3674872" y="1486408"/>
            <a:ext cx="1325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>
                <a:solidFill>
                  <a:srgbClr val="1E7A46"/>
                </a:solidFill>
                <a:latin typeface="Calibri"/>
                <a:ea typeface="Calibri"/>
                <a:cs typeface="Calibri"/>
              </a:rPr>
              <a:t>Yes </a:t>
            </a:r>
            <a:endParaRPr lang="en-US" sz="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b="1">
                <a:solidFill>
                  <a:srgbClr val="1E7A46"/>
                </a:solidFill>
                <a:latin typeface="Calibri"/>
                <a:ea typeface="Calibri"/>
                <a:cs typeface="Calibri"/>
              </a:rPr>
              <a:t>(HTTP/HTTPS) →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1427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8137" y="262000"/>
            <a:ext cx="1257300" cy="809625"/>
          </a:xfrm>
          <a:custGeom>
            <a:avLst/>
            <a:gdLst/>
            <a:ahLst/>
            <a:cxnLst/>
            <a:rect l="l" t="t" r="r" b="b"/>
            <a:pathLst>
              <a:path w="1257300" h="809625">
                <a:moveTo>
                  <a:pt x="0" y="404749"/>
                </a:moveTo>
                <a:lnTo>
                  <a:pt x="10121" y="331977"/>
                </a:lnTo>
                <a:lnTo>
                  <a:pt x="39306" y="263525"/>
                </a:lnTo>
                <a:lnTo>
                  <a:pt x="60502" y="231139"/>
                </a:lnTo>
                <a:lnTo>
                  <a:pt x="85788" y="200406"/>
                </a:lnTo>
                <a:lnTo>
                  <a:pt x="114947" y="171323"/>
                </a:lnTo>
                <a:lnTo>
                  <a:pt x="147777" y="143890"/>
                </a:lnTo>
                <a:lnTo>
                  <a:pt x="184035" y="118490"/>
                </a:lnTo>
                <a:lnTo>
                  <a:pt x="223507" y="95123"/>
                </a:lnTo>
                <a:lnTo>
                  <a:pt x="265963" y="74041"/>
                </a:lnTo>
                <a:lnTo>
                  <a:pt x="311200" y="55245"/>
                </a:lnTo>
                <a:lnTo>
                  <a:pt x="358978" y="38862"/>
                </a:lnTo>
                <a:lnTo>
                  <a:pt x="409079" y="25273"/>
                </a:lnTo>
                <a:lnTo>
                  <a:pt x="461289" y="14350"/>
                </a:lnTo>
                <a:lnTo>
                  <a:pt x="515391" y="6476"/>
                </a:lnTo>
                <a:lnTo>
                  <a:pt x="571144" y="1650"/>
                </a:lnTo>
                <a:lnTo>
                  <a:pt x="628332" y="0"/>
                </a:lnTo>
                <a:lnTo>
                  <a:pt x="685520" y="1650"/>
                </a:lnTo>
                <a:lnTo>
                  <a:pt x="741273" y="6476"/>
                </a:lnTo>
                <a:lnTo>
                  <a:pt x="795362" y="14350"/>
                </a:lnTo>
                <a:lnTo>
                  <a:pt x="847572" y="25273"/>
                </a:lnTo>
                <a:lnTo>
                  <a:pt x="897686" y="38862"/>
                </a:lnTo>
                <a:lnTo>
                  <a:pt x="945451" y="55245"/>
                </a:lnTo>
                <a:lnTo>
                  <a:pt x="990663" y="74041"/>
                </a:lnTo>
                <a:lnTo>
                  <a:pt x="1033208" y="95123"/>
                </a:lnTo>
                <a:lnTo>
                  <a:pt x="1072705" y="118490"/>
                </a:lnTo>
                <a:lnTo>
                  <a:pt x="1108900" y="143890"/>
                </a:lnTo>
                <a:lnTo>
                  <a:pt x="1141793" y="171323"/>
                </a:lnTo>
                <a:lnTo>
                  <a:pt x="1170876" y="200406"/>
                </a:lnTo>
                <a:lnTo>
                  <a:pt x="1196149" y="231139"/>
                </a:lnTo>
                <a:lnTo>
                  <a:pt x="1217358" y="263525"/>
                </a:lnTo>
                <a:lnTo>
                  <a:pt x="1246568" y="331977"/>
                </a:lnTo>
                <a:lnTo>
                  <a:pt x="1256728" y="404749"/>
                </a:lnTo>
                <a:lnTo>
                  <a:pt x="1254188" y="441578"/>
                </a:lnTo>
                <a:lnTo>
                  <a:pt x="1234249" y="512318"/>
                </a:lnTo>
                <a:lnTo>
                  <a:pt x="1196149" y="578231"/>
                </a:lnTo>
                <a:lnTo>
                  <a:pt x="1170876" y="608964"/>
                </a:lnTo>
                <a:lnTo>
                  <a:pt x="1141793" y="638175"/>
                </a:lnTo>
                <a:lnTo>
                  <a:pt x="1108900" y="665479"/>
                </a:lnTo>
                <a:lnTo>
                  <a:pt x="1072705" y="690879"/>
                </a:lnTo>
                <a:lnTo>
                  <a:pt x="1033208" y="714248"/>
                </a:lnTo>
                <a:lnTo>
                  <a:pt x="990663" y="735457"/>
                </a:lnTo>
                <a:lnTo>
                  <a:pt x="945451" y="754252"/>
                </a:lnTo>
                <a:lnTo>
                  <a:pt x="897686" y="770509"/>
                </a:lnTo>
                <a:lnTo>
                  <a:pt x="847572" y="784225"/>
                </a:lnTo>
                <a:lnTo>
                  <a:pt x="795362" y="795147"/>
                </a:lnTo>
                <a:lnTo>
                  <a:pt x="741273" y="803021"/>
                </a:lnTo>
                <a:lnTo>
                  <a:pt x="685520" y="807847"/>
                </a:lnTo>
                <a:lnTo>
                  <a:pt x="628332" y="809625"/>
                </a:lnTo>
                <a:lnTo>
                  <a:pt x="571144" y="807847"/>
                </a:lnTo>
                <a:lnTo>
                  <a:pt x="515391" y="803021"/>
                </a:lnTo>
                <a:lnTo>
                  <a:pt x="461289" y="795147"/>
                </a:lnTo>
                <a:lnTo>
                  <a:pt x="409079" y="784225"/>
                </a:lnTo>
                <a:lnTo>
                  <a:pt x="358978" y="770509"/>
                </a:lnTo>
                <a:lnTo>
                  <a:pt x="311200" y="754252"/>
                </a:lnTo>
                <a:lnTo>
                  <a:pt x="265963" y="735457"/>
                </a:lnTo>
                <a:lnTo>
                  <a:pt x="223507" y="714248"/>
                </a:lnTo>
                <a:lnTo>
                  <a:pt x="184035" y="691007"/>
                </a:lnTo>
                <a:lnTo>
                  <a:pt x="147777" y="665479"/>
                </a:lnTo>
                <a:lnTo>
                  <a:pt x="114947" y="638175"/>
                </a:lnTo>
                <a:lnTo>
                  <a:pt x="85788" y="608964"/>
                </a:lnTo>
                <a:lnTo>
                  <a:pt x="60502" y="578231"/>
                </a:lnTo>
                <a:lnTo>
                  <a:pt x="39306" y="545973"/>
                </a:lnTo>
                <a:lnTo>
                  <a:pt x="10121" y="477393"/>
                </a:lnTo>
                <a:lnTo>
                  <a:pt x="0" y="404749"/>
                </a:lnTo>
                <a:close/>
              </a:path>
            </a:pathLst>
          </a:custGeom>
          <a:ln w="12700">
            <a:solidFill>
              <a:srgbClr val="5B69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10750" y="19050"/>
            <a:ext cx="2200275" cy="102870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130"/>
              </a:spcBef>
            </a:pPr>
            <a:r>
              <a:rPr spc="-10"/>
              <a:t>FEASIBILITY</a:t>
            </a:r>
            <a:r>
              <a:rPr spc="-105"/>
              <a:t> </a:t>
            </a:r>
            <a:r>
              <a:t>AND</a:t>
            </a:r>
            <a:r>
              <a:rPr spc="-100"/>
              <a:t> </a:t>
            </a:r>
            <a:r>
              <a:rPr spc="-10"/>
              <a:t>VIABILITY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82340" y="729615"/>
            <a:ext cx="515175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>
                <a:solidFill>
                  <a:srgbClr val="5B6974"/>
                </a:solidFill>
                <a:latin typeface="Tahoma"/>
                <a:cs typeface="Tahoma"/>
              </a:rPr>
              <a:t>Buildable</a:t>
            </a:r>
            <a:r>
              <a:rPr sz="1050" spc="-60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050" spc="-10">
                <a:solidFill>
                  <a:srgbClr val="5B6974"/>
                </a:solidFill>
                <a:latin typeface="Tahoma"/>
                <a:cs typeface="Tahoma"/>
              </a:rPr>
              <a:t>with</a:t>
            </a:r>
            <a:r>
              <a:rPr sz="1050" spc="-25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050" spc="-30">
                <a:solidFill>
                  <a:srgbClr val="5B6974"/>
                </a:solidFill>
                <a:latin typeface="Tahoma"/>
                <a:cs typeface="Tahoma"/>
              </a:rPr>
              <a:t>existing</a:t>
            </a:r>
            <a:r>
              <a:rPr sz="1050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050" spc="-20">
                <a:solidFill>
                  <a:srgbClr val="5B6974"/>
                </a:solidFill>
                <a:latin typeface="Tahoma"/>
                <a:cs typeface="Tahoma"/>
              </a:rPr>
              <a:t>meteorological</a:t>
            </a:r>
            <a:r>
              <a:rPr sz="1050" spc="25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050" spc="-20">
                <a:solidFill>
                  <a:srgbClr val="5B6974"/>
                </a:solidFill>
                <a:latin typeface="Tahoma"/>
                <a:cs typeface="Tahoma"/>
              </a:rPr>
              <a:t>data,</a:t>
            </a:r>
            <a:r>
              <a:rPr sz="1050" spc="5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050" spc="-25">
                <a:solidFill>
                  <a:srgbClr val="5B6974"/>
                </a:solidFill>
                <a:latin typeface="Tahoma"/>
                <a:cs typeface="Tahoma"/>
              </a:rPr>
              <a:t>open</a:t>
            </a:r>
            <a:r>
              <a:rPr sz="1050" spc="-85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050" spc="-10">
                <a:solidFill>
                  <a:srgbClr val="5B6974"/>
                </a:solidFill>
                <a:latin typeface="Tahoma"/>
                <a:cs typeface="Tahoma"/>
              </a:rPr>
              <a:t>technologies</a:t>
            </a:r>
            <a:r>
              <a:rPr sz="1050" spc="-15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050" spc="-10">
                <a:solidFill>
                  <a:srgbClr val="5B6974"/>
                </a:solidFill>
                <a:latin typeface="Tahoma"/>
                <a:cs typeface="Tahoma"/>
              </a:rPr>
              <a:t>and</a:t>
            </a:r>
            <a:r>
              <a:rPr sz="1050" spc="-45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050">
                <a:solidFill>
                  <a:srgbClr val="5B6974"/>
                </a:solidFill>
                <a:latin typeface="Tahoma"/>
                <a:cs typeface="Tahoma"/>
              </a:rPr>
              <a:t>a</a:t>
            </a:r>
            <a:r>
              <a:rPr sz="1050" spc="-70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050" spc="-10">
                <a:solidFill>
                  <a:srgbClr val="5B6974"/>
                </a:solidFill>
                <a:latin typeface="Tahoma"/>
                <a:cs typeface="Tahoma"/>
              </a:rPr>
              <a:t>modular</a:t>
            </a:r>
            <a:r>
              <a:rPr sz="1050" spc="-140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050" spc="-10">
                <a:solidFill>
                  <a:srgbClr val="5B6974"/>
                </a:solidFill>
                <a:latin typeface="Tahoma"/>
                <a:cs typeface="Tahoma"/>
              </a:rPr>
              <a:t>architecture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99793" y="1378073"/>
            <a:ext cx="3035241" cy="1294358"/>
            <a:chOff x="542925" y="1320563"/>
            <a:chExt cx="3552825" cy="130873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2925" y="1320563"/>
              <a:ext cx="3552825" cy="130833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71500" y="1333499"/>
              <a:ext cx="3495040" cy="1238250"/>
            </a:xfrm>
            <a:custGeom>
              <a:avLst/>
              <a:gdLst/>
              <a:ahLst/>
              <a:cxnLst/>
              <a:rect l="l" t="t" r="r" b="b"/>
              <a:pathLst>
                <a:path w="3495040" h="1238250">
                  <a:moveTo>
                    <a:pt x="3288029" y="0"/>
                  </a:moveTo>
                  <a:lnTo>
                    <a:pt x="206895" y="0"/>
                  </a:lnTo>
                  <a:lnTo>
                    <a:pt x="159461" y="5461"/>
                  </a:lnTo>
                  <a:lnTo>
                    <a:pt x="115912" y="20954"/>
                  </a:lnTo>
                  <a:lnTo>
                    <a:pt x="77495" y="45338"/>
                  </a:lnTo>
                  <a:lnTo>
                    <a:pt x="45453" y="77215"/>
                  </a:lnTo>
                  <a:lnTo>
                    <a:pt x="21031" y="115570"/>
                  </a:lnTo>
                  <a:lnTo>
                    <a:pt x="5460" y="159003"/>
                  </a:lnTo>
                  <a:lnTo>
                    <a:pt x="0" y="206375"/>
                  </a:lnTo>
                  <a:lnTo>
                    <a:pt x="0" y="1031748"/>
                  </a:lnTo>
                  <a:lnTo>
                    <a:pt x="5460" y="1079119"/>
                  </a:lnTo>
                  <a:lnTo>
                    <a:pt x="21031" y="1122552"/>
                  </a:lnTo>
                  <a:lnTo>
                    <a:pt x="45453" y="1160907"/>
                  </a:lnTo>
                  <a:lnTo>
                    <a:pt x="77495" y="1192911"/>
                  </a:lnTo>
                  <a:lnTo>
                    <a:pt x="115912" y="1217295"/>
                  </a:lnTo>
                  <a:lnTo>
                    <a:pt x="159461" y="1232789"/>
                  </a:lnTo>
                  <a:lnTo>
                    <a:pt x="206895" y="1238250"/>
                  </a:lnTo>
                  <a:lnTo>
                    <a:pt x="3288029" y="1238250"/>
                  </a:lnTo>
                  <a:lnTo>
                    <a:pt x="3335528" y="1232789"/>
                  </a:lnTo>
                  <a:lnTo>
                    <a:pt x="3379089" y="1217295"/>
                  </a:lnTo>
                  <a:lnTo>
                    <a:pt x="3417570" y="1192911"/>
                  </a:lnTo>
                  <a:lnTo>
                    <a:pt x="3449574" y="1160907"/>
                  </a:lnTo>
                  <a:lnTo>
                    <a:pt x="3474085" y="1122552"/>
                  </a:lnTo>
                  <a:lnTo>
                    <a:pt x="3489579" y="1079119"/>
                  </a:lnTo>
                  <a:lnTo>
                    <a:pt x="3495040" y="1031748"/>
                  </a:lnTo>
                  <a:lnTo>
                    <a:pt x="3495040" y="206375"/>
                  </a:lnTo>
                  <a:lnTo>
                    <a:pt x="3489579" y="159003"/>
                  </a:lnTo>
                  <a:lnTo>
                    <a:pt x="3474085" y="115570"/>
                  </a:lnTo>
                  <a:lnTo>
                    <a:pt x="3449574" y="77215"/>
                  </a:lnTo>
                  <a:lnTo>
                    <a:pt x="3417570" y="45338"/>
                  </a:lnTo>
                  <a:lnTo>
                    <a:pt x="3379089" y="20954"/>
                  </a:lnTo>
                  <a:lnTo>
                    <a:pt x="3335528" y="5461"/>
                  </a:lnTo>
                  <a:lnTo>
                    <a:pt x="3288029" y="0"/>
                  </a:lnTo>
                  <a:close/>
                </a:path>
              </a:pathLst>
            </a:custGeom>
            <a:solidFill>
              <a:srgbClr val="F7F8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6262" y="1338325"/>
              <a:ext cx="3495675" cy="1238250"/>
            </a:xfrm>
            <a:custGeom>
              <a:avLst/>
              <a:gdLst/>
              <a:ahLst/>
              <a:cxnLst/>
              <a:rect l="l" t="t" r="r" b="b"/>
              <a:pathLst>
                <a:path w="3495675" h="1238250">
                  <a:moveTo>
                    <a:pt x="0" y="206375"/>
                  </a:moveTo>
                  <a:lnTo>
                    <a:pt x="5460" y="159003"/>
                  </a:lnTo>
                  <a:lnTo>
                    <a:pt x="21031" y="115570"/>
                  </a:lnTo>
                  <a:lnTo>
                    <a:pt x="45453" y="77215"/>
                  </a:lnTo>
                  <a:lnTo>
                    <a:pt x="77495" y="45212"/>
                  </a:lnTo>
                  <a:lnTo>
                    <a:pt x="115912" y="20954"/>
                  </a:lnTo>
                  <a:lnTo>
                    <a:pt x="159461" y="5334"/>
                  </a:lnTo>
                  <a:lnTo>
                    <a:pt x="206895" y="0"/>
                  </a:lnTo>
                  <a:lnTo>
                    <a:pt x="3288093" y="0"/>
                  </a:lnTo>
                  <a:lnTo>
                    <a:pt x="3335591" y="5334"/>
                  </a:lnTo>
                  <a:lnTo>
                    <a:pt x="3379152" y="20954"/>
                  </a:lnTo>
                  <a:lnTo>
                    <a:pt x="3417506" y="45212"/>
                  </a:lnTo>
                  <a:lnTo>
                    <a:pt x="3449637" y="77215"/>
                  </a:lnTo>
                  <a:lnTo>
                    <a:pt x="3474021" y="115570"/>
                  </a:lnTo>
                  <a:lnTo>
                    <a:pt x="3489642" y="159003"/>
                  </a:lnTo>
                  <a:lnTo>
                    <a:pt x="3495103" y="206375"/>
                  </a:lnTo>
                  <a:lnTo>
                    <a:pt x="3495103" y="1031748"/>
                  </a:lnTo>
                  <a:lnTo>
                    <a:pt x="3489642" y="1078991"/>
                  </a:lnTo>
                  <a:lnTo>
                    <a:pt x="3474021" y="1122552"/>
                  </a:lnTo>
                  <a:lnTo>
                    <a:pt x="3449637" y="1160779"/>
                  </a:lnTo>
                  <a:lnTo>
                    <a:pt x="3417506" y="1192784"/>
                  </a:lnTo>
                  <a:lnTo>
                    <a:pt x="3379152" y="1217168"/>
                  </a:lnTo>
                  <a:lnTo>
                    <a:pt x="3335591" y="1232789"/>
                  </a:lnTo>
                  <a:lnTo>
                    <a:pt x="3288093" y="1238250"/>
                  </a:lnTo>
                  <a:lnTo>
                    <a:pt x="206895" y="1238250"/>
                  </a:lnTo>
                  <a:lnTo>
                    <a:pt x="159461" y="1232789"/>
                  </a:lnTo>
                  <a:lnTo>
                    <a:pt x="115912" y="1217168"/>
                  </a:lnTo>
                  <a:lnTo>
                    <a:pt x="77495" y="1192784"/>
                  </a:lnTo>
                  <a:lnTo>
                    <a:pt x="45453" y="1160779"/>
                  </a:lnTo>
                  <a:lnTo>
                    <a:pt x="21031" y="1122552"/>
                  </a:lnTo>
                  <a:lnTo>
                    <a:pt x="5460" y="1078991"/>
                  </a:lnTo>
                  <a:lnTo>
                    <a:pt x="0" y="1031748"/>
                  </a:lnTo>
                  <a:lnTo>
                    <a:pt x="0" y="206375"/>
                  </a:lnTo>
                  <a:close/>
                </a:path>
              </a:pathLst>
            </a:custGeom>
            <a:ln w="12700">
              <a:solidFill>
                <a:srgbClr val="C8DC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441246" y="1493456"/>
            <a:ext cx="970280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b="1" spc="-90">
                <a:solidFill>
                  <a:srgbClr val="0E364F"/>
                </a:solidFill>
                <a:latin typeface="Tahoma"/>
                <a:cs typeface="Tahoma"/>
              </a:rPr>
              <a:t>DATA</a:t>
            </a:r>
            <a:r>
              <a:rPr sz="1250" b="1" spc="-18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50" b="1" spc="-20">
                <a:solidFill>
                  <a:srgbClr val="0E364F"/>
                </a:solidFill>
                <a:latin typeface="Tahoma"/>
                <a:cs typeface="Tahoma"/>
              </a:rPr>
              <a:t>READY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8771" y="1875180"/>
            <a:ext cx="2588847" cy="3545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125"/>
              </a:spcBef>
            </a:pPr>
            <a:r>
              <a:rPr sz="1100" spc="-25">
                <a:solidFill>
                  <a:srgbClr val="17202A"/>
                </a:solidFill>
                <a:latin typeface="Tahoma"/>
                <a:cs typeface="Tahoma"/>
              </a:rPr>
              <a:t>IMD</a:t>
            </a:r>
            <a:r>
              <a:rPr sz="1100" spc="-12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>
                <a:solidFill>
                  <a:srgbClr val="17202A"/>
                </a:solidFill>
                <a:latin typeface="Tahoma"/>
                <a:cs typeface="Tahoma"/>
              </a:rPr>
              <a:t>•</a:t>
            </a:r>
            <a:r>
              <a:rPr sz="1100" spc="-18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>
                <a:solidFill>
                  <a:srgbClr val="17202A"/>
                </a:solidFill>
                <a:latin typeface="Tahoma"/>
                <a:cs typeface="Tahoma"/>
              </a:rPr>
              <a:t>GFS</a:t>
            </a:r>
            <a:r>
              <a:rPr sz="1100" spc="-8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>
                <a:solidFill>
                  <a:srgbClr val="17202A"/>
                </a:solidFill>
                <a:latin typeface="Tahoma"/>
                <a:cs typeface="Tahoma"/>
              </a:rPr>
              <a:t>•</a:t>
            </a:r>
            <a:r>
              <a:rPr sz="1100" spc="-9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 spc="-10">
                <a:solidFill>
                  <a:srgbClr val="17202A"/>
                </a:solidFill>
                <a:latin typeface="Tahoma"/>
                <a:cs typeface="Tahoma"/>
              </a:rPr>
              <a:t>WRF</a:t>
            </a:r>
            <a:r>
              <a:rPr sz="1100" spc="-19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>
                <a:solidFill>
                  <a:srgbClr val="17202A"/>
                </a:solidFill>
                <a:latin typeface="Tahoma"/>
                <a:cs typeface="Tahoma"/>
              </a:rPr>
              <a:t>•</a:t>
            </a:r>
            <a:r>
              <a:rPr sz="1100" spc="-9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 spc="-10">
                <a:solidFill>
                  <a:srgbClr val="17202A"/>
                </a:solidFill>
                <a:latin typeface="Tahoma"/>
                <a:cs typeface="Tahoma"/>
              </a:rPr>
              <a:t>ERA5</a:t>
            </a:r>
            <a:r>
              <a:rPr sz="1100" spc="-12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>
                <a:solidFill>
                  <a:srgbClr val="17202A"/>
                </a:solidFill>
                <a:latin typeface="Tahoma"/>
                <a:cs typeface="Tahoma"/>
              </a:rPr>
              <a:t>•</a:t>
            </a:r>
            <a:r>
              <a:rPr sz="1100" spc="-17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 spc="-10">
                <a:solidFill>
                  <a:srgbClr val="17202A"/>
                </a:solidFill>
                <a:latin typeface="Tahoma"/>
                <a:cs typeface="Tahoma"/>
              </a:rPr>
              <a:t>WIS2.0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1100" spc="-25">
                <a:solidFill>
                  <a:srgbClr val="17202A"/>
                </a:solidFill>
                <a:latin typeface="Tahoma"/>
                <a:cs typeface="Tahoma"/>
              </a:rPr>
              <a:t>Existing</a:t>
            </a:r>
            <a:r>
              <a:rPr sz="1100" spc="-6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 spc="-10">
                <a:solidFill>
                  <a:srgbClr val="17202A"/>
                </a:solidFill>
                <a:latin typeface="Tahoma"/>
                <a:cs typeface="Tahoma"/>
              </a:rPr>
              <a:t>public</a:t>
            </a:r>
            <a:r>
              <a:rPr sz="1100" spc="-7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>
                <a:solidFill>
                  <a:srgbClr val="17202A"/>
                </a:solidFill>
                <a:latin typeface="Tahoma"/>
                <a:cs typeface="Tahoma"/>
              </a:rPr>
              <a:t>/</a:t>
            </a:r>
            <a:r>
              <a:rPr sz="1100" spc="-5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 spc="-10">
                <a:solidFill>
                  <a:srgbClr val="17202A"/>
                </a:solidFill>
                <a:latin typeface="Tahoma"/>
                <a:cs typeface="Tahoma"/>
              </a:rPr>
              <a:t>standards-based</a:t>
            </a:r>
            <a:r>
              <a:rPr sz="1100" spc="-3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 spc="-10">
                <a:solidFill>
                  <a:srgbClr val="17202A"/>
                </a:solidFill>
                <a:latin typeface="Tahoma"/>
                <a:cs typeface="Tahoma"/>
              </a:rPr>
              <a:t>sources.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639269" y="1406827"/>
            <a:ext cx="2714085" cy="1308336"/>
            <a:chOff x="4271268" y="1320563"/>
            <a:chExt cx="3577332" cy="1308336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71268" y="1320563"/>
              <a:ext cx="3577332" cy="130833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324350" y="1333499"/>
              <a:ext cx="3495675" cy="1238250"/>
            </a:xfrm>
            <a:custGeom>
              <a:avLst/>
              <a:gdLst/>
              <a:ahLst/>
              <a:cxnLst/>
              <a:rect l="l" t="t" r="r" b="b"/>
              <a:pathLst>
                <a:path w="3495675" h="1238250">
                  <a:moveTo>
                    <a:pt x="3289173" y="0"/>
                  </a:moveTo>
                  <a:lnTo>
                    <a:pt x="206375" y="0"/>
                  </a:lnTo>
                  <a:lnTo>
                    <a:pt x="159003" y="5461"/>
                  </a:lnTo>
                  <a:lnTo>
                    <a:pt x="115570" y="20954"/>
                  </a:lnTo>
                  <a:lnTo>
                    <a:pt x="77215" y="45338"/>
                  </a:lnTo>
                  <a:lnTo>
                    <a:pt x="45338" y="77215"/>
                  </a:lnTo>
                  <a:lnTo>
                    <a:pt x="20954" y="115570"/>
                  </a:lnTo>
                  <a:lnTo>
                    <a:pt x="5461" y="159003"/>
                  </a:lnTo>
                  <a:lnTo>
                    <a:pt x="0" y="206375"/>
                  </a:lnTo>
                  <a:lnTo>
                    <a:pt x="0" y="1031748"/>
                  </a:lnTo>
                  <a:lnTo>
                    <a:pt x="5461" y="1079119"/>
                  </a:lnTo>
                  <a:lnTo>
                    <a:pt x="20954" y="1122552"/>
                  </a:lnTo>
                  <a:lnTo>
                    <a:pt x="45338" y="1160907"/>
                  </a:lnTo>
                  <a:lnTo>
                    <a:pt x="77215" y="1192911"/>
                  </a:lnTo>
                  <a:lnTo>
                    <a:pt x="115570" y="1217295"/>
                  </a:lnTo>
                  <a:lnTo>
                    <a:pt x="159003" y="1232789"/>
                  </a:lnTo>
                  <a:lnTo>
                    <a:pt x="206375" y="1238250"/>
                  </a:lnTo>
                  <a:lnTo>
                    <a:pt x="3289173" y="1238250"/>
                  </a:lnTo>
                  <a:lnTo>
                    <a:pt x="3336544" y="1232789"/>
                  </a:lnTo>
                  <a:lnTo>
                    <a:pt x="3379978" y="1217295"/>
                  </a:lnTo>
                  <a:lnTo>
                    <a:pt x="3418331" y="1192911"/>
                  </a:lnTo>
                  <a:lnTo>
                    <a:pt x="3450335" y="1160907"/>
                  </a:lnTo>
                  <a:lnTo>
                    <a:pt x="3474720" y="1122552"/>
                  </a:lnTo>
                  <a:lnTo>
                    <a:pt x="3490214" y="1079119"/>
                  </a:lnTo>
                  <a:lnTo>
                    <a:pt x="3495675" y="1031748"/>
                  </a:lnTo>
                  <a:lnTo>
                    <a:pt x="3495675" y="206375"/>
                  </a:lnTo>
                  <a:lnTo>
                    <a:pt x="3490214" y="159003"/>
                  </a:lnTo>
                  <a:lnTo>
                    <a:pt x="3474720" y="115570"/>
                  </a:lnTo>
                  <a:lnTo>
                    <a:pt x="3450335" y="77215"/>
                  </a:lnTo>
                  <a:lnTo>
                    <a:pt x="3418331" y="45338"/>
                  </a:lnTo>
                  <a:lnTo>
                    <a:pt x="3379978" y="20954"/>
                  </a:lnTo>
                  <a:lnTo>
                    <a:pt x="3336544" y="5461"/>
                  </a:lnTo>
                  <a:lnTo>
                    <a:pt x="3289173" y="0"/>
                  </a:lnTo>
                  <a:close/>
                </a:path>
              </a:pathLst>
            </a:custGeom>
            <a:solidFill>
              <a:srgbClr val="F7F8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29176" y="1338325"/>
              <a:ext cx="3495675" cy="1238250"/>
            </a:xfrm>
            <a:custGeom>
              <a:avLst/>
              <a:gdLst/>
              <a:ahLst/>
              <a:cxnLst/>
              <a:rect l="l" t="t" r="r" b="b"/>
              <a:pathLst>
                <a:path w="3495675" h="1238250">
                  <a:moveTo>
                    <a:pt x="0" y="206375"/>
                  </a:moveTo>
                  <a:lnTo>
                    <a:pt x="5334" y="159003"/>
                  </a:lnTo>
                  <a:lnTo>
                    <a:pt x="20954" y="115570"/>
                  </a:lnTo>
                  <a:lnTo>
                    <a:pt x="45212" y="77215"/>
                  </a:lnTo>
                  <a:lnTo>
                    <a:pt x="77215" y="45212"/>
                  </a:lnTo>
                  <a:lnTo>
                    <a:pt x="115570" y="20954"/>
                  </a:lnTo>
                  <a:lnTo>
                    <a:pt x="159003" y="5334"/>
                  </a:lnTo>
                  <a:lnTo>
                    <a:pt x="206375" y="0"/>
                  </a:lnTo>
                  <a:lnTo>
                    <a:pt x="3289046" y="0"/>
                  </a:lnTo>
                  <a:lnTo>
                    <a:pt x="3336417" y="5334"/>
                  </a:lnTo>
                  <a:lnTo>
                    <a:pt x="3379978" y="20954"/>
                  </a:lnTo>
                  <a:lnTo>
                    <a:pt x="3418204" y="45212"/>
                  </a:lnTo>
                  <a:lnTo>
                    <a:pt x="3450208" y="77215"/>
                  </a:lnTo>
                  <a:lnTo>
                    <a:pt x="3474593" y="115570"/>
                  </a:lnTo>
                  <a:lnTo>
                    <a:pt x="3490214" y="159003"/>
                  </a:lnTo>
                  <a:lnTo>
                    <a:pt x="3495675" y="206375"/>
                  </a:lnTo>
                  <a:lnTo>
                    <a:pt x="3495675" y="1031748"/>
                  </a:lnTo>
                  <a:lnTo>
                    <a:pt x="3490214" y="1078991"/>
                  </a:lnTo>
                  <a:lnTo>
                    <a:pt x="3474593" y="1122552"/>
                  </a:lnTo>
                  <a:lnTo>
                    <a:pt x="3450208" y="1160779"/>
                  </a:lnTo>
                  <a:lnTo>
                    <a:pt x="3418204" y="1192784"/>
                  </a:lnTo>
                  <a:lnTo>
                    <a:pt x="3379978" y="1217168"/>
                  </a:lnTo>
                  <a:lnTo>
                    <a:pt x="3336417" y="1232789"/>
                  </a:lnTo>
                  <a:lnTo>
                    <a:pt x="3289046" y="1238250"/>
                  </a:lnTo>
                  <a:lnTo>
                    <a:pt x="206375" y="1238250"/>
                  </a:lnTo>
                  <a:lnTo>
                    <a:pt x="159003" y="1232789"/>
                  </a:lnTo>
                  <a:lnTo>
                    <a:pt x="115570" y="1217168"/>
                  </a:lnTo>
                  <a:lnTo>
                    <a:pt x="77215" y="1192784"/>
                  </a:lnTo>
                  <a:lnTo>
                    <a:pt x="45212" y="1160779"/>
                  </a:lnTo>
                  <a:lnTo>
                    <a:pt x="20954" y="1122552"/>
                  </a:lnTo>
                  <a:lnTo>
                    <a:pt x="5334" y="1078991"/>
                  </a:lnTo>
                  <a:lnTo>
                    <a:pt x="0" y="1031748"/>
                  </a:lnTo>
                  <a:lnTo>
                    <a:pt x="0" y="206375"/>
                  </a:lnTo>
                  <a:close/>
                </a:path>
              </a:pathLst>
            </a:custGeom>
            <a:ln w="12700">
              <a:solidFill>
                <a:srgbClr val="C8DC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206502" y="1493456"/>
            <a:ext cx="1647825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b="1" spc="-50">
                <a:solidFill>
                  <a:srgbClr val="0E364F"/>
                </a:solidFill>
                <a:latin typeface="Tahoma"/>
                <a:cs typeface="Tahoma"/>
              </a:rPr>
              <a:t>TECHNOLOGY</a:t>
            </a:r>
            <a:r>
              <a:rPr sz="1250" b="1" spc="-3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50" b="1" spc="-20">
                <a:solidFill>
                  <a:srgbClr val="0E364F"/>
                </a:solidFill>
                <a:latin typeface="Tahoma"/>
                <a:cs typeface="Tahoma"/>
              </a:rPr>
              <a:t>READY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445311" y="1405670"/>
            <a:ext cx="2827006" cy="1270387"/>
            <a:chOff x="8077200" y="1333499"/>
            <a:chExt cx="3490976" cy="1243076"/>
          </a:xfrm>
        </p:grpSpPr>
        <p:sp>
          <p:nvSpPr>
            <p:cNvPr id="20" name="object 20"/>
            <p:cNvSpPr/>
            <p:nvPr/>
          </p:nvSpPr>
          <p:spPr>
            <a:xfrm>
              <a:off x="8077200" y="1333499"/>
              <a:ext cx="3486150" cy="1238250"/>
            </a:xfrm>
            <a:custGeom>
              <a:avLst/>
              <a:gdLst/>
              <a:ahLst/>
              <a:cxnLst/>
              <a:rect l="l" t="t" r="r" b="b"/>
              <a:pathLst>
                <a:path w="3486150" h="1238250">
                  <a:moveTo>
                    <a:pt x="3279648" y="0"/>
                  </a:moveTo>
                  <a:lnTo>
                    <a:pt x="206375" y="0"/>
                  </a:lnTo>
                  <a:lnTo>
                    <a:pt x="159003" y="5461"/>
                  </a:lnTo>
                  <a:lnTo>
                    <a:pt x="115570" y="20954"/>
                  </a:lnTo>
                  <a:lnTo>
                    <a:pt x="77216" y="45338"/>
                  </a:lnTo>
                  <a:lnTo>
                    <a:pt x="45339" y="77215"/>
                  </a:lnTo>
                  <a:lnTo>
                    <a:pt x="20954" y="115570"/>
                  </a:lnTo>
                  <a:lnTo>
                    <a:pt x="5460" y="159003"/>
                  </a:lnTo>
                  <a:lnTo>
                    <a:pt x="0" y="206375"/>
                  </a:lnTo>
                  <a:lnTo>
                    <a:pt x="0" y="1031748"/>
                  </a:lnTo>
                  <a:lnTo>
                    <a:pt x="5460" y="1079119"/>
                  </a:lnTo>
                  <a:lnTo>
                    <a:pt x="20954" y="1122552"/>
                  </a:lnTo>
                  <a:lnTo>
                    <a:pt x="45339" y="1160907"/>
                  </a:lnTo>
                  <a:lnTo>
                    <a:pt x="77216" y="1192911"/>
                  </a:lnTo>
                  <a:lnTo>
                    <a:pt x="115570" y="1217295"/>
                  </a:lnTo>
                  <a:lnTo>
                    <a:pt x="159003" y="1232789"/>
                  </a:lnTo>
                  <a:lnTo>
                    <a:pt x="206375" y="1238250"/>
                  </a:lnTo>
                  <a:lnTo>
                    <a:pt x="3279648" y="1238250"/>
                  </a:lnTo>
                  <a:lnTo>
                    <a:pt x="3327019" y="1232789"/>
                  </a:lnTo>
                  <a:lnTo>
                    <a:pt x="3370453" y="1217295"/>
                  </a:lnTo>
                  <a:lnTo>
                    <a:pt x="3408806" y="1192911"/>
                  </a:lnTo>
                  <a:lnTo>
                    <a:pt x="3440810" y="1160907"/>
                  </a:lnTo>
                  <a:lnTo>
                    <a:pt x="3465195" y="1122552"/>
                  </a:lnTo>
                  <a:lnTo>
                    <a:pt x="3480689" y="1079119"/>
                  </a:lnTo>
                  <a:lnTo>
                    <a:pt x="3486150" y="1031748"/>
                  </a:lnTo>
                  <a:lnTo>
                    <a:pt x="3486150" y="206375"/>
                  </a:lnTo>
                  <a:lnTo>
                    <a:pt x="3480689" y="159003"/>
                  </a:lnTo>
                  <a:lnTo>
                    <a:pt x="3465195" y="115570"/>
                  </a:lnTo>
                  <a:lnTo>
                    <a:pt x="3440810" y="77215"/>
                  </a:lnTo>
                  <a:lnTo>
                    <a:pt x="3408806" y="45338"/>
                  </a:lnTo>
                  <a:lnTo>
                    <a:pt x="3370453" y="20954"/>
                  </a:lnTo>
                  <a:lnTo>
                    <a:pt x="3327019" y="5461"/>
                  </a:lnTo>
                  <a:lnTo>
                    <a:pt x="3279648" y="0"/>
                  </a:lnTo>
                  <a:close/>
                </a:path>
              </a:pathLst>
            </a:custGeom>
            <a:solidFill>
              <a:srgbClr val="F7F8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082026" y="1338325"/>
              <a:ext cx="3486150" cy="1238250"/>
            </a:xfrm>
            <a:custGeom>
              <a:avLst/>
              <a:gdLst/>
              <a:ahLst/>
              <a:cxnLst/>
              <a:rect l="l" t="t" r="r" b="b"/>
              <a:pathLst>
                <a:path w="3486150" h="1238250">
                  <a:moveTo>
                    <a:pt x="0" y="206375"/>
                  </a:moveTo>
                  <a:lnTo>
                    <a:pt x="5333" y="159003"/>
                  </a:lnTo>
                  <a:lnTo>
                    <a:pt x="20954" y="115570"/>
                  </a:lnTo>
                  <a:lnTo>
                    <a:pt x="45212" y="77215"/>
                  </a:lnTo>
                  <a:lnTo>
                    <a:pt x="77216" y="45212"/>
                  </a:lnTo>
                  <a:lnTo>
                    <a:pt x="115570" y="20954"/>
                  </a:lnTo>
                  <a:lnTo>
                    <a:pt x="159003" y="5334"/>
                  </a:lnTo>
                  <a:lnTo>
                    <a:pt x="206375" y="0"/>
                  </a:lnTo>
                  <a:lnTo>
                    <a:pt x="3279521" y="0"/>
                  </a:lnTo>
                  <a:lnTo>
                    <a:pt x="3326892" y="5334"/>
                  </a:lnTo>
                  <a:lnTo>
                    <a:pt x="3370453" y="20954"/>
                  </a:lnTo>
                  <a:lnTo>
                    <a:pt x="3408679" y="45212"/>
                  </a:lnTo>
                  <a:lnTo>
                    <a:pt x="3440683" y="77215"/>
                  </a:lnTo>
                  <a:lnTo>
                    <a:pt x="3465068" y="115570"/>
                  </a:lnTo>
                  <a:lnTo>
                    <a:pt x="3480689" y="159003"/>
                  </a:lnTo>
                  <a:lnTo>
                    <a:pt x="3486150" y="206375"/>
                  </a:lnTo>
                  <a:lnTo>
                    <a:pt x="3486150" y="1031748"/>
                  </a:lnTo>
                  <a:lnTo>
                    <a:pt x="3480689" y="1078991"/>
                  </a:lnTo>
                  <a:lnTo>
                    <a:pt x="3465068" y="1122552"/>
                  </a:lnTo>
                  <a:lnTo>
                    <a:pt x="3440683" y="1160779"/>
                  </a:lnTo>
                  <a:lnTo>
                    <a:pt x="3408679" y="1192784"/>
                  </a:lnTo>
                  <a:lnTo>
                    <a:pt x="3370453" y="1217168"/>
                  </a:lnTo>
                  <a:lnTo>
                    <a:pt x="3326892" y="1232789"/>
                  </a:lnTo>
                  <a:lnTo>
                    <a:pt x="3279521" y="1238250"/>
                  </a:lnTo>
                  <a:lnTo>
                    <a:pt x="206375" y="1238250"/>
                  </a:lnTo>
                  <a:lnTo>
                    <a:pt x="159003" y="1232789"/>
                  </a:lnTo>
                  <a:lnTo>
                    <a:pt x="115570" y="1217168"/>
                  </a:lnTo>
                  <a:lnTo>
                    <a:pt x="77216" y="1192784"/>
                  </a:lnTo>
                  <a:lnTo>
                    <a:pt x="45212" y="1160779"/>
                  </a:lnTo>
                  <a:lnTo>
                    <a:pt x="20954" y="1122552"/>
                  </a:lnTo>
                  <a:lnTo>
                    <a:pt x="5333" y="1078991"/>
                  </a:lnTo>
                  <a:lnTo>
                    <a:pt x="0" y="1031748"/>
                  </a:lnTo>
                  <a:lnTo>
                    <a:pt x="0" y="206375"/>
                  </a:lnTo>
                  <a:close/>
                </a:path>
              </a:pathLst>
            </a:custGeom>
            <a:ln w="12700">
              <a:solidFill>
                <a:srgbClr val="C8DC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542925" y="2834666"/>
            <a:ext cx="11039475" cy="413384"/>
            <a:chOff x="542925" y="2834666"/>
            <a:chExt cx="11039475" cy="413384"/>
          </a:xfrm>
        </p:grpSpPr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2925" y="2834666"/>
              <a:ext cx="11039475" cy="41335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71500" y="2847975"/>
              <a:ext cx="10981690" cy="342900"/>
            </a:xfrm>
            <a:custGeom>
              <a:avLst/>
              <a:gdLst/>
              <a:ahLst/>
              <a:cxnLst/>
              <a:rect l="l" t="t" r="r" b="b"/>
              <a:pathLst>
                <a:path w="10981690" h="342900">
                  <a:moveTo>
                    <a:pt x="10924413" y="0"/>
                  </a:moveTo>
                  <a:lnTo>
                    <a:pt x="57213" y="0"/>
                  </a:lnTo>
                  <a:lnTo>
                    <a:pt x="34937" y="4445"/>
                  </a:lnTo>
                  <a:lnTo>
                    <a:pt x="16751" y="16763"/>
                  </a:lnTo>
                  <a:lnTo>
                    <a:pt x="4495" y="34925"/>
                  </a:lnTo>
                  <a:lnTo>
                    <a:pt x="0" y="57150"/>
                  </a:lnTo>
                  <a:lnTo>
                    <a:pt x="0" y="285623"/>
                  </a:lnTo>
                  <a:lnTo>
                    <a:pt x="4495" y="307975"/>
                  </a:lnTo>
                  <a:lnTo>
                    <a:pt x="16751" y="326136"/>
                  </a:lnTo>
                  <a:lnTo>
                    <a:pt x="34937" y="338454"/>
                  </a:lnTo>
                  <a:lnTo>
                    <a:pt x="57213" y="342900"/>
                  </a:lnTo>
                  <a:lnTo>
                    <a:pt x="10924413" y="342900"/>
                  </a:lnTo>
                  <a:lnTo>
                    <a:pt x="10946765" y="338454"/>
                  </a:lnTo>
                  <a:lnTo>
                    <a:pt x="10964926" y="326136"/>
                  </a:lnTo>
                  <a:lnTo>
                    <a:pt x="10977245" y="307975"/>
                  </a:lnTo>
                  <a:lnTo>
                    <a:pt x="10981690" y="285623"/>
                  </a:lnTo>
                  <a:lnTo>
                    <a:pt x="10981690" y="57150"/>
                  </a:lnTo>
                  <a:lnTo>
                    <a:pt x="10977245" y="34925"/>
                  </a:lnTo>
                  <a:lnTo>
                    <a:pt x="10964926" y="16763"/>
                  </a:lnTo>
                  <a:lnTo>
                    <a:pt x="10946765" y="4445"/>
                  </a:lnTo>
                  <a:lnTo>
                    <a:pt x="10924413" y="0"/>
                  </a:lnTo>
                  <a:close/>
                </a:path>
              </a:pathLst>
            </a:custGeom>
            <a:solidFill>
              <a:srgbClr val="EC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6262" y="2852801"/>
              <a:ext cx="10982325" cy="342900"/>
            </a:xfrm>
            <a:custGeom>
              <a:avLst/>
              <a:gdLst/>
              <a:ahLst/>
              <a:cxnLst/>
              <a:rect l="l" t="t" r="r" b="b"/>
              <a:pathLst>
                <a:path w="10982325" h="342900">
                  <a:moveTo>
                    <a:pt x="0" y="57150"/>
                  </a:moveTo>
                  <a:lnTo>
                    <a:pt x="4495" y="34798"/>
                  </a:lnTo>
                  <a:lnTo>
                    <a:pt x="16751" y="16637"/>
                  </a:lnTo>
                  <a:lnTo>
                    <a:pt x="34937" y="4445"/>
                  </a:lnTo>
                  <a:lnTo>
                    <a:pt x="57213" y="0"/>
                  </a:lnTo>
                  <a:lnTo>
                    <a:pt x="10924476" y="0"/>
                  </a:lnTo>
                  <a:lnTo>
                    <a:pt x="10946701" y="4445"/>
                  </a:lnTo>
                  <a:lnTo>
                    <a:pt x="10964989" y="16637"/>
                  </a:lnTo>
                  <a:lnTo>
                    <a:pt x="10977308" y="34798"/>
                  </a:lnTo>
                  <a:lnTo>
                    <a:pt x="10981753" y="57150"/>
                  </a:lnTo>
                  <a:lnTo>
                    <a:pt x="10981753" y="285623"/>
                  </a:lnTo>
                  <a:lnTo>
                    <a:pt x="10977308" y="307848"/>
                  </a:lnTo>
                  <a:lnTo>
                    <a:pt x="10964989" y="326009"/>
                  </a:lnTo>
                  <a:lnTo>
                    <a:pt x="10946701" y="338327"/>
                  </a:lnTo>
                  <a:lnTo>
                    <a:pt x="10924476" y="342900"/>
                  </a:lnTo>
                  <a:lnTo>
                    <a:pt x="57213" y="342900"/>
                  </a:lnTo>
                  <a:lnTo>
                    <a:pt x="34937" y="338327"/>
                  </a:lnTo>
                  <a:lnTo>
                    <a:pt x="16751" y="326009"/>
                  </a:lnTo>
                  <a:lnTo>
                    <a:pt x="4495" y="307848"/>
                  </a:lnTo>
                  <a:lnTo>
                    <a:pt x="0" y="285623"/>
                  </a:lnTo>
                  <a:lnTo>
                    <a:pt x="0" y="57150"/>
                  </a:lnTo>
                  <a:close/>
                </a:path>
              </a:pathLst>
            </a:custGeom>
            <a:ln w="10160">
              <a:solidFill>
                <a:srgbClr val="C8DC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83577" y="2893631"/>
            <a:ext cx="27184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60">
                <a:solidFill>
                  <a:srgbClr val="0E364F"/>
                </a:solidFill>
                <a:latin typeface="Tahoma"/>
                <a:cs typeface="Tahoma"/>
              </a:rPr>
              <a:t>CHALLENGES</a:t>
            </a:r>
            <a:r>
              <a:rPr sz="1200" b="1" spc="-6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 spc="-95">
                <a:solidFill>
                  <a:srgbClr val="0E364F"/>
                </a:solidFill>
                <a:latin typeface="Tahoma"/>
                <a:cs typeface="Tahoma"/>
              </a:rPr>
              <a:t>→CONTROL</a:t>
            </a:r>
            <a:r>
              <a:rPr sz="1200" b="1" spc="-17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 spc="-65">
                <a:solidFill>
                  <a:srgbClr val="0E364F"/>
                </a:solidFill>
                <a:latin typeface="Tahoma"/>
                <a:cs typeface="Tahoma"/>
              </a:rPr>
              <a:t>STRATEGIES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42925" y="3311236"/>
            <a:ext cx="11039475" cy="661035"/>
            <a:chOff x="542925" y="3311236"/>
            <a:chExt cx="11039475" cy="661035"/>
          </a:xfrm>
        </p:grpSpPr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2925" y="3311236"/>
              <a:ext cx="11039475" cy="66068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71500" y="3324224"/>
              <a:ext cx="10981690" cy="590550"/>
            </a:xfrm>
            <a:custGeom>
              <a:avLst/>
              <a:gdLst/>
              <a:ahLst/>
              <a:cxnLst/>
              <a:rect l="l" t="t" r="r" b="b"/>
              <a:pathLst>
                <a:path w="10981690" h="590550">
                  <a:moveTo>
                    <a:pt x="10883265" y="0"/>
                  </a:moveTo>
                  <a:lnTo>
                    <a:pt x="98501" y="0"/>
                  </a:lnTo>
                  <a:lnTo>
                    <a:pt x="60159" y="7747"/>
                  </a:lnTo>
                  <a:lnTo>
                    <a:pt x="28854" y="28828"/>
                  </a:lnTo>
                  <a:lnTo>
                    <a:pt x="7746" y="60071"/>
                  </a:lnTo>
                  <a:lnTo>
                    <a:pt x="0" y="98425"/>
                  </a:lnTo>
                  <a:lnTo>
                    <a:pt x="0" y="492125"/>
                  </a:lnTo>
                  <a:lnTo>
                    <a:pt x="7746" y="530479"/>
                  </a:lnTo>
                  <a:lnTo>
                    <a:pt x="28854" y="561720"/>
                  </a:lnTo>
                  <a:lnTo>
                    <a:pt x="60159" y="582802"/>
                  </a:lnTo>
                  <a:lnTo>
                    <a:pt x="98501" y="590550"/>
                  </a:lnTo>
                  <a:lnTo>
                    <a:pt x="10883265" y="590550"/>
                  </a:lnTo>
                  <a:lnTo>
                    <a:pt x="10921619" y="582802"/>
                  </a:lnTo>
                  <a:lnTo>
                    <a:pt x="10952861" y="561720"/>
                  </a:lnTo>
                  <a:lnTo>
                    <a:pt x="10974070" y="530479"/>
                  </a:lnTo>
                  <a:lnTo>
                    <a:pt x="10981690" y="492125"/>
                  </a:lnTo>
                  <a:lnTo>
                    <a:pt x="10981690" y="98425"/>
                  </a:lnTo>
                  <a:lnTo>
                    <a:pt x="10974070" y="60071"/>
                  </a:lnTo>
                  <a:lnTo>
                    <a:pt x="10952861" y="28828"/>
                  </a:lnTo>
                  <a:lnTo>
                    <a:pt x="10921619" y="7747"/>
                  </a:lnTo>
                  <a:lnTo>
                    <a:pt x="108832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76262" y="3329050"/>
              <a:ext cx="10982325" cy="590550"/>
            </a:xfrm>
            <a:custGeom>
              <a:avLst/>
              <a:gdLst/>
              <a:ahLst/>
              <a:cxnLst/>
              <a:rect l="l" t="t" r="r" b="b"/>
              <a:pathLst>
                <a:path w="10982325" h="590550">
                  <a:moveTo>
                    <a:pt x="0" y="98425"/>
                  </a:moveTo>
                  <a:lnTo>
                    <a:pt x="7746" y="59944"/>
                  </a:lnTo>
                  <a:lnTo>
                    <a:pt x="28854" y="28701"/>
                  </a:lnTo>
                  <a:lnTo>
                    <a:pt x="60159" y="7620"/>
                  </a:lnTo>
                  <a:lnTo>
                    <a:pt x="98501" y="0"/>
                  </a:lnTo>
                  <a:lnTo>
                    <a:pt x="10883201" y="0"/>
                  </a:lnTo>
                  <a:lnTo>
                    <a:pt x="10921555" y="7620"/>
                  </a:lnTo>
                  <a:lnTo>
                    <a:pt x="10952924" y="28701"/>
                  </a:lnTo>
                  <a:lnTo>
                    <a:pt x="10974006" y="59944"/>
                  </a:lnTo>
                  <a:lnTo>
                    <a:pt x="10981753" y="98425"/>
                  </a:lnTo>
                  <a:lnTo>
                    <a:pt x="10981753" y="492125"/>
                  </a:lnTo>
                  <a:lnTo>
                    <a:pt x="10974006" y="530351"/>
                  </a:lnTo>
                  <a:lnTo>
                    <a:pt x="10952924" y="561594"/>
                  </a:lnTo>
                  <a:lnTo>
                    <a:pt x="10921555" y="582803"/>
                  </a:lnTo>
                  <a:lnTo>
                    <a:pt x="10883201" y="590550"/>
                  </a:lnTo>
                  <a:lnTo>
                    <a:pt x="98501" y="590550"/>
                  </a:lnTo>
                  <a:lnTo>
                    <a:pt x="60159" y="582803"/>
                  </a:lnTo>
                  <a:lnTo>
                    <a:pt x="28854" y="561721"/>
                  </a:lnTo>
                  <a:lnTo>
                    <a:pt x="7746" y="530351"/>
                  </a:lnTo>
                  <a:lnTo>
                    <a:pt x="0" y="492125"/>
                  </a:lnTo>
                  <a:lnTo>
                    <a:pt x="0" y="98425"/>
                  </a:lnTo>
                  <a:close/>
                </a:path>
              </a:pathLst>
            </a:custGeom>
            <a:ln w="7620">
              <a:solidFill>
                <a:srgbClr val="DCE3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56602" y="3425571"/>
            <a:ext cx="1684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70">
                <a:solidFill>
                  <a:srgbClr val="0E364F"/>
                </a:solidFill>
                <a:latin typeface="Tahoma"/>
                <a:cs typeface="Tahoma"/>
              </a:rPr>
              <a:t>MODEL</a:t>
            </a:r>
            <a:r>
              <a:rPr sz="1200" b="1" spc="-15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 spc="-80">
                <a:solidFill>
                  <a:srgbClr val="0E364F"/>
                </a:solidFill>
                <a:latin typeface="Tahoma"/>
                <a:cs typeface="Tahoma"/>
              </a:rPr>
              <a:t>DISAGREEMENT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679954" y="3407092"/>
            <a:ext cx="23114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>
                <a:solidFill>
                  <a:srgbClr val="17202A"/>
                </a:solidFill>
                <a:latin typeface="Tahoma"/>
                <a:cs typeface="Tahoma"/>
              </a:rPr>
              <a:t>Different</a:t>
            </a:r>
            <a:r>
              <a:rPr sz="1200" spc="-5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17202A"/>
                </a:solidFill>
                <a:latin typeface="Tahoma"/>
                <a:cs typeface="Tahoma"/>
              </a:rPr>
              <a:t>NWP</a:t>
            </a:r>
            <a:r>
              <a:rPr sz="1200" spc="-4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17202A"/>
                </a:solidFill>
                <a:latin typeface="Tahoma"/>
                <a:cs typeface="Tahoma"/>
              </a:rPr>
              <a:t>models</a:t>
            </a:r>
            <a:r>
              <a:rPr sz="1200" spc="-5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17202A"/>
                </a:solidFill>
                <a:latin typeface="Tahoma"/>
                <a:cs typeface="Tahoma"/>
              </a:rPr>
              <a:t>can</a:t>
            </a:r>
            <a:r>
              <a:rPr sz="1200" spc="-10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17202A"/>
                </a:solidFill>
                <a:latin typeface="Tahoma"/>
                <a:cs typeface="Tahoma"/>
              </a:rPr>
              <a:t>diverge</a:t>
            </a:r>
            <a:r>
              <a:rPr sz="950" spc="-10">
                <a:solidFill>
                  <a:srgbClr val="17202A"/>
                </a:solidFill>
                <a:latin typeface="Tahoma"/>
                <a:cs typeface="Tahoma"/>
              </a:rPr>
              <a:t>.</a:t>
            </a:r>
            <a:endParaRPr sz="95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526276" y="3407092"/>
            <a:ext cx="279908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sz="1200" b="1" spc="-60">
                <a:solidFill>
                  <a:srgbClr val="36815B"/>
                </a:solidFill>
                <a:latin typeface="Tahoma"/>
                <a:cs typeface="Tahoma"/>
              </a:rPr>
              <a:t>Consensus</a:t>
            </a:r>
            <a:r>
              <a:rPr sz="1200" b="1" spc="-120">
                <a:solidFill>
                  <a:srgbClr val="36815B"/>
                </a:solidFill>
                <a:latin typeface="Tahoma"/>
                <a:cs typeface="Tahoma"/>
              </a:rPr>
              <a:t> </a:t>
            </a:r>
            <a:r>
              <a:rPr sz="1200" b="1" spc="-50">
                <a:solidFill>
                  <a:srgbClr val="36815B"/>
                </a:solidFill>
                <a:latin typeface="Tahoma"/>
                <a:cs typeface="Tahoma"/>
              </a:rPr>
              <a:t>Score:</a:t>
            </a:r>
            <a:r>
              <a:rPr sz="1200" b="1" spc="-80">
                <a:solidFill>
                  <a:srgbClr val="36815B"/>
                </a:solidFill>
                <a:latin typeface="Tahoma"/>
                <a:cs typeface="Tahoma"/>
              </a:rPr>
              <a:t> </a:t>
            </a:r>
            <a:r>
              <a:rPr sz="1200" b="1" spc="-60">
                <a:solidFill>
                  <a:srgbClr val="36815B"/>
                </a:solidFill>
                <a:latin typeface="Tahoma"/>
                <a:cs typeface="Tahoma"/>
              </a:rPr>
              <a:t>≤10%</a:t>
            </a:r>
            <a:r>
              <a:rPr sz="1200" b="1" spc="-114">
                <a:solidFill>
                  <a:srgbClr val="36815B"/>
                </a:solidFill>
                <a:latin typeface="Tahoma"/>
                <a:cs typeface="Tahoma"/>
              </a:rPr>
              <a:t> </a:t>
            </a:r>
            <a:r>
              <a:rPr sz="1200" b="1" spc="-50">
                <a:solidFill>
                  <a:srgbClr val="36815B"/>
                </a:solidFill>
                <a:latin typeface="Tahoma"/>
                <a:cs typeface="Tahoma"/>
              </a:rPr>
              <a:t>spread</a:t>
            </a:r>
            <a:r>
              <a:rPr sz="1200" b="1" spc="-100">
                <a:solidFill>
                  <a:srgbClr val="36815B"/>
                </a:solidFill>
                <a:latin typeface="Tahoma"/>
                <a:cs typeface="Tahoma"/>
              </a:rPr>
              <a:t> </a:t>
            </a:r>
            <a:r>
              <a:rPr sz="1200" b="1" spc="-10">
                <a:solidFill>
                  <a:srgbClr val="36815B"/>
                </a:solidFill>
                <a:latin typeface="Tahoma"/>
                <a:cs typeface="Tahoma"/>
              </a:rPr>
              <a:t>=</a:t>
            </a:r>
            <a:r>
              <a:rPr sz="1200" b="1" spc="-110">
                <a:solidFill>
                  <a:srgbClr val="36815B"/>
                </a:solidFill>
                <a:latin typeface="Tahoma"/>
                <a:cs typeface="Tahoma"/>
              </a:rPr>
              <a:t> </a:t>
            </a:r>
            <a:r>
              <a:rPr sz="1200" b="1" spc="-20">
                <a:solidFill>
                  <a:srgbClr val="36815B"/>
                </a:solidFill>
                <a:latin typeface="Tahoma"/>
                <a:cs typeface="Tahoma"/>
              </a:rPr>
              <a:t>High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ts val="1435"/>
              </a:lnSpc>
            </a:pPr>
            <a:r>
              <a:rPr sz="1200" b="1" spc="-10">
                <a:solidFill>
                  <a:srgbClr val="36815B"/>
                </a:solidFill>
                <a:latin typeface="Tahoma"/>
                <a:cs typeface="Tahoma"/>
              </a:rPr>
              <a:t>confidence.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14350" y="3952875"/>
            <a:ext cx="11096625" cy="695325"/>
            <a:chOff x="514350" y="3952875"/>
            <a:chExt cx="11096625" cy="695325"/>
          </a:xfrm>
        </p:grpSpPr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4350" y="3952875"/>
              <a:ext cx="11096625" cy="69532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71500" y="3990975"/>
              <a:ext cx="10981690" cy="590550"/>
            </a:xfrm>
            <a:custGeom>
              <a:avLst/>
              <a:gdLst/>
              <a:ahLst/>
              <a:cxnLst/>
              <a:rect l="l" t="t" r="r" b="b"/>
              <a:pathLst>
                <a:path w="10981690" h="590550">
                  <a:moveTo>
                    <a:pt x="10883265" y="0"/>
                  </a:moveTo>
                  <a:lnTo>
                    <a:pt x="98501" y="0"/>
                  </a:lnTo>
                  <a:lnTo>
                    <a:pt x="60159" y="7747"/>
                  </a:lnTo>
                  <a:lnTo>
                    <a:pt x="28854" y="28829"/>
                  </a:lnTo>
                  <a:lnTo>
                    <a:pt x="7746" y="60070"/>
                  </a:lnTo>
                  <a:lnTo>
                    <a:pt x="0" y="98425"/>
                  </a:lnTo>
                  <a:lnTo>
                    <a:pt x="0" y="492125"/>
                  </a:lnTo>
                  <a:lnTo>
                    <a:pt x="7746" y="530479"/>
                  </a:lnTo>
                  <a:lnTo>
                    <a:pt x="28854" y="561720"/>
                  </a:lnTo>
                  <a:lnTo>
                    <a:pt x="60159" y="582802"/>
                  </a:lnTo>
                  <a:lnTo>
                    <a:pt x="98501" y="590550"/>
                  </a:lnTo>
                  <a:lnTo>
                    <a:pt x="10883265" y="590550"/>
                  </a:lnTo>
                  <a:lnTo>
                    <a:pt x="10921619" y="582802"/>
                  </a:lnTo>
                  <a:lnTo>
                    <a:pt x="10952861" y="561720"/>
                  </a:lnTo>
                  <a:lnTo>
                    <a:pt x="10974070" y="530479"/>
                  </a:lnTo>
                  <a:lnTo>
                    <a:pt x="10981690" y="492125"/>
                  </a:lnTo>
                  <a:lnTo>
                    <a:pt x="10981690" y="98425"/>
                  </a:lnTo>
                  <a:lnTo>
                    <a:pt x="10974070" y="60070"/>
                  </a:lnTo>
                  <a:lnTo>
                    <a:pt x="10952861" y="28829"/>
                  </a:lnTo>
                  <a:lnTo>
                    <a:pt x="10921619" y="7747"/>
                  </a:lnTo>
                  <a:lnTo>
                    <a:pt x="10883265" y="0"/>
                  </a:lnTo>
                  <a:close/>
                </a:path>
              </a:pathLst>
            </a:custGeom>
            <a:solidFill>
              <a:srgbClr val="F7F8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76262" y="3995801"/>
              <a:ext cx="10982325" cy="590550"/>
            </a:xfrm>
            <a:custGeom>
              <a:avLst/>
              <a:gdLst/>
              <a:ahLst/>
              <a:cxnLst/>
              <a:rect l="l" t="t" r="r" b="b"/>
              <a:pathLst>
                <a:path w="10982325" h="590550">
                  <a:moveTo>
                    <a:pt x="0" y="98425"/>
                  </a:moveTo>
                  <a:lnTo>
                    <a:pt x="7746" y="59943"/>
                  </a:lnTo>
                  <a:lnTo>
                    <a:pt x="28854" y="28701"/>
                  </a:lnTo>
                  <a:lnTo>
                    <a:pt x="60159" y="7619"/>
                  </a:lnTo>
                  <a:lnTo>
                    <a:pt x="98501" y="0"/>
                  </a:lnTo>
                  <a:lnTo>
                    <a:pt x="10883201" y="0"/>
                  </a:lnTo>
                  <a:lnTo>
                    <a:pt x="10921555" y="7619"/>
                  </a:lnTo>
                  <a:lnTo>
                    <a:pt x="10952924" y="28701"/>
                  </a:lnTo>
                  <a:lnTo>
                    <a:pt x="10974006" y="59943"/>
                  </a:lnTo>
                  <a:lnTo>
                    <a:pt x="10981753" y="98425"/>
                  </a:lnTo>
                  <a:lnTo>
                    <a:pt x="10981753" y="492125"/>
                  </a:lnTo>
                  <a:lnTo>
                    <a:pt x="10974006" y="530351"/>
                  </a:lnTo>
                  <a:lnTo>
                    <a:pt x="10952924" y="561594"/>
                  </a:lnTo>
                  <a:lnTo>
                    <a:pt x="10921555" y="582803"/>
                  </a:lnTo>
                  <a:lnTo>
                    <a:pt x="10883201" y="590550"/>
                  </a:lnTo>
                  <a:lnTo>
                    <a:pt x="98501" y="590550"/>
                  </a:lnTo>
                  <a:lnTo>
                    <a:pt x="60159" y="582803"/>
                  </a:lnTo>
                  <a:lnTo>
                    <a:pt x="28854" y="561721"/>
                  </a:lnTo>
                  <a:lnTo>
                    <a:pt x="7746" y="530351"/>
                  </a:lnTo>
                  <a:lnTo>
                    <a:pt x="0" y="492125"/>
                  </a:lnTo>
                  <a:lnTo>
                    <a:pt x="0" y="98425"/>
                  </a:lnTo>
                  <a:close/>
                </a:path>
              </a:pathLst>
            </a:custGeom>
            <a:ln w="7620">
              <a:solidFill>
                <a:srgbClr val="DCE3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756602" y="4095495"/>
            <a:ext cx="15125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75">
                <a:solidFill>
                  <a:srgbClr val="0E364F"/>
                </a:solidFill>
                <a:latin typeface="Tahoma"/>
                <a:cs typeface="Tahoma"/>
              </a:rPr>
              <a:t>LLM</a:t>
            </a:r>
            <a:r>
              <a:rPr sz="1200" b="1" spc="-15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 spc="-80">
                <a:solidFill>
                  <a:srgbClr val="0E364F"/>
                </a:solidFill>
                <a:latin typeface="Tahoma"/>
                <a:cs typeface="Tahoma"/>
              </a:rPr>
              <a:t>HALLUCINATION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679954" y="4076128"/>
            <a:ext cx="28225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0">
                <a:solidFill>
                  <a:srgbClr val="17202A"/>
                </a:solidFill>
                <a:latin typeface="Tahoma"/>
                <a:cs typeface="Tahoma"/>
              </a:rPr>
              <a:t>Free-</a:t>
            </a:r>
            <a:r>
              <a:rPr sz="1200" spc="-25">
                <a:solidFill>
                  <a:srgbClr val="17202A"/>
                </a:solidFill>
                <a:latin typeface="Tahoma"/>
                <a:cs typeface="Tahoma"/>
              </a:rPr>
              <a:t>form</a:t>
            </a:r>
            <a:r>
              <a:rPr sz="1200" spc="-10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35">
                <a:solidFill>
                  <a:srgbClr val="17202A"/>
                </a:solidFill>
                <a:latin typeface="Tahoma"/>
                <a:cs typeface="Tahoma"/>
              </a:rPr>
              <a:t>generation</a:t>
            </a:r>
            <a:r>
              <a:rPr sz="1200" spc="-1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17202A"/>
                </a:solidFill>
                <a:latin typeface="Tahoma"/>
                <a:cs typeface="Tahoma"/>
              </a:rPr>
              <a:t>can</a:t>
            </a:r>
            <a:r>
              <a:rPr sz="1200" spc="-10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35">
                <a:solidFill>
                  <a:srgbClr val="17202A"/>
                </a:solidFill>
                <a:latin typeface="Tahoma"/>
                <a:cs typeface="Tahoma"/>
              </a:rPr>
              <a:t>invent</a:t>
            </a:r>
            <a:r>
              <a:rPr sz="1200" spc="-4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17202A"/>
                </a:solidFill>
                <a:latin typeface="Tahoma"/>
                <a:cs typeface="Tahoma"/>
              </a:rPr>
              <a:t>reasoning.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526276" y="4076128"/>
            <a:ext cx="2836545" cy="38989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b="1" spc="-70">
                <a:solidFill>
                  <a:srgbClr val="36815B"/>
                </a:solidFill>
                <a:latin typeface="Tahoma"/>
                <a:cs typeface="Tahoma"/>
              </a:rPr>
              <a:t>Structured</a:t>
            </a:r>
            <a:r>
              <a:rPr sz="1200" b="1" spc="-114">
                <a:solidFill>
                  <a:srgbClr val="36815B"/>
                </a:solidFill>
                <a:latin typeface="Tahoma"/>
                <a:cs typeface="Tahoma"/>
              </a:rPr>
              <a:t> </a:t>
            </a:r>
            <a:r>
              <a:rPr sz="1200" b="1" spc="-55">
                <a:solidFill>
                  <a:srgbClr val="36815B"/>
                </a:solidFill>
                <a:latin typeface="Tahoma"/>
                <a:cs typeface="Tahoma"/>
              </a:rPr>
              <a:t>Risk</a:t>
            </a:r>
            <a:r>
              <a:rPr sz="1200" b="1" spc="-80">
                <a:solidFill>
                  <a:srgbClr val="36815B"/>
                </a:solidFill>
                <a:latin typeface="Tahoma"/>
                <a:cs typeface="Tahoma"/>
              </a:rPr>
              <a:t> </a:t>
            </a:r>
            <a:r>
              <a:rPr sz="1200" b="1" spc="-65">
                <a:solidFill>
                  <a:srgbClr val="36815B"/>
                </a:solidFill>
                <a:latin typeface="Tahoma"/>
                <a:cs typeface="Tahoma"/>
              </a:rPr>
              <a:t>Object</a:t>
            </a:r>
            <a:r>
              <a:rPr sz="1200" b="1" spc="-160">
                <a:solidFill>
                  <a:srgbClr val="36815B"/>
                </a:solidFill>
                <a:latin typeface="Tahoma"/>
                <a:cs typeface="Tahoma"/>
              </a:rPr>
              <a:t> </a:t>
            </a:r>
            <a:r>
              <a:rPr sz="1200" b="1" spc="-65">
                <a:solidFill>
                  <a:srgbClr val="36815B"/>
                </a:solidFill>
                <a:latin typeface="Tahoma"/>
                <a:cs typeface="Tahoma"/>
              </a:rPr>
              <a:t>only </a:t>
            </a:r>
            <a:r>
              <a:rPr sz="1200" b="1">
                <a:solidFill>
                  <a:srgbClr val="36815B"/>
                </a:solidFill>
                <a:latin typeface="Tahoma"/>
                <a:cs typeface="Tahoma"/>
              </a:rPr>
              <a:t>—</a:t>
            </a:r>
            <a:r>
              <a:rPr sz="1200" b="1" spc="-110">
                <a:solidFill>
                  <a:srgbClr val="36815B"/>
                </a:solidFill>
                <a:latin typeface="Tahoma"/>
                <a:cs typeface="Tahoma"/>
              </a:rPr>
              <a:t> </a:t>
            </a:r>
            <a:r>
              <a:rPr sz="1200" b="1" spc="-45">
                <a:solidFill>
                  <a:srgbClr val="36815B"/>
                </a:solidFill>
                <a:latin typeface="Tahoma"/>
                <a:cs typeface="Tahoma"/>
              </a:rPr>
              <a:t>LLM</a:t>
            </a:r>
            <a:r>
              <a:rPr sz="1200" b="1" spc="-135">
                <a:solidFill>
                  <a:srgbClr val="36815B"/>
                </a:solidFill>
                <a:latin typeface="Tahoma"/>
                <a:cs typeface="Tahoma"/>
              </a:rPr>
              <a:t> </a:t>
            </a:r>
            <a:r>
              <a:rPr sz="1200" b="1" spc="-30">
                <a:solidFill>
                  <a:srgbClr val="36815B"/>
                </a:solidFill>
                <a:latin typeface="Tahoma"/>
                <a:cs typeface="Tahoma"/>
              </a:rPr>
              <a:t>never </a:t>
            </a:r>
            <a:r>
              <a:rPr sz="1200" b="1" spc="-70">
                <a:solidFill>
                  <a:srgbClr val="36815B"/>
                </a:solidFill>
                <a:latin typeface="Tahoma"/>
                <a:cs typeface="Tahoma"/>
              </a:rPr>
              <a:t>outputs</a:t>
            </a:r>
            <a:r>
              <a:rPr sz="1200" b="1" spc="-125">
                <a:solidFill>
                  <a:srgbClr val="36815B"/>
                </a:solidFill>
                <a:latin typeface="Tahoma"/>
                <a:cs typeface="Tahoma"/>
              </a:rPr>
              <a:t> </a:t>
            </a:r>
            <a:r>
              <a:rPr sz="1200" b="1" spc="-45">
                <a:solidFill>
                  <a:srgbClr val="36815B"/>
                </a:solidFill>
                <a:latin typeface="Tahoma"/>
                <a:cs typeface="Tahoma"/>
              </a:rPr>
              <a:t>raw</a:t>
            </a:r>
            <a:r>
              <a:rPr sz="1200" b="1" spc="-125">
                <a:solidFill>
                  <a:srgbClr val="36815B"/>
                </a:solidFill>
                <a:latin typeface="Tahoma"/>
                <a:cs typeface="Tahoma"/>
              </a:rPr>
              <a:t> </a:t>
            </a:r>
            <a:r>
              <a:rPr sz="1200" b="1" spc="-10">
                <a:solidFill>
                  <a:srgbClr val="36815B"/>
                </a:solidFill>
                <a:latin typeface="Tahoma"/>
                <a:cs typeface="Tahoma"/>
              </a:rPr>
              <a:t>numbers.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14350" y="4619625"/>
            <a:ext cx="11096625" cy="704850"/>
            <a:chOff x="514350" y="4619625"/>
            <a:chExt cx="11096625" cy="704850"/>
          </a:xfrm>
        </p:grpSpPr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4350" y="4619625"/>
              <a:ext cx="11096625" cy="70485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571500" y="4657725"/>
              <a:ext cx="10981690" cy="590550"/>
            </a:xfrm>
            <a:custGeom>
              <a:avLst/>
              <a:gdLst/>
              <a:ahLst/>
              <a:cxnLst/>
              <a:rect l="l" t="t" r="r" b="b"/>
              <a:pathLst>
                <a:path w="10981690" h="590550">
                  <a:moveTo>
                    <a:pt x="10883265" y="0"/>
                  </a:moveTo>
                  <a:lnTo>
                    <a:pt x="98501" y="0"/>
                  </a:lnTo>
                  <a:lnTo>
                    <a:pt x="60159" y="7747"/>
                  </a:lnTo>
                  <a:lnTo>
                    <a:pt x="28854" y="28829"/>
                  </a:lnTo>
                  <a:lnTo>
                    <a:pt x="7746" y="60070"/>
                  </a:lnTo>
                  <a:lnTo>
                    <a:pt x="0" y="98425"/>
                  </a:lnTo>
                  <a:lnTo>
                    <a:pt x="0" y="492125"/>
                  </a:lnTo>
                  <a:lnTo>
                    <a:pt x="7746" y="530479"/>
                  </a:lnTo>
                  <a:lnTo>
                    <a:pt x="28854" y="561720"/>
                  </a:lnTo>
                  <a:lnTo>
                    <a:pt x="60159" y="582803"/>
                  </a:lnTo>
                  <a:lnTo>
                    <a:pt x="98501" y="590550"/>
                  </a:lnTo>
                  <a:lnTo>
                    <a:pt x="10883265" y="590550"/>
                  </a:lnTo>
                  <a:lnTo>
                    <a:pt x="10921619" y="582803"/>
                  </a:lnTo>
                  <a:lnTo>
                    <a:pt x="10952861" y="561720"/>
                  </a:lnTo>
                  <a:lnTo>
                    <a:pt x="10974070" y="530479"/>
                  </a:lnTo>
                  <a:lnTo>
                    <a:pt x="10981690" y="492125"/>
                  </a:lnTo>
                  <a:lnTo>
                    <a:pt x="10981690" y="98425"/>
                  </a:lnTo>
                  <a:lnTo>
                    <a:pt x="10974070" y="60070"/>
                  </a:lnTo>
                  <a:lnTo>
                    <a:pt x="10952861" y="28829"/>
                  </a:lnTo>
                  <a:lnTo>
                    <a:pt x="10921619" y="7747"/>
                  </a:lnTo>
                  <a:lnTo>
                    <a:pt x="108832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76262" y="4662551"/>
              <a:ext cx="10982325" cy="590550"/>
            </a:xfrm>
            <a:custGeom>
              <a:avLst/>
              <a:gdLst/>
              <a:ahLst/>
              <a:cxnLst/>
              <a:rect l="l" t="t" r="r" b="b"/>
              <a:pathLst>
                <a:path w="10982325" h="590550">
                  <a:moveTo>
                    <a:pt x="0" y="98425"/>
                  </a:moveTo>
                  <a:lnTo>
                    <a:pt x="7746" y="59943"/>
                  </a:lnTo>
                  <a:lnTo>
                    <a:pt x="28854" y="28701"/>
                  </a:lnTo>
                  <a:lnTo>
                    <a:pt x="60159" y="7619"/>
                  </a:lnTo>
                  <a:lnTo>
                    <a:pt x="98501" y="0"/>
                  </a:lnTo>
                  <a:lnTo>
                    <a:pt x="10883201" y="0"/>
                  </a:lnTo>
                  <a:lnTo>
                    <a:pt x="10921555" y="7619"/>
                  </a:lnTo>
                  <a:lnTo>
                    <a:pt x="10952924" y="28701"/>
                  </a:lnTo>
                  <a:lnTo>
                    <a:pt x="10974006" y="59943"/>
                  </a:lnTo>
                  <a:lnTo>
                    <a:pt x="10981753" y="98425"/>
                  </a:lnTo>
                  <a:lnTo>
                    <a:pt x="10981753" y="492125"/>
                  </a:lnTo>
                  <a:lnTo>
                    <a:pt x="10974006" y="530351"/>
                  </a:lnTo>
                  <a:lnTo>
                    <a:pt x="10952924" y="561594"/>
                  </a:lnTo>
                  <a:lnTo>
                    <a:pt x="10921555" y="582803"/>
                  </a:lnTo>
                  <a:lnTo>
                    <a:pt x="10883201" y="590550"/>
                  </a:lnTo>
                  <a:lnTo>
                    <a:pt x="98501" y="590550"/>
                  </a:lnTo>
                  <a:lnTo>
                    <a:pt x="60159" y="582803"/>
                  </a:lnTo>
                  <a:lnTo>
                    <a:pt x="28854" y="561721"/>
                  </a:lnTo>
                  <a:lnTo>
                    <a:pt x="7746" y="530351"/>
                  </a:lnTo>
                  <a:lnTo>
                    <a:pt x="0" y="492125"/>
                  </a:lnTo>
                  <a:lnTo>
                    <a:pt x="0" y="98425"/>
                  </a:lnTo>
                  <a:close/>
                </a:path>
              </a:pathLst>
            </a:custGeom>
            <a:ln w="7620">
              <a:solidFill>
                <a:srgbClr val="DCE3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56602" y="4763706"/>
            <a:ext cx="117919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85">
                <a:solidFill>
                  <a:srgbClr val="0E364F"/>
                </a:solidFill>
                <a:latin typeface="Tahoma"/>
                <a:cs typeface="Tahoma"/>
              </a:rPr>
              <a:t>LATENCY</a:t>
            </a:r>
            <a:r>
              <a:rPr sz="1200" b="1" spc="-14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 spc="-10">
                <a:solidFill>
                  <a:srgbClr val="0E364F"/>
                </a:solidFill>
                <a:latin typeface="Tahoma"/>
                <a:cs typeface="Tahoma"/>
              </a:rPr>
              <a:t>/COST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679954" y="4745418"/>
            <a:ext cx="315976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>
                <a:solidFill>
                  <a:srgbClr val="17202A"/>
                </a:solidFill>
                <a:latin typeface="Tahoma"/>
                <a:cs typeface="Tahoma"/>
              </a:rPr>
              <a:t>Multi-</a:t>
            </a:r>
            <a:r>
              <a:rPr sz="1200">
                <a:solidFill>
                  <a:srgbClr val="17202A"/>
                </a:solidFill>
                <a:latin typeface="Tahoma"/>
                <a:cs typeface="Tahoma"/>
              </a:rPr>
              <a:t>source</a:t>
            </a:r>
            <a:r>
              <a:rPr sz="1200" spc="-3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17202A"/>
                </a:solidFill>
                <a:latin typeface="Tahoma"/>
                <a:cs typeface="Tahoma"/>
              </a:rPr>
              <a:t>calls</a:t>
            </a:r>
            <a:r>
              <a:rPr sz="1200" spc="-6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17202A"/>
                </a:solidFill>
                <a:latin typeface="Tahoma"/>
                <a:cs typeface="Tahoma"/>
              </a:rPr>
              <a:t>+LLM</a:t>
            </a:r>
            <a:r>
              <a:rPr sz="1200" spc="-5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17202A"/>
                </a:solidFill>
                <a:latin typeface="Tahoma"/>
                <a:cs typeface="Tahoma"/>
              </a:rPr>
              <a:t>calls</a:t>
            </a:r>
            <a:r>
              <a:rPr sz="1200" spc="-6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17202A"/>
                </a:solidFill>
                <a:latin typeface="Tahoma"/>
                <a:cs typeface="Tahoma"/>
              </a:rPr>
              <a:t>can</a:t>
            </a:r>
            <a:r>
              <a:rPr sz="1200" spc="-8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17202A"/>
                </a:solidFill>
                <a:latin typeface="Tahoma"/>
                <a:cs typeface="Tahoma"/>
              </a:rPr>
              <a:t>be</a:t>
            </a:r>
            <a:r>
              <a:rPr sz="1200" spc="-3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17202A"/>
                </a:solidFill>
                <a:latin typeface="Tahoma"/>
                <a:cs typeface="Tahoma"/>
              </a:rPr>
              <a:t>expensive.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526276" y="4745418"/>
            <a:ext cx="3905885" cy="38989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b="1" spc="-90">
                <a:solidFill>
                  <a:srgbClr val="36815B"/>
                </a:solidFill>
                <a:latin typeface="Tahoma"/>
                <a:cs typeface="Tahoma"/>
              </a:rPr>
              <a:t>Background</a:t>
            </a:r>
            <a:r>
              <a:rPr sz="1200" b="1" spc="-95">
                <a:solidFill>
                  <a:srgbClr val="36815B"/>
                </a:solidFill>
                <a:latin typeface="Tahoma"/>
                <a:cs typeface="Tahoma"/>
              </a:rPr>
              <a:t> </a:t>
            </a:r>
            <a:r>
              <a:rPr sz="1200" b="1" spc="-85">
                <a:solidFill>
                  <a:srgbClr val="36815B"/>
                </a:solidFill>
                <a:latin typeface="Tahoma"/>
                <a:cs typeface="Tahoma"/>
              </a:rPr>
              <a:t>ingestion</a:t>
            </a:r>
            <a:r>
              <a:rPr sz="1200" b="1" spc="-110">
                <a:solidFill>
                  <a:srgbClr val="36815B"/>
                </a:solidFill>
                <a:latin typeface="Tahoma"/>
                <a:cs typeface="Tahoma"/>
              </a:rPr>
              <a:t> </a:t>
            </a:r>
            <a:r>
              <a:rPr sz="1200" b="1" spc="-10">
                <a:solidFill>
                  <a:srgbClr val="36815B"/>
                </a:solidFill>
                <a:latin typeface="Tahoma"/>
                <a:cs typeface="Tahoma"/>
              </a:rPr>
              <a:t>+</a:t>
            </a:r>
            <a:r>
              <a:rPr sz="1200" b="1" spc="-95">
                <a:solidFill>
                  <a:srgbClr val="36815B"/>
                </a:solidFill>
                <a:latin typeface="Tahoma"/>
                <a:cs typeface="Tahoma"/>
              </a:rPr>
              <a:t> </a:t>
            </a:r>
            <a:r>
              <a:rPr sz="1200" b="1" spc="-85">
                <a:solidFill>
                  <a:srgbClr val="36815B"/>
                </a:solidFill>
                <a:latin typeface="Tahoma"/>
                <a:cs typeface="Tahoma"/>
              </a:rPr>
              <a:t>Redis</a:t>
            </a:r>
            <a:r>
              <a:rPr sz="1200" b="1" spc="-110">
                <a:solidFill>
                  <a:srgbClr val="36815B"/>
                </a:solidFill>
                <a:latin typeface="Tahoma"/>
                <a:cs typeface="Tahoma"/>
              </a:rPr>
              <a:t> </a:t>
            </a:r>
            <a:r>
              <a:rPr sz="1200" b="1" spc="-75">
                <a:solidFill>
                  <a:srgbClr val="36815B"/>
                </a:solidFill>
                <a:latin typeface="Tahoma"/>
                <a:cs typeface="Tahoma"/>
              </a:rPr>
              <a:t>cache;</a:t>
            </a:r>
            <a:r>
              <a:rPr sz="1200" b="1" spc="-155">
                <a:solidFill>
                  <a:srgbClr val="36815B"/>
                </a:solidFill>
                <a:latin typeface="Tahoma"/>
                <a:cs typeface="Tahoma"/>
              </a:rPr>
              <a:t> </a:t>
            </a:r>
            <a:r>
              <a:rPr sz="1200" b="1" spc="-70">
                <a:solidFill>
                  <a:srgbClr val="36815B"/>
                </a:solidFill>
                <a:latin typeface="Tahoma"/>
                <a:cs typeface="Tahoma"/>
              </a:rPr>
              <a:t>target</a:t>
            </a:r>
            <a:r>
              <a:rPr sz="1200" b="1" spc="-145">
                <a:solidFill>
                  <a:srgbClr val="36815B"/>
                </a:solidFill>
                <a:latin typeface="Tahoma"/>
                <a:cs typeface="Tahoma"/>
              </a:rPr>
              <a:t> </a:t>
            </a:r>
            <a:r>
              <a:rPr sz="1200" b="1" spc="-70">
                <a:solidFill>
                  <a:srgbClr val="36815B"/>
                </a:solidFill>
                <a:latin typeface="Tahoma"/>
                <a:cs typeface="Tahoma"/>
              </a:rPr>
              <a:t>&lt;3s</a:t>
            </a:r>
            <a:r>
              <a:rPr sz="1200" b="1" spc="-110">
                <a:solidFill>
                  <a:srgbClr val="36815B"/>
                </a:solidFill>
                <a:latin typeface="Tahoma"/>
                <a:cs typeface="Tahoma"/>
              </a:rPr>
              <a:t> </a:t>
            </a:r>
            <a:r>
              <a:rPr sz="1200" b="1" spc="-55">
                <a:solidFill>
                  <a:srgbClr val="36815B"/>
                </a:solidFill>
                <a:latin typeface="Tahoma"/>
                <a:cs typeface="Tahoma"/>
              </a:rPr>
              <a:t>response </a:t>
            </a:r>
            <a:r>
              <a:rPr sz="1200" b="1" spc="-10">
                <a:solidFill>
                  <a:srgbClr val="36815B"/>
                </a:solidFill>
                <a:latin typeface="Tahoma"/>
                <a:cs typeface="Tahoma"/>
              </a:rPr>
              <a:t>time.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514350" y="5286375"/>
            <a:ext cx="11096625" cy="695325"/>
            <a:chOff x="514350" y="5286375"/>
            <a:chExt cx="11096625" cy="695325"/>
          </a:xfrm>
        </p:grpSpPr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4350" y="5286375"/>
              <a:ext cx="11096625" cy="695325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571500" y="5324475"/>
              <a:ext cx="10981690" cy="590550"/>
            </a:xfrm>
            <a:custGeom>
              <a:avLst/>
              <a:gdLst/>
              <a:ahLst/>
              <a:cxnLst/>
              <a:rect l="l" t="t" r="r" b="b"/>
              <a:pathLst>
                <a:path w="10981690" h="590550">
                  <a:moveTo>
                    <a:pt x="10883265" y="0"/>
                  </a:moveTo>
                  <a:lnTo>
                    <a:pt x="98501" y="0"/>
                  </a:lnTo>
                  <a:lnTo>
                    <a:pt x="60159" y="7746"/>
                  </a:lnTo>
                  <a:lnTo>
                    <a:pt x="28854" y="28828"/>
                  </a:lnTo>
                  <a:lnTo>
                    <a:pt x="7746" y="60071"/>
                  </a:lnTo>
                  <a:lnTo>
                    <a:pt x="0" y="98425"/>
                  </a:lnTo>
                  <a:lnTo>
                    <a:pt x="0" y="492061"/>
                  </a:lnTo>
                  <a:lnTo>
                    <a:pt x="7746" y="530377"/>
                  </a:lnTo>
                  <a:lnTo>
                    <a:pt x="28854" y="561657"/>
                  </a:lnTo>
                  <a:lnTo>
                    <a:pt x="60159" y="582752"/>
                  </a:lnTo>
                  <a:lnTo>
                    <a:pt x="98501" y="590486"/>
                  </a:lnTo>
                  <a:lnTo>
                    <a:pt x="10883265" y="590486"/>
                  </a:lnTo>
                  <a:lnTo>
                    <a:pt x="10921619" y="582752"/>
                  </a:lnTo>
                  <a:lnTo>
                    <a:pt x="10952861" y="561657"/>
                  </a:lnTo>
                  <a:lnTo>
                    <a:pt x="10974070" y="530377"/>
                  </a:lnTo>
                  <a:lnTo>
                    <a:pt x="10981690" y="492061"/>
                  </a:lnTo>
                  <a:lnTo>
                    <a:pt x="10981690" y="98425"/>
                  </a:lnTo>
                  <a:lnTo>
                    <a:pt x="10974070" y="60071"/>
                  </a:lnTo>
                  <a:lnTo>
                    <a:pt x="10952861" y="28828"/>
                  </a:lnTo>
                  <a:lnTo>
                    <a:pt x="10921619" y="7746"/>
                  </a:lnTo>
                  <a:lnTo>
                    <a:pt x="10883265" y="0"/>
                  </a:lnTo>
                  <a:close/>
                </a:path>
              </a:pathLst>
            </a:custGeom>
            <a:solidFill>
              <a:srgbClr val="F7F8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76262" y="5329301"/>
              <a:ext cx="10982325" cy="590550"/>
            </a:xfrm>
            <a:custGeom>
              <a:avLst/>
              <a:gdLst/>
              <a:ahLst/>
              <a:cxnLst/>
              <a:rect l="l" t="t" r="r" b="b"/>
              <a:pathLst>
                <a:path w="10982325" h="590550">
                  <a:moveTo>
                    <a:pt x="0" y="98425"/>
                  </a:moveTo>
                  <a:lnTo>
                    <a:pt x="7746" y="59943"/>
                  </a:lnTo>
                  <a:lnTo>
                    <a:pt x="28854" y="28702"/>
                  </a:lnTo>
                  <a:lnTo>
                    <a:pt x="60159" y="7620"/>
                  </a:lnTo>
                  <a:lnTo>
                    <a:pt x="98501" y="0"/>
                  </a:lnTo>
                  <a:lnTo>
                    <a:pt x="10883201" y="0"/>
                  </a:lnTo>
                  <a:lnTo>
                    <a:pt x="10921555" y="7620"/>
                  </a:lnTo>
                  <a:lnTo>
                    <a:pt x="10952924" y="28702"/>
                  </a:lnTo>
                  <a:lnTo>
                    <a:pt x="10974006" y="59943"/>
                  </a:lnTo>
                  <a:lnTo>
                    <a:pt x="10981753" y="98425"/>
                  </a:lnTo>
                  <a:lnTo>
                    <a:pt x="10981753" y="491998"/>
                  </a:lnTo>
                  <a:lnTo>
                    <a:pt x="10974006" y="530313"/>
                  </a:lnTo>
                  <a:lnTo>
                    <a:pt x="10952924" y="561594"/>
                  </a:lnTo>
                  <a:lnTo>
                    <a:pt x="10921555" y="582688"/>
                  </a:lnTo>
                  <a:lnTo>
                    <a:pt x="10883201" y="590423"/>
                  </a:lnTo>
                  <a:lnTo>
                    <a:pt x="98501" y="590423"/>
                  </a:lnTo>
                  <a:lnTo>
                    <a:pt x="60159" y="582688"/>
                  </a:lnTo>
                  <a:lnTo>
                    <a:pt x="28854" y="561594"/>
                  </a:lnTo>
                  <a:lnTo>
                    <a:pt x="7746" y="530313"/>
                  </a:lnTo>
                  <a:lnTo>
                    <a:pt x="0" y="491998"/>
                  </a:lnTo>
                  <a:lnTo>
                    <a:pt x="0" y="98425"/>
                  </a:lnTo>
                  <a:close/>
                </a:path>
              </a:pathLst>
            </a:custGeom>
            <a:ln w="7620">
              <a:solidFill>
                <a:srgbClr val="DCE3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756602" y="5433059"/>
            <a:ext cx="145796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75">
                <a:solidFill>
                  <a:srgbClr val="0E364F"/>
                </a:solidFill>
                <a:latin typeface="Tahoma"/>
                <a:cs typeface="Tahoma"/>
              </a:rPr>
              <a:t>LOW</a:t>
            </a:r>
            <a:r>
              <a:rPr sz="1200" b="1" spc="-17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 spc="-75">
                <a:solidFill>
                  <a:srgbClr val="0E364F"/>
                </a:solidFill>
                <a:latin typeface="Tahoma"/>
                <a:cs typeface="Tahoma"/>
              </a:rPr>
              <a:t>CONNECTIVITY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679954" y="5415343"/>
            <a:ext cx="24676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17202A"/>
                </a:solidFill>
                <a:latin typeface="Tahoma"/>
                <a:cs typeface="Tahoma"/>
              </a:rPr>
              <a:t>Rural</a:t>
            </a:r>
            <a:r>
              <a:rPr sz="1200" spc="-4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20">
                <a:solidFill>
                  <a:srgbClr val="17202A"/>
                </a:solidFill>
                <a:latin typeface="Tahoma"/>
                <a:cs typeface="Tahoma"/>
              </a:rPr>
              <a:t>users</a:t>
            </a:r>
            <a:r>
              <a:rPr sz="1200" spc="-10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35">
                <a:solidFill>
                  <a:srgbClr val="17202A"/>
                </a:solidFill>
                <a:latin typeface="Tahoma"/>
                <a:cs typeface="Tahoma"/>
              </a:rPr>
              <a:t>may</a:t>
            </a:r>
            <a:r>
              <a:rPr sz="1200" spc="-4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30">
                <a:solidFill>
                  <a:srgbClr val="17202A"/>
                </a:solidFill>
                <a:latin typeface="Tahoma"/>
                <a:cs typeface="Tahoma"/>
              </a:rPr>
              <a:t>not</a:t>
            </a:r>
            <a:r>
              <a:rPr sz="1200" spc="-9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40">
                <a:solidFill>
                  <a:srgbClr val="17202A"/>
                </a:solidFill>
                <a:latin typeface="Tahoma"/>
                <a:cs typeface="Tahoma"/>
              </a:rPr>
              <a:t>have</a:t>
            </a:r>
            <a:r>
              <a:rPr sz="1200" spc="-8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17202A"/>
                </a:solidFill>
                <a:latin typeface="Tahoma"/>
                <a:cs typeface="Tahoma"/>
              </a:rPr>
              <a:t>stable</a:t>
            </a:r>
            <a:r>
              <a:rPr sz="1200" spc="-1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20">
                <a:solidFill>
                  <a:srgbClr val="17202A"/>
                </a:solidFill>
                <a:latin typeface="Tahoma"/>
                <a:cs typeface="Tahoma"/>
              </a:rPr>
              <a:t>data.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526276" y="5415343"/>
            <a:ext cx="3430270" cy="38989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b="1" spc="-65">
                <a:solidFill>
                  <a:srgbClr val="36815B"/>
                </a:solidFill>
                <a:latin typeface="Tahoma"/>
                <a:cs typeface="Tahoma"/>
              </a:rPr>
              <a:t>Graceful</a:t>
            </a:r>
            <a:r>
              <a:rPr sz="1200" b="1" spc="-80">
                <a:solidFill>
                  <a:srgbClr val="36815B"/>
                </a:solidFill>
                <a:latin typeface="Tahoma"/>
                <a:cs typeface="Tahoma"/>
              </a:rPr>
              <a:t> </a:t>
            </a:r>
            <a:r>
              <a:rPr sz="1200" b="1" spc="-60">
                <a:solidFill>
                  <a:srgbClr val="36815B"/>
                </a:solidFill>
                <a:latin typeface="Tahoma"/>
                <a:cs typeface="Tahoma"/>
              </a:rPr>
              <a:t>fallback:</a:t>
            </a:r>
            <a:r>
              <a:rPr sz="1200" b="1" spc="-75">
                <a:solidFill>
                  <a:srgbClr val="36815B"/>
                </a:solidFill>
                <a:latin typeface="Tahoma"/>
                <a:cs typeface="Tahoma"/>
              </a:rPr>
              <a:t> </a:t>
            </a:r>
            <a:r>
              <a:rPr sz="1200" b="1" spc="-50">
                <a:solidFill>
                  <a:srgbClr val="36815B"/>
                </a:solidFill>
                <a:latin typeface="Tahoma"/>
                <a:cs typeface="Tahoma"/>
              </a:rPr>
              <a:t>app</a:t>
            </a:r>
            <a:r>
              <a:rPr sz="1200" b="1" spc="-95">
                <a:solidFill>
                  <a:srgbClr val="36815B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36815B"/>
                </a:solidFill>
                <a:latin typeface="Tahoma"/>
                <a:cs typeface="Tahoma"/>
              </a:rPr>
              <a:t>→</a:t>
            </a:r>
            <a:r>
              <a:rPr sz="1200" b="1" spc="-90">
                <a:solidFill>
                  <a:srgbClr val="36815B"/>
                </a:solidFill>
                <a:latin typeface="Tahoma"/>
                <a:cs typeface="Tahoma"/>
              </a:rPr>
              <a:t> </a:t>
            </a:r>
            <a:r>
              <a:rPr sz="1200" b="1" spc="-70">
                <a:solidFill>
                  <a:srgbClr val="36815B"/>
                </a:solidFill>
                <a:latin typeface="Tahoma"/>
                <a:cs typeface="Tahoma"/>
              </a:rPr>
              <a:t>low-bandwidth</a:t>
            </a:r>
            <a:r>
              <a:rPr sz="1200" b="1" spc="-114">
                <a:solidFill>
                  <a:srgbClr val="36815B"/>
                </a:solidFill>
                <a:latin typeface="Tahoma"/>
                <a:cs typeface="Tahoma"/>
              </a:rPr>
              <a:t> </a:t>
            </a:r>
            <a:r>
              <a:rPr sz="1200" b="1" spc="-55">
                <a:solidFill>
                  <a:srgbClr val="36815B"/>
                </a:solidFill>
                <a:latin typeface="Tahoma"/>
                <a:cs typeface="Tahoma"/>
              </a:rPr>
              <a:t>mode</a:t>
            </a:r>
            <a:r>
              <a:rPr sz="1200" b="1" spc="-45">
                <a:solidFill>
                  <a:srgbClr val="36815B"/>
                </a:solidFill>
                <a:latin typeface="Tahoma"/>
                <a:cs typeface="Tahoma"/>
              </a:rPr>
              <a:t> </a:t>
            </a:r>
            <a:r>
              <a:rPr sz="1200" b="1" spc="-50">
                <a:solidFill>
                  <a:srgbClr val="36815B"/>
                </a:solidFill>
                <a:latin typeface="Tahoma"/>
                <a:cs typeface="Tahoma"/>
              </a:rPr>
              <a:t>→ </a:t>
            </a:r>
            <a:r>
              <a:rPr sz="1200" b="1" spc="-65">
                <a:solidFill>
                  <a:srgbClr val="36815B"/>
                </a:solidFill>
                <a:latin typeface="Tahoma"/>
                <a:cs typeface="Tahoma"/>
              </a:rPr>
              <a:t>automated</a:t>
            </a:r>
            <a:r>
              <a:rPr sz="1200" b="1" spc="-90">
                <a:solidFill>
                  <a:srgbClr val="36815B"/>
                </a:solidFill>
                <a:latin typeface="Tahoma"/>
                <a:cs typeface="Tahoma"/>
              </a:rPr>
              <a:t> </a:t>
            </a:r>
            <a:r>
              <a:rPr sz="1200" b="1" spc="-55">
                <a:solidFill>
                  <a:srgbClr val="36815B"/>
                </a:solidFill>
                <a:latin typeface="Tahoma"/>
                <a:cs typeface="Tahoma"/>
              </a:rPr>
              <a:t>SMS</a:t>
            </a:r>
            <a:r>
              <a:rPr sz="1200" b="1" spc="-90">
                <a:solidFill>
                  <a:srgbClr val="36815B"/>
                </a:solidFill>
                <a:latin typeface="Tahoma"/>
                <a:cs typeface="Tahoma"/>
              </a:rPr>
              <a:t> </a:t>
            </a:r>
            <a:r>
              <a:rPr sz="1200" b="1" spc="-10">
                <a:solidFill>
                  <a:srgbClr val="36815B"/>
                </a:solidFill>
                <a:latin typeface="Tahoma"/>
                <a:cs typeface="Tahoma"/>
              </a:rPr>
              <a:t>alert.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542925" y="6073461"/>
            <a:ext cx="11049000" cy="670560"/>
            <a:chOff x="542925" y="6073461"/>
            <a:chExt cx="11049000" cy="670560"/>
          </a:xfrm>
        </p:grpSpPr>
        <p:pic>
          <p:nvPicPr>
            <p:cNvPr id="57" name="object 5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2925" y="6073461"/>
              <a:ext cx="11049000" cy="670236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571500" y="6076949"/>
              <a:ext cx="10991215" cy="600075"/>
            </a:xfrm>
            <a:custGeom>
              <a:avLst/>
              <a:gdLst/>
              <a:ahLst/>
              <a:cxnLst/>
              <a:rect l="l" t="t" r="r" b="b"/>
              <a:pathLst>
                <a:path w="10991215" h="600075">
                  <a:moveTo>
                    <a:pt x="10891139" y="0"/>
                  </a:moveTo>
                  <a:lnTo>
                    <a:pt x="100088" y="0"/>
                  </a:lnTo>
                  <a:lnTo>
                    <a:pt x="61137" y="7861"/>
                  </a:lnTo>
                  <a:lnTo>
                    <a:pt x="29311" y="29298"/>
                  </a:lnTo>
                  <a:lnTo>
                    <a:pt x="7861" y="61087"/>
                  </a:lnTo>
                  <a:lnTo>
                    <a:pt x="0" y="100012"/>
                  </a:lnTo>
                  <a:lnTo>
                    <a:pt x="0" y="500062"/>
                  </a:lnTo>
                  <a:lnTo>
                    <a:pt x="7861" y="538988"/>
                  </a:lnTo>
                  <a:lnTo>
                    <a:pt x="29311" y="570776"/>
                  </a:lnTo>
                  <a:lnTo>
                    <a:pt x="61137" y="592213"/>
                  </a:lnTo>
                  <a:lnTo>
                    <a:pt x="100088" y="600075"/>
                  </a:lnTo>
                  <a:lnTo>
                    <a:pt x="10891139" y="600075"/>
                  </a:lnTo>
                  <a:lnTo>
                    <a:pt x="10930128" y="592213"/>
                  </a:lnTo>
                  <a:lnTo>
                    <a:pt x="10961878" y="570776"/>
                  </a:lnTo>
                  <a:lnTo>
                    <a:pt x="10983341" y="538988"/>
                  </a:lnTo>
                  <a:lnTo>
                    <a:pt x="10991215" y="500062"/>
                  </a:lnTo>
                  <a:lnTo>
                    <a:pt x="10991215" y="100012"/>
                  </a:lnTo>
                  <a:lnTo>
                    <a:pt x="10983341" y="61087"/>
                  </a:lnTo>
                  <a:lnTo>
                    <a:pt x="10961878" y="29298"/>
                  </a:lnTo>
                  <a:lnTo>
                    <a:pt x="10930128" y="7861"/>
                  </a:lnTo>
                  <a:lnTo>
                    <a:pt x="10891139" y="0"/>
                  </a:lnTo>
                  <a:close/>
                </a:path>
              </a:pathLst>
            </a:custGeom>
            <a:solidFill>
              <a:srgbClr val="0E36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76262" y="6081712"/>
              <a:ext cx="10991850" cy="600075"/>
            </a:xfrm>
            <a:custGeom>
              <a:avLst/>
              <a:gdLst/>
              <a:ahLst/>
              <a:cxnLst/>
              <a:rect l="l" t="t" r="r" b="b"/>
              <a:pathLst>
                <a:path w="10991850" h="600075">
                  <a:moveTo>
                    <a:pt x="0" y="100012"/>
                  </a:moveTo>
                  <a:lnTo>
                    <a:pt x="7861" y="61087"/>
                  </a:lnTo>
                  <a:lnTo>
                    <a:pt x="29324" y="29298"/>
                  </a:lnTo>
                  <a:lnTo>
                    <a:pt x="61137" y="7861"/>
                  </a:lnTo>
                  <a:lnTo>
                    <a:pt x="100088" y="0"/>
                  </a:lnTo>
                  <a:lnTo>
                    <a:pt x="10891075" y="0"/>
                  </a:lnTo>
                  <a:lnTo>
                    <a:pt x="10930064" y="7861"/>
                  </a:lnTo>
                  <a:lnTo>
                    <a:pt x="10961941" y="29298"/>
                  </a:lnTo>
                  <a:lnTo>
                    <a:pt x="10983404" y="61087"/>
                  </a:lnTo>
                  <a:lnTo>
                    <a:pt x="10991278" y="100012"/>
                  </a:lnTo>
                  <a:lnTo>
                    <a:pt x="10991278" y="500062"/>
                  </a:lnTo>
                  <a:lnTo>
                    <a:pt x="10983404" y="538988"/>
                  </a:lnTo>
                  <a:lnTo>
                    <a:pt x="10961941" y="570776"/>
                  </a:lnTo>
                  <a:lnTo>
                    <a:pt x="10930064" y="592213"/>
                  </a:lnTo>
                  <a:lnTo>
                    <a:pt x="10891075" y="600075"/>
                  </a:lnTo>
                  <a:lnTo>
                    <a:pt x="100088" y="600075"/>
                  </a:lnTo>
                  <a:lnTo>
                    <a:pt x="61137" y="592213"/>
                  </a:lnTo>
                  <a:lnTo>
                    <a:pt x="29324" y="570776"/>
                  </a:lnTo>
                  <a:lnTo>
                    <a:pt x="7861" y="538988"/>
                  </a:lnTo>
                  <a:lnTo>
                    <a:pt x="0" y="500062"/>
                  </a:lnTo>
                  <a:lnTo>
                    <a:pt x="0" y="100012"/>
                  </a:lnTo>
                  <a:close/>
                </a:path>
              </a:pathLst>
            </a:custGeom>
            <a:ln w="6350">
              <a:solidFill>
                <a:srgbClr val="0E36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914082" y="6289357"/>
            <a:ext cx="97237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solidFill>
                  <a:srgbClr val="FFFFFF"/>
                </a:solidFill>
                <a:latin typeface="Tahoma"/>
                <a:cs typeface="Tahoma"/>
              </a:rPr>
              <a:t>VIABILITY:</a:t>
            </a:r>
            <a:r>
              <a:rPr sz="1200" b="1" spc="-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FFFFFF"/>
                </a:solidFill>
                <a:latin typeface="Tahoma"/>
                <a:cs typeface="Tahoma"/>
              </a:rPr>
              <a:t>Modular</a:t>
            </a:r>
            <a:r>
              <a:rPr sz="1200" b="1" spc="-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FFFFFF"/>
                </a:solidFill>
                <a:latin typeface="Tahoma"/>
                <a:cs typeface="Tahoma"/>
              </a:rPr>
              <a:t>services</a:t>
            </a:r>
            <a:r>
              <a:rPr sz="1200" b="1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FFFFFF"/>
                </a:solidFill>
                <a:latin typeface="Tahoma"/>
                <a:cs typeface="Tahoma"/>
              </a:rPr>
              <a:t>•</a:t>
            </a:r>
            <a:r>
              <a:rPr sz="1200" b="1" spc="-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FFFFFF"/>
                </a:solidFill>
                <a:latin typeface="Tahoma"/>
                <a:cs typeface="Tahoma"/>
              </a:rPr>
              <a:t>configurable</a:t>
            </a:r>
            <a:r>
              <a:rPr sz="1200" b="1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FFFFFF"/>
                </a:solidFill>
                <a:latin typeface="Tahoma"/>
                <a:cs typeface="Tahoma"/>
              </a:rPr>
              <a:t>personas</a:t>
            </a:r>
            <a:r>
              <a:rPr sz="1200" b="1" spc="-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FFFFFF"/>
                </a:solidFill>
                <a:latin typeface="Tahoma"/>
                <a:cs typeface="Tahoma"/>
              </a:rPr>
              <a:t>•</a:t>
            </a:r>
            <a:r>
              <a:rPr sz="1200" b="1" spc="-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FFFFFF"/>
                </a:solidFill>
                <a:latin typeface="Tahoma"/>
                <a:cs typeface="Tahoma"/>
              </a:rPr>
              <a:t>target</a:t>
            </a:r>
            <a:r>
              <a:rPr sz="1200" b="1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FFFFFF"/>
                </a:solidFill>
                <a:latin typeface="Tahoma"/>
                <a:cs typeface="Tahoma"/>
              </a:rPr>
              <a:t>&lt;</a:t>
            </a:r>
            <a:r>
              <a:rPr sz="1200" b="1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sz="1200" b="1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FFFFFF"/>
                </a:solidFill>
                <a:latin typeface="Tahoma"/>
                <a:cs typeface="Tahoma"/>
              </a:rPr>
              <a:t>response,</a:t>
            </a:r>
            <a:r>
              <a:rPr sz="1200" b="1" spc="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FFFFFF"/>
                </a:solidFill>
                <a:latin typeface="Tahoma"/>
                <a:cs typeface="Tahoma"/>
              </a:rPr>
              <a:t>&lt;</a:t>
            </a:r>
            <a:r>
              <a:rPr sz="1200" b="1" spc="-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1200" b="1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FFFFFF"/>
                </a:solidFill>
                <a:latin typeface="Tahoma"/>
                <a:cs typeface="Tahoma"/>
              </a:rPr>
              <a:t>min</a:t>
            </a:r>
            <a:r>
              <a:rPr sz="1200" b="1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FFFFFF"/>
                </a:solidFill>
                <a:latin typeface="Tahoma"/>
                <a:cs typeface="Tahoma"/>
              </a:rPr>
              <a:t>alert</a:t>
            </a:r>
            <a:r>
              <a:rPr sz="1200" b="1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FFFFFF"/>
                </a:solidFill>
                <a:latin typeface="Tahoma"/>
                <a:cs typeface="Tahoma"/>
              </a:rPr>
              <a:t>lag</a:t>
            </a:r>
            <a:r>
              <a:rPr sz="1200" b="1" spc="-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FFFFFF"/>
                </a:solidFill>
                <a:latin typeface="Tahoma"/>
                <a:cs typeface="Tahoma"/>
              </a:rPr>
              <a:t>•</a:t>
            </a:r>
            <a:r>
              <a:rPr sz="1200" b="1" spc="-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FFFFFF"/>
                </a:solidFill>
                <a:latin typeface="Tahoma"/>
                <a:cs typeface="Tahoma"/>
              </a:rPr>
              <a:t>≥</a:t>
            </a:r>
            <a:r>
              <a:rPr sz="1200" b="1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FFFFFF"/>
                </a:solidFill>
                <a:latin typeface="Tahoma"/>
                <a:cs typeface="Tahoma"/>
              </a:rPr>
              <a:t>80% consensus</a:t>
            </a:r>
            <a:r>
              <a:rPr sz="1200" b="1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b="1" spc="-10">
                <a:solidFill>
                  <a:srgbClr val="FFFFFF"/>
                </a:solidFill>
                <a:latin typeface="Tahoma"/>
                <a:cs typeface="Tahoma"/>
              </a:rPr>
              <a:t>confidence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80875" y="574197"/>
            <a:ext cx="773131" cy="186495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100" b="1" spc="-10" dirty="0">
                <a:latin typeface="Tahoma"/>
                <a:cs typeface="Tahoma"/>
              </a:rPr>
              <a:t>GRIFFINS</a:t>
            </a:r>
            <a:endParaRPr sz="1100" b="1" spc="-10" dirty="0">
              <a:latin typeface="Tahoma"/>
              <a:cs typeface="Tahoma"/>
            </a:endParaRPr>
          </a:p>
        </p:txBody>
      </p:sp>
      <p:sp>
        <p:nvSpPr>
          <p:cNvPr id="62" name="object 16">
            <a:extLst>
              <a:ext uri="{FF2B5EF4-FFF2-40B4-BE49-F238E27FC236}">
                <a16:creationId xmlns:a16="http://schemas.microsoft.com/office/drawing/2014/main" id="{7D2DC631-C500-685A-3ABC-E0B23DFB2689}"/>
              </a:ext>
            </a:extLst>
          </p:cNvPr>
          <p:cNvSpPr txBox="1"/>
          <p:nvPr/>
        </p:nvSpPr>
        <p:spPr>
          <a:xfrm>
            <a:off x="6966955" y="1479078"/>
            <a:ext cx="1920993" cy="208390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lang="en-US" sz="1250" b="1" spc="-30">
                <a:solidFill>
                  <a:srgbClr val="0E364F"/>
                </a:solidFill>
                <a:latin typeface="Tahoma"/>
                <a:cs typeface="Tahoma"/>
              </a:rPr>
              <a:t>ARCHITECTURE </a:t>
            </a:r>
            <a:r>
              <a:rPr lang="en-US" sz="1250" b="1" spc="-20" dirty="0">
                <a:solidFill>
                  <a:srgbClr val="0E364F"/>
                </a:solidFill>
                <a:latin typeface="Tahoma"/>
                <a:cs typeface="Tahoma"/>
              </a:rPr>
              <a:t>READY</a:t>
            </a:r>
            <a:endParaRPr sz="1250" dirty="0">
              <a:latin typeface="Tahoma"/>
              <a:cs typeface="Tahoma"/>
            </a:endParaRPr>
          </a:p>
        </p:txBody>
      </p:sp>
      <p:sp>
        <p:nvSpPr>
          <p:cNvPr id="64" name="object 11">
            <a:extLst>
              <a:ext uri="{FF2B5EF4-FFF2-40B4-BE49-F238E27FC236}">
                <a16:creationId xmlns:a16="http://schemas.microsoft.com/office/drawing/2014/main" id="{E2C81905-D762-18B1-418E-A55CE5161B76}"/>
              </a:ext>
            </a:extLst>
          </p:cNvPr>
          <p:cNvSpPr txBox="1"/>
          <p:nvPr/>
        </p:nvSpPr>
        <p:spPr>
          <a:xfrm>
            <a:off x="3710507" y="1673897"/>
            <a:ext cx="2588847" cy="970137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5715" algn="ctr">
              <a:spcBef>
                <a:spcPts val="125"/>
              </a:spcBef>
            </a:pPr>
            <a:r>
              <a:rPr lang="en-US" sz="1100">
                <a:latin typeface="Tahoma"/>
                <a:ea typeface="Tahoma"/>
                <a:cs typeface="Tahoma"/>
              </a:rPr>
              <a:t>1)FastAPI • PostGIS • Redis</a:t>
            </a:r>
            <a:r>
              <a:rPr lang="en-US" dirty="0"/>
              <a:t> </a:t>
            </a:r>
            <a:r>
              <a:rPr lang="en-US" sz="1100">
                <a:latin typeface="Tahoma"/>
                <a:ea typeface="Tahoma"/>
                <a:cs typeface="Tahoma"/>
              </a:rPr>
              <a:t>• LLM • Bhashini 2)Modular and independently </a:t>
            </a:r>
            <a:r>
              <a:rPr lang="en-US" sz="1100" dirty="0">
                <a:latin typeface="Tahoma"/>
                <a:ea typeface="Tahoma"/>
                <a:cs typeface="Tahoma"/>
              </a:rPr>
              <a:t>deployable components Existing APIs &amp; open technologies support implementation </a:t>
            </a:r>
            <a:endParaRPr lang="en-US" sz="1100" dirty="0">
              <a:solidFill>
                <a:srgbClr val="17202A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5BC499C-E22C-F6E5-0443-01EB119AC751}"/>
              </a:ext>
            </a:extLst>
          </p:cNvPr>
          <p:cNvSpPr txBox="1"/>
          <p:nvPr/>
        </p:nvSpPr>
        <p:spPr>
          <a:xfrm>
            <a:off x="6527322" y="1703718"/>
            <a:ext cx="2789207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latin typeface="Tahoma"/>
                <a:ea typeface="Tahoma"/>
                <a:cs typeface="Tahoma"/>
              </a:rPr>
              <a:t>Automated ingestion + caching + warning-feed scheduler Continuous backend monitoring enables alerts without user queries SMS/Call fallback for critical alerts </a:t>
            </a:r>
            <a:endParaRPr lang="en-US" sz="1100">
              <a:solidFill>
                <a:srgbClr val="000000"/>
              </a:solidFill>
              <a:latin typeface="Tahoma"/>
              <a:ea typeface="Tahoma"/>
              <a:cs typeface="Tahoma"/>
            </a:endParaRPr>
          </a:p>
          <a:p>
            <a:pPr algn="ctr"/>
            <a:endParaRPr lang="en-US" sz="1100" dirty="0">
              <a:solidFill>
                <a:srgbClr val="000000"/>
              </a:solidFill>
              <a:latin typeface="Tahoma"/>
              <a:ea typeface="Tahoma"/>
              <a:cs typeface="Tahoma"/>
            </a:endParaRPr>
          </a:p>
        </p:txBody>
      </p:sp>
      <p:grpSp>
        <p:nvGrpSpPr>
          <p:cNvPr id="66" name="object 18">
            <a:extLst>
              <a:ext uri="{FF2B5EF4-FFF2-40B4-BE49-F238E27FC236}">
                <a16:creationId xmlns:a16="http://schemas.microsoft.com/office/drawing/2014/main" id="{04A06005-9C25-8838-4183-C973875E0F75}"/>
              </a:ext>
            </a:extLst>
          </p:cNvPr>
          <p:cNvGrpSpPr/>
          <p:nvPr/>
        </p:nvGrpSpPr>
        <p:grpSpPr>
          <a:xfrm>
            <a:off x="9339067" y="1391293"/>
            <a:ext cx="2291137" cy="1284764"/>
            <a:chOff x="8082026" y="1319431"/>
            <a:chExt cx="3486150" cy="1257144"/>
          </a:xfrm>
        </p:grpSpPr>
        <p:sp>
          <p:nvSpPr>
            <p:cNvPr id="67" name="object 20">
              <a:extLst>
                <a:ext uri="{FF2B5EF4-FFF2-40B4-BE49-F238E27FC236}">
                  <a16:creationId xmlns:a16="http://schemas.microsoft.com/office/drawing/2014/main" id="{78FBCA8D-7603-36B8-F82F-D1B9A76CC62F}"/>
                </a:ext>
              </a:extLst>
            </p:cNvPr>
            <p:cNvSpPr/>
            <p:nvPr/>
          </p:nvSpPr>
          <p:spPr>
            <a:xfrm>
              <a:off x="8094954" y="1319431"/>
              <a:ext cx="3451369" cy="1252318"/>
            </a:xfrm>
            <a:custGeom>
              <a:avLst/>
              <a:gdLst/>
              <a:ahLst/>
              <a:cxnLst/>
              <a:rect l="l" t="t" r="r" b="b"/>
              <a:pathLst>
                <a:path w="3486150" h="1238250">
                  <a:moveTo>
                    <a:pt x="3279648" y="0"/>
                  </a:moveTo>
                  <a:lnTo>
                    <a:pt x="206375" y="0"/>
                  </a:lnTo>
                  <a:lnTo>
                    <a:pt x="159003" y="5461"/>
                  </a:lnTo>
                  <a:lnTo>
                    <a:pt x="115570" y="20954"/>
                  </a:lnTo>
                  <a:lnTo>
                    <a:pt x="77216" y="45338"/>
                  </a:lnTo>
                  <a:lnTo>
                    <a:pt x="45339" y="77215"/>
                  </a:lnTo>
                  <a:lnTo>
                    <a:pt x="20954" y="115570"/>
                  </a:lnTo>
                  <a:lnTo>
                    <a:pt x="5460" y="159003"/>
                  </a:lnTo>
                  <a:lnTo>
                    <a:pt x="0" y="206375"/>
                  </a:lnTo>
                  <a:lnTo>
                    <a:pt x="0" y="1031748"/>
                  </a:lnTo>
                  <a:lnTo>
                    <a:pt x="5460" y="1079119"/>
                  </a:lnTo>
                  <a:lnTo>
                    <a:pt x="20954" y="1122552"/>
                  </a:lnTo>
                  <a:lnTo>
                    <a:pt x="45339" y="1160907"/>
                  </a:lnTo>
                  <a:lnTo>
                    <a:pt x="77216" y="1192911"/>
                  </a:lnTo>
                  <a:lnTo>
                    <a:pt x="115570" y="1217295"/>
                  </a:lnTo>
                  <a:lnTo>
                    <a:pt x="159003" y="1232789"/>
                  </a:lnTo>
                  <a:lnTo>
                    <a:pt x="206375" y="1238250"/>
                  </a:lnTo>
                  <a:lnTo>
                    <a:pt x="3279648" y="1238250"/>
                  </a:lnTo>
                  <a:lnTo>
                    <a:pt x="3327019" y="1232789"/>
                  </a:lnTo>
                  <a:lnTo>
                    <a:pt x="3370453" y="1217295"/>
                  </a:lnTo>
                  <a:lnTo>
                    <a:pt x="3408806" y="1192911"/>
                  </a:lnTo>
                  <a:lnTo>
                    <a:pt x="3440810" y="1160907"/>
                  </a:lnTo>
                  <a:lnTo>
                    <a:pt x="3465195" y="1122552"/>
                  </a:lnTo>
                  <a:lnTo>
                    <a:pt x="3480689" y="1079119"/>
                  </a:lnTo>
                  <a:lnTo>
                    <a:pt x="3486150" y="1031748"/>
                  </a:lnTo>
                  <a:lnTo>
                    <a:pt x="3486150" y="206375"/>
                  </a:lnTo>
                  <a:lnTo>
                    <a:pt x="3480689" y="159003"/>
                  </a:lnTo>
                  <a:lnTo>
                    <a:pt x="3465195" y="115570"/>
                  </a:lnTo>
                  <a:lnTo>
                    <a:pt x="3440810" y="77215"/>
                  </a:lnTo>
                  <a:lnTo>
                    <a:pt x="3408806" y="45338"/>
                  </a:lnTo>
                  <a:lnTo>
                    <a:pt x="3370453" y="20954"/>
                  </a:lnTo>
                  <a:lnTo>
                    <a:pt x="3327019" y="5461"/>
                  </a:lnTo>
                  <a:lnTo>
                    <a:pt x="3279648" y="0"/>
                  </a:lnTo>
                  <a:close/>
                </a:path>
              </a:pathLst>
            </a:custGeom>
            <a:solidFill>
              <a:srgbClr val="F7F8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21">
              <a:extLst>
                <a:ext uri="{FF2B5EF4-FFF2-40B4-BE49-F238E27FC236}">
                  <a16:creationId xmlns:a16="http://schemas.microsoft.com/office/drawing/2014/main" id="{74903743-2243-EDB5-CFF2-753B7AF63F8B}"/>
                </a:ext>
              </a:extLst>
            </p:cNvPr>
            <p:cNvSpPr/>
            <p:nvPr/>
          </p:nvSpPr>
          <p:spPr>
            <a:xfrm>
              <a:off x="8082026" y="1338325"/>
              <a:ext cx="3486150" cy="1238250"/>
            </a:xfrm>
            <a:custGeom>
              <a:avLst/>
              <a:gdLst/>
              <a:ahLst/>
              <a:cxnLst/>
              <a:rect l="l" t="t" r="r" b="b"/>
              <a:pathLst>
                <a:path w="3486150" h="1238250">
                  <a:moveTo>
                    <a:pt x="0" y="206375"/>
                  </a:moveTo>
                  <a:lnTo>
                    <a:pt x="5333" y="159003"/>
                  </a:lnTo>
                  <a:lnTo>
                    <a:pt x="20954" y="115570"/>
                  </a:lnTo>
                  <a:lnTo>
                    <a:pt x="45212" y="77215"/>
                  </a:lnTo>
                  <a:lnTo>
                    <a:pt x="77216" y="45212"/>
                  </a:lnTo>
                  <a:lnTo>
                    <a:pt x="115570" y="20954"/>
                  </a:lnTo>
                  <a:lnTo>
                    <a:pt x="159003" y="5334"/>
                  </a:lnTo>
                  <a:lnTo>
                    <a:pt x="206375" y="0"/>
                  </a:lnTo>
                  <a:lnTo>
                    <a:pt x="3279521" y="0"/>
                  </a:lnTo>
                  <a:lnTo>
                    <a:pt x="3326892" y="5334"/>
                  </a:lnTo>
                  <a:lnTo>
                    <a:pt x="3370453" y="20954"/>
                  </a:lnTo>
                  <a:lnTo>
                    <a:pt x="3408679" y="45212"/>
                  </a:lnTo>
                  <a:lnTo>
                    <a:pt x="3440683" y="77215"/>
                  </a:lnTo>
                  <a:lnTo>
                    <a:pt x="3465068" y="115570"/>
                  </a:lnTo>
                  <a:lnTo>
                    <a:pt x="3480689" y="159003"/>
                  </a:lnTo>
                  <a:lnTo>
                    <a:pt x="3486150" y="206375"/>
                  </a:lnTo>
                  <a:lnTo>
                    <a:pt x="3486150" y="1031748"/>
                  </a:lnTo>
                  <a:lnTo>
                    <a:pt x="3480689" y="1078991"/>
                  </a:lnTo>
                  <a:lnTo>
                    <a:pt x="3465068" y="1122552"/>
                  </a:lnTo>
                  <a:lnTo>
                    <a:pt x="3440683" y="1160779"/>
                  </a:lnTo>
                  <a:lnTo>
                    <a:pt x="3408679" y="1192784"/>
                  </a:lnTo>
                  <a:lnTo>
                    <a:pt x="3370453" y="1217168"/>
                  </a:lnTo>
                  <a:lnTo>
                    <a:pt x="3326892" y="1232789"/>
                  </a:lnTo>
                  <a:lnTo>
                    <a:pt x="3279521" y="1238250"/>
                  </a:lnTo>
                  <a:lnTo>
                    <a:pt x="206375" y="1238250"/>
                  </a:lnTo>
                  <a:lnTo>
                    <a:pt x="159003" y="1232789"/>
                  </a:lnTo>
                  <a:lnTo>
                    <a:pt x="115570" y="1217168"/>
                  </a:lnTo>
                  <a:lnTo>
                    <a:pt x="77216" y="1192784"/>
                  </a:lnTo>
                  <a:lnTo>
                    <a:pt x="45212" y="1160779"/>
                  </a:lnTo>
                  <a:lnTo>
                    <a:pt x="20954" y="1122552"/>
                  </a:lnTo>
                  <a:lnTo>
                    <a:pt x="5333" y="1078991"/>
                  </a:lnTo>
                  <a:lnTo>
                    <a:pt x="0" y="1031748"/>
                  </a:lnTo>
                  <a:lnTo>
                    <a:pt x="0" y="206375"/>
                  </a:lnTo>
                  <a:close/>
                </a:path>
              </a:pathLst>
            </a:custGeom>
            <a:ln w="12700">
              <a:solidFill>
                <a:srgbClr val="C8DC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16">
            <a:extLst>
              <a:ext uri="{FF2B5EF4-FFF2-40B4-BE49-F238E27FC236}">
                <a16:creationId xmlns:a16="http://schemas.microsoft.com/office/drawing/2014/main" id="{9B5C98D9-F59B-2237-C89E-9FA6FEEB8056}"/>
              </a:ext>
            </a:extLst>
          </p:cNvPr>
          <p:cNvSpPr txBox="1"/>
          <p:nvPr/>
        </p:nvSpPr>
        <p:spPr>
          <a:xfrm>
            <a:off x="9511747" y="1493456"/>
            <a:ext cx="2510464" cy="208390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lang="en-US" sz="1250" b="1" spc="-30">
                <a:solidFill>
                  <a:srgbClr val="0E364F"/>
                </a:solidFill>
                <a:latin typeface="Tahoma"/>
                <a:cs typeface="Tahoma"/>
              </a:rPr>
              <a:t>IMPLEMENTATION </a:t>
            </a:r>
            <a:r>
              <a:rPr lang="en-US" sz="1250" b="1" spc="-20">
                <a:solidFill>
                  <a:srgbClr val="0E364F"/>
                </a:solidFill>
                <a:latin typeface="Tahoma"/>
                <a:cs typeface="Tahoma"/>
              </a:rPr>
              <a:t>READY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A6A9B09-73F1-7344-3DF6-E3B9811D9753}"/>
              </a:ext>
            </a:extLst>
          </p:cNvPr>
          <p:cNvSpPr txBox="1"/>
          <p:nvPr/>
        </p:nvSpPr>
        <p:spPr>
          <a:xfrm>
            <a:off x="9359662" y="1718095"/>
            <a:ext cx="2286001" cy="12157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latin typeface="Tahoma"/>
                <a:ea typeface="Tahoma"/>
                <a:cs typeface="Tahoma"/>
              </a:rPr>
              <a:t>Feasible with existing technologies; data access, freshness and end-to-end alert reliability will be validated during testing.</a:t>
            </a: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90550" y="123825"/>
            <a:ext cx="11468100" cy="1485900"/>
            <a:chOff x="590550" y="123825"/>
            <a:chExt cx="11468100" cy="1485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58375" y="123825"/>
              <a:ext cx="2200275" cy="10287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0550" y="1196288"/>
              <a:ext cx="11039475" cy="41343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28650" y="1200150"/>
              <a:ext cx="10972165" cy="352425"/>
            </a:xfrm>
            <a:custGeom>
              <a:avLst/>
              <a:gdLst/>
              <a:ahLst/>
              <a:cxnLst/>
              <a:rect l="l" t="t" r="r" b="b"/>
              <a:pathLst>
                <a:path w="10972165" h="352425">
                  <a:moveTo>
                    <a:pt x="10913491" y="0"/>
                  </a:moveTo>
                  <a:lnTo>
                    <a:pt x="58737" y="0"/>
                  </a:lnTo>
                  <a:lnTo>
                    <a:pt x="35877" y="4572"/>
                  </a:lnTo>
                  <a:lnTo>
                    <a:pt x="17208" y="17145"/>
                  </a:lnTo>
                  <a:lnTo>
                    <a:pt x="4610" y="35813"/>
                  </a:lnTo>
                  <a:lnTo>
                    <a:pt x="0" y="58674"/>
                  </a:lnTo>
                  <a:lnTo>
                    <a:pt x="0" y="293624"/>
                  </a:lnTo>
                  <a:lnTo>
                    <a:pt x="4610" y="316484"/>
                  </a:lnTo>
                  <a:lnTo>
                    <a:pt x="17208" y="335152"/>
                  </a:lnTo>
                  <a:lnTo>
                    <a:pt x="35877" y="347852"/>
                  </a:lnTo>
                  <a:lnTo>
                    <a:pt x="58737" y="352425"/>
                  </a:lnTo>
                  <a:lnTo>
                    <a:pt x="10913491" y="352425"/>
                  </a:lnTo>
                  <a:lnTo>
                    <a:pt x="10936224" y="347852"/>
                  </a:lnTo>
                  <a:lnTo>
                    <a:pt x="10955020" y="335152"/>
                  </a:lnTo>
                  <a:lnTo>
                    <a:pt x="10967593" y="316484"/>
                  </a:lnTo>
                  <a:lnTo>
                    <a:pt x="10972165" y="293624"/>
                  </a:lnTo>
                  <a:lnTo>
                    <a:pt x="10972165" y="58674"/>
                  </a:lnTo>
                  <a:lnTo>
                    <a:pt x="10967593" y="35813"/>
                  </a:lnTo>
                  <a:lnTo>
                    <a:pt x="10955020" y="17145"/>
                  </a:lnTo>
                  <a:lnTo>
                    <a:pt x="10936224" y="4572"/>
                  </a:lnTo>
                  <a:lnTo>
                    <a:pt x="10913491" y="0"/>
                  </a:lnTo>
                  <a:close/>
                </a:path>
              </a:pathLst>
            </a:custGeom>
            <a:solidFill>
              <a:srgbClr val="EC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33412" y="1204975"/>
              <a:ext cx="10972800" cy="352425"/>
            </a:xfrm>
            <a:custGeom>
              <a:avLst/>
              <a:gdLst/>
              <a:ahLst/>
              <a:cxnLst/>
              <a:rect l="l" t="t" r="r" b="b"/>
              <a:pathLst>
                <a:path w="10972800" h="352425">
                  <a:moveTo>
                    <a:pt x="0" y="58674"/>
                  </a:moveTo>
                  <a:lnTo>
                    <a:pt x="4610" y="35813"/>
                  </a:lnTo>
                  <a:lnTo>
                    <a:pt x="17208" y="17145"/>
                  </a:lnTo>
                  <a:lnTo>
                    <a:pt x="35877" y="4572"/>
                  </a:lnTo>
                  <a:lnTo>
                    <a:pt x="58737" y="0"/>
                  </a:lnTo>
                  <a:lnTo>
                    <a:pt x="10913427" y="0"/>
                  </a:lnTo>
                  <a:lnTo>
                    <a:pt x="10936287" y="4572"/>
                  </a:lnTo>
                  <a:lnTo>
                    <a:pt x="10954956" y="17145"/>
                  </a:lnTo>
                  <a:lnTo>
                    <a:pt x="10967656" y="35813"/>
                  </a:lnTo>
                  <a:lnTo>
                    <a:pt x="10972228" y="58674"/>
                  </a:lnTo>
                  <a:lnTo>
                    <a:pt x="10972228" y="293624"/>
                  </a:lnTo>
                  <a:lnTo>
                    <a:pt x="10967656" y="316357"/>
                  </a:lnTo>
                  <a:lnTo>
                    <a:pt x="10954956" y="335152"/>
                  </a:lnTo>
                  <a:lnTo>
                    <a:pt x="10936287" y="347725"/>
                  </a:lnTo>
                  <a:lnTo>
                    <a:pt x="10913427" y="352425"/>
                  </a:lnTo>
                  <a:lnTo>
                    <a:pt x="58737" y="352425"/>
                  </a:lnTo>
                  <a:lnTo>
                    <a:pt x="35877" y="347725"/>
                  </a:lnTo>
                  <a:lnTo>
                    <a:pt x="17208" y="335152"/>
                  </a:lnTo>
                  <a:lnTo>
                    <a:pt x="4610" y="316357"/>
                  </a:lnTo>
                  <a:lnTo>
                    <a:pt x="0" y="293624"/>
                  </a:lnTo>
                  <a:lnTo>
                    <a:pt x="0" y="58674"/>
                  </a:lnTo>
                  <a:close/>
                </a:path>
              </a:pathLst>
            </a:custGeom>
            <a:ln w="10160">
              <a:solidFill>
                <a:srgbClr val="C8DC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3943096" y="346392"/>
            <a:ext cx="4217035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t>IMPACT</a:t>
            </a:r>
            <a:r>
              <a:rPr spc="-130"/>
              <a:t> </a:t>
            </a:r>
            <a:r>
              <a:t>AND</a:t>
            </a:r>
            <a:r>
              <a:rPr spc="-150"/>
              <a:t> </a:t>
            </a:r>
            <a:r>
              <a:rPr spc="-10"/>
              <a:t>BENEFITS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85177" y="866521"/>
            <a:ext cx="8364855" cy="6661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381885">
              <a:lnSpc>
                <a:spcPct val="100000"/>
              </a:lnSpc>
              <a:spcBef>
                <a:spcPts val="125"/>
              </a:spcBef>
            </a:pPr>
            <a:r>
              <a:rPr sz="1400" spc="-65">
                <a:solidFill>
                  <a:srgbClr val="5B6974"/>
                </a:solidFill>
                <a:latin typeface="Tahoma"/>
                <a:cs typeface="Tahoma"/>
              </a:rPr>
              <a:t>The</a:t>
            </a:r>
            <a:r>
              <a:rPr sz="1400" spc="-75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400">
                <a:solidFill>
                  <a:srgbClr val="5B6974"/>
                </a:solidFill>
                <a:latin typeface="Tahoma"/>
                <a:cs typeface="Tahoma"/>
              </a:rPr>
              <a:t>same</a:t>
            </a:r>
            <a:r>
              <a:rPr sz="1400" spc="-45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400" spc="-30">
                <a:solidFill>
                  <a:srgbClr val="5B6974"/>
                </a:solidFill>
                <a:latin typeface="Tahoma"/>
                <a:cs typeface="Tahoma"/>
              </a:rPr>
              <a:t>weather</a:t>
            </a:r>
            <a:r>
              <a:rPr sz="1400" spc="-114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400" spc="-10">
                <a:solidFill>
                  <a:srgbClr val="5B6974"/>
                </a:solidFill>
                <a:latin typeface="Tahoma"/>
                <a:cs typeface="Tahoma"/>
              </a:rPr>
              <a:t>intelligence</a:t>
            </a:r>
            <a:r>
              <a:rPr sz="1400" spc="-5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400" spc="-10">
                <a:solidFill>
                  <a:srgbClr val="5B6974"/>
                </a:solidFill>
                <a:latin typeface="Tahoma"/>
                <a:cs typeface="Tahoma"/>
              </a:rPr>
              <a:t>becomes</a:t>
            </a:r>
            <a:r>
              <a:rPr sz="1400" spc="-105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400" spc="-30">
                <a:solidFill>
                  <a:srgbClr val="5B6974"/>
                </a:solidFill>
                <a:latin typeface="Tahoma"/>
                <a:cs typeface="Tahoma"/>
              </a:rPr>
              <a:t>different</a:t>
            </a:r>
            <a:r>
              <a:rPr sz="1400" spc="-100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400" spc="-10">
                <a:solidFill>
                  <a:srgbClr val="5B6974"/>
                </a:solidFill>
                <a:latin typeface="Tahoma"/>
                <a:cs typeface="Tahoma"/>
              </a:rPr>
              <a:t>decisions</a:t>
            </a:r>
            <a:r>
              <a:rPr sz="1400" spc="-20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400" spc="-10">
                <a:solidFill>
                  <a:srgbClr val="5B6974"/>
                </a:solidFill>
                <a:latin typeface="Tahoma"/>
                <a:cs typeface="Tahoma"/>
              </a:rPr>
              <a:t>for</a:t>
            </a:r>
            <a:r>
              <a:rPr sz="1400" spc="-125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400" spc="-30">
                <a:solidFill>
                  <a:srgbClr val="5B6974"/>
                </a:solidFill>
                <a:latin typeface="Tahoma"/>
                <a:cs typeface="Tahoma"/>
              </a:rPr>
              <a:t>different</a:t>
            </a:r>
            <a:r>
              <a:rPr sz="1400" spc="-220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400" spc="-10">
                <a:solidFill>
                  <a:srgbClr val="5B6974"/>
                </a:solidFill>
                <a:latin typeface="Tahoma"/>
                <a:cs typeface="Tahoma"/>
              </a:rPr>
              <a:t>people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sz="1550" b="1" spc="-30">
                <a:solidFill>
                  <a:srgbClr val="0E364F"/>
                </a:solidFill>
                <a:latin typeface="Tahoma"/>
                <a:cs typeface="Tahoma"/>
              </a:rPr>
              <a:t>WHO</a:t>
            </a:r>
            <a:r>
              <a:rPr sz="1550" b="1" spc="-19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550" b="1" spc="-10">
                <a:solidFill>
                  <a:srgbClr val="0E364F"/>
                </a:solidFill>
                <a:latin typeface="Tahoma"/>
                <a:cs typeface="Tahoma"/>
              </a:rPr>
              <a:t>BENEFITS?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49200" y="1653287"/>
            <a:ext cx="2121535" cy="1617980"/>
            <a:chOff x="549200" y="1653287"/>
            <a:chExt cx="2121535" cy="161798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9200" y="1653287"/>
              <a:ext cx="2121048" cy="161784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90549" y="1666874"/>
              <a:ext cx="2047875" cy="1543050"/>
            </a:xfrm>
            <a:custGeom>
              <a:avLst/>
              <a:gdLst/>
              <a:ahLst/>
              <a:cxnLst/>
              <a:rect l="l" t="t" r="r" b="b"/>
              <a:pathLst>
                <a:path w="2047875" h="1543050">
                  <a:moveTo>
                    <a:pt x="1781810" y="0"/>
                  </a:moveTo>
                  <a:lnTo>
                    <a:pt x="265391" y="0"/>
                  </a:lnTo>
                  <a:lnTo>
                    <a:pt x="217690" y="4190"/>
                  </a:lnTo>
                  <a:lnTo>
                    <a:pt x="172783" y="16128"/>
                  </a:lnTo>
                  <a:lnTo>
                    <a:pt x="131445" y="35051"/>
                  </a:lnTo>
                  <a:lnTo>
                    <a:pt x="94399" y="60451"/>
                  </a:lnTo>
                  <a:lnTo>
                    <a:pt x="62420" y="91439"/>
                  </a:lnTo>
                  <a:lnTo>
                    <a:pt x="36233" y="127380"/>
                  </a:lnTo>
                  <a:lnTo>
                    <a:pt x="16598" y="167386"/>
                  </a:lnTo>
                  <a:lnTo>
                    <a:pt x="4279" y="210947"/>
                  </a:lnTo>
                  <a:lnTo>
                    <a:pt x="0" y="257175"/>
                  </a:lnTo>
                  <a:lnTo>
                    <a:pt x="0" y="1285748"/>
                  </a:lnTo>
                  <a:lnTo>
                    <a:pt x="4279" y="1331976"/>
                  </a:lnTo>
                  <a:lnTo>
                    <a:pt x="16598" y="1375537"/>
                  </a:lnTo>
                  <a:lnTo>
                    <a:pt x="36233" y="1415541"/>
                  </a:lnTo>
                  <a:lnTo>
                    <a:pt x="62420" y="1451483"/>
                  </a:lnTo>
                  <a:lnTo>
                    <a:pt x="94399" y="1482471"/>
                  </a:lnTo>
                  <a:lnTo>
                    <a:pt x="131445" y="1507871"/>
                  </a:lnTo>
                  <a:lnTo>
                    <a:pt x="172783" y="1526921"/>
                  </a:lnTo>
                  <a:lnTo>
                    <a:pt x="217690" y="1538859"/>
                  </a:lnTo>
                  <a:lnTo>
                    <a:pt x="265391" y="1543050"/>
                  </a:lnTo>
                  <a:lnTo>
                    <a:pt x="1781810" y="1543050"/>
                  </a:lnTo>
                  <a:lnTo>
                    <a:pt x="1829562" y="1538859"/>
                  </a:lnTo>
                  <a:lnTo>
                    <a:pt x="1874393" y="1526921"/>
                  </a:lnTo>
                  <a:lnTo>
                    <a:pt x="1915795" y="1507871"/>
                  </a:lnTo>
                  <a:lnTo>
                    <a:pt x="1952879" y="1482471"/>
                  </a:lnTo>
                  <a:lnTo>
                    <a:pt x="1984883" y="1451483"/>
                  </a:lnTo>
                  <a:lnTo>
                    <a:pt x="2011045" y="1415541"/>
                  </a:lnTo>
                  <a:lnTo>
                    <a:pt x="2030730" y="1375537"/>
                  </a:lnTo>
                  <a:lnTo>
                    <a:pt x="2043049" y="1331976"/>
                  </a:lnTo>
                  <a:lnTo>
                    <a:pt x="2047367" y="1285748"/>
                  </a:lnTo>
                  <a:lnTo>
                    <a:pt x="2047367" y="257175"/>
                  </a:lnTo>
                  <a:lnTo>
                    <a:pt x="2043049" y="210947"/>
                  </a:lnTo>
                  <a:lnTo>
                    <a:pt x="2030730" y="167386"/>
                  </a:lnTo>
                  <a:lnTo>
                    <a:pt x="2011045" y="127380"/>
                  </a:lnTo>
                  <a:lnTo>
                    <a:pt x="1984883" y="91439"/>
                  </a:lnTo>
                  <a:lnTo>
                    <a:pt x="1952879" y="60451"/>
                  </a:lnTo>
                  <a:lnTo>
                    <a:pt x="1915795" y="35051"/>
                  </a:lnTo>
                  <a:lnTo>
                    <a:pt x="1874393" y="16128"/>
                  </a:lnTo>
                  <a:lnTo>
                    <a:pt x="1829562" y="4190"/>
                  </a:lnTo>
                  <a:lnTo>
                    <a:pt x="1781810" y="0"/>
                  </a:lnTo>
                  <a:close/>
                </a:path>
              </a:pathLst>
            </a:custGeom>
            <a:solidFill>
              <a:srgbClr val="F7F8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5312" y="1671700"/>
              <a:ext cx="2047875" cy="1543050"/>
            </a:xfrm>
            <a:custGeom>
              <a:avLst/>
              <a:gdLst/>
              <a:ahLst/>
              <a:cxnLst/>
              <a:rect l="l" t="t" r="r" b="b"/>
              <a:pathLst>
                <a:path w="2047875" h="1543050">
                  <a:moveTo>
                    <a:pt x="0" y="257175"/>
                  </a:moveTo>
                  <a:lnTo>
                    <a:pt x="4279" y="210820"/>
                  </a:lnTo>
                  <a:lnTo>
                    <a:pt x="16598" y="167386"/>
                  </a:lnTo>
                  <a:lnTo>
                    <a:pt x="36233" y="127253"/>
                  </a:lnTo>
                  <a:lnTo>
                    <a:pt x="62420" y="91439"/>
                  </a:lnTo>
                  <a:lnTo>
                    <a:pt x="94399" y="60451"/>
                  </a:lnTo>
                  <a:lnTo>
                    <a:pt x="131445" y="35051"/>
                  </a:lnTo>
                  <a:lnTo>
                    <a:pt x="172783" y="16001"/>
                  </a:lnTo>
                  <a:lnTo>
                    <a:pt x="217690" y="4063"/>
                  </a:lnTo>
                  <a:lnTo>
                    <a:pt x="265391" y="0"/>
                  </a:lnTo>
                  <a:lnTo>
                    <a:pt x="1781746" y="0"/>
                  </a:lnTo>
                  <a:lnTo>
                    <a:pt x="1829498" y="4063"/>
                  </a:lnTo>
                  <a:lnTo>
                    <a:pt x="1874456" y="16001"/>
                  </a:lnTo>
                  <a:lnTo>
                    <a:pt x="1915731" y="35051"/>
                  </a:lnTo>
                  <a:lnTo>
                    <a:pt x="1952815" y="60451"/>
                  </a:lnTo>
                  <a:lnTo>
                    <a:pt x="1984819" y="91439"/>
                  </a:lnTo>
                  <a:lnTo>
                    <a:pt x="2011108" y="127253"/>
                  </a:lnTo>
                  <a:lnTo>
                    <a:pt x="2030666" y="167386"/>
                  </a:lnTo>
                  <a:lnTo>
                    <a:pt x="2042985" y="210820"/>
                  </a:lnTo>
                  <a:lnTo>
                    <a:pt x="2047303" y="257175"/>
                  </a:lnTo>
                  <a:lnTo>
                    <a:pt x="2047303" y="1285748"/>
                  </a:lnTo>
                  <a:lnTo>
                    <a:pt x="2042985" y="1331976"/>
                  </a:lnTo>
                  <a:lnTo>
                    <a:pt x="2030666" y="1375410"/>
                  </a:lnTo>
                  <a:lnTo>
                    <a:pt x="2011108" y="1415541"/>
                  </a:lnTo>
                  <a:lnTo>
                    <a:pt x="1984819" y="1451483"/>
                  </a:lnTo>
                  <a:lnTo>
                    <a:pt x="1952815" y="1482471"/>
                  </a:lnTo>
                  <a:lnTo>
                    <a:pt x="1915731" y="1507871"/>
                  </a:lnTo>
                  <a:lnTo>
                    <a:pt x="1874456" y="1526921"/>
                  </a:lnTo>
                  <a:lnTo>
                    <a:pt x="1829498" y="1538859"/>
                  </a:lnTo>
                  <a:lnTo>
                    <a:pt x="1781746" y="1543050"/>
                  </a:lnTo>
                  <a:lnTo>
                    <a:pt x="265391" y="1543050"/>
                  </a:lnTo>
                  <a:lnTo>
                    <a:pt x="217690" y="1538859"/>
                  </a:lnTo>
                  <a:lnTo>
                    <a:pt x="172783" y="1526921"/>
                  </a:lnTo>
                  <a:lnTo>
                    <a:pt x="131445" y="1507871"/>
                  </a:lnTo>
                  <a:lnTo>
                    <a:pt x="94399" y="1482471"/>
                  </a:lnTo>
                  <a:lnTo>
                    <a:pt x="62420" y="1451483"/>
                  </a:lnTo>
                  <a:lnTo>
                    <a:pt x="36233" y="1415541"/>
                  </a:lnTo>
                  <a:lnTo>
                    <a:pt x="16598" y="1375410"/>
                  </a:lnTo>
                  <a:lnTo>
                    <a:pt x="4279" y="1331976"/>
                  </a:lnTo>
                  <a:lnTo>
                    <a:pt x="0" y="1285748"/>
                  </a:lnTo>
                  <a:lnTo>
                    <a:pt x="0" y="257175"/>
                  </a:lnTo>
                  <a:close/>
                </a:path>
              </a:pathLst>
            </a:custGeom>
            <a:ln w="12700">
              <a:solidFill>
                <a:srgbClr val="C8DC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80415" y="1785302"/>
            <a:ext cx="1705610" cy="13792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ts val="1664"/>
              </a:lnSpc>
              <a:spcBef>
                <a:spcPts val="125"/>
              </a:spcBef>
            </a:pPr>
            <a:r>
              <a:rPr sz="1400" b="1" spc="-10">
                <a:solidFill>
                  <a:srgbClr val="17375F"/>
                </a:solidFill>
                <a:latin typeface="Tahoma"/>
                <a:cs typeface="Tahoma"/>
              </a:rPr>
              <a:t>FARMER</a:t>
            </a:r>
            <a:r>
              <a:rPr sz="1400" b="1" spc="-50">
                <a:solidFill>
                  <a:srgbClr val="17375F"/>
                </a:solidFill>
                <a:latin typeface="Tahoma"/>
                <a:cs typeface="Tahoma"/>
              </a:rPr>
              <a:t> /</a:t>
            </a:r>
            <a:endParaRPr sz="1400">
              <a:latin typeface="Tahoma"/>
              <a:cs typeface="Tahoma"/>
            </a:endParaRPr>
          </a:p>
          <a:p>
            <a:pPr algn="ctr">
              <a:lnSpc>
                <a:spcPts val="1664"/>
              </a:lnSpc>
            </a:pPr>
            <a:r>
              <a:rPr sz="1400" b="1" spc="-10">
                <a:solidFill>
                  <a:srgbClr val="17375F"/>
                </a:solidFill>
                <a:latin typeface="Tahoma"/>
                <a:cs typeface="Tahoma"/>
              </a:rPr>
              <a:t>FISHERMAN</a:t>
            </a:r>
            <a:endParaRPr sz="1400">
              <a:latin typeface="Tahoma"/>
              <a:cs typeface="Tahoma"/>
            </a:endParaRPr>
          </a:p>
          <a:p>
            <a:pPr marL="12065" marR="5080" indent="-1905" algn="ctr">
              <a:lnSpc>
                <a:spcPct val="98700"/>
              </a:lnSpc>
              <a:spcBef>
                <a:spcPts val="140"/>
              </a:spcBef>
            </a:pPr>
            <a:r>
              <a:rPr sz="1100" b="1">
                <a:solidFill>
                  <a:srgbClr val="17202A"/>
                </a:solidFill>
                <a:latin typeface="Tahoma"/>
                <a:cs typeface="Tahoma"/>
              </a:rPr>
              <a:t>Rain</a:t>
            </a:r>
            <a:r>
              <a:rPr sz="1100" b="1" spc="-5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 b="1" spc="-20">
                <a:solidFill>
                  <a:srgbClr val="17202A"/>
                </a:solidFill>
                <a:latin typeface="Tahoma"/>
                <a:cs typeface="Tahoma"/>
              </a:rPr>
              <a:t>timing-</a:t>
            </a:r>
            <a:r>
              <a:rPr sz="1100" b="1">
                <a:solidFill>
                  <a:srgbClr val="17202A"/>
                </a:solidFill>
                <a:latin typeface="Tahoma"/>
                <a:cs typeface="Tahoma"/>
              </a:rPr>
              <a:t>&gt;</a:t>
            </a:r>
            <a:r>
              <a:rPr sz="1100" b="1" spc="-2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 b="1">
                <a:solidFill>
                  <a:srgbClr val="17202A"/>
                </a:solidFill>
                <a:latin typeface="Tahoma"/>
                <a:cs typeface="Tahoma"/>
              </a:rPr>
              <a:t>crop</a:t>
            </a:r>
            <a:r>
              <a:rPr sz="1100" b="1" spc="-4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 b="1" spc="-50">
                <a:solidFill>
                  <a:srgbClr val="17202A"/>
                </a:solidFill>
                <a:latin typeface="Tahoma"/>
                <a:cs typeface="Tahoma"/>
              </a:rPr>
              <a:t>&amp; </a:t>
            </a:r>
            <a:r>
              <a:rPr sz="1100" b="1" spc="-10">
                <a:solidFill>
                  <a:srgbClr val="17202A"/>
                </a:solidFill>
                <a:latin typeface="Tahoma"/>
                <a:cs typeface="Tahoma"/>
              </a:rPr>
              <a:t>fieldwork</a:t>
            </a:r>
            <a:r>
              <a:rPr sz="1100" b="1" spc="-3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 b="1" spc="-10">
                <a:solidFill>
                  <a:srgbClr val="17202A"/>
                </a:solidFill>
                <a:latin typeface="Tahoma"/>
                <a:cs typeface="Tahoma"/>
              </a:rPr>
              <a:t>advisory/Sea conditions</a:t>
            </a:r>
            <a:r>
              <a:rPr sz="1100" b="1" spc="-5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 b="1">
                <a:solidFill>
                  <a:srgbClr val="17202A"/>
                </a:solidFill>
                <a:latin typeface="Tahoma"/>
                <a:cs typeface="Tahoma"/>
              </a:rPr>
              <a:t>&amp;Safe</a:t>
            </a:r>
            <a:r>
              <a:rPr sz="1100" b="1" spc="-6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 b="1" spc="-10">
                <a:solidFill>
                  <a:srgbClr val="17202A"/>
                </a:solidFill>
                <a:latin typeface="Tahoma"/>
                <a:cs typeface="Tahoma"/>
              </a:rPr>
              <a:t>fishing guidance</a:t>
            </a:r>
            <a:endParaRPr sz="1100">
              <a:latin typeface="Tahoma"/>
              <a:cs typeface="Tahoma"/>
            </a:endParaRPr>
          </a:p>
          <a:p>
            <a:pPr marR="109220" algn="ctr">
              <a:lnSpc>
                <a:spcPct val="100000"/>
              </a:lnSpc>
              <a:spcBef>
                <a:spcPts val="509"/>
              </a:spcBef>
            </a:pPr>
            <a:r>
              <a:rPr sz="1200" b="1" spc="-40">
                <a:solidFill>
                  <a:srgbClr val="5B6974"/>
                </a:solidFill>
                <a:latin typeface="Tahoma"/>
                <a:cs typeface="Tahoma"/>
              </a:rPr>
              <a:t>Local</a:t>
            </a:r>
            <a:r>
              <a:rPr sz="1200" b="1" spc="-110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200" b="1" spc="-90">
                <a:solidFill>
                  <a:srgbClr val="5B6974"/>
                </a:solidFill>
                <a:latin typeface="Tahoma"/>
                <a:cs typeface="Tahoma"/>
              </a:rPr>
              <a:t>language</a:t>
            </a:r>
            <a:r>
              <a:rPr sz="1200" b="1" spc="-120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200" b="1" spc="-10">
                <a:solidFill>
                  <a:srgbClr val="5B6974"/>
                </a:solidFill>
                <a:latin typeface="Tahoma"/>
                <a:cs typeface="Tahoma"/>
              </a:rPr>
              <a:t>+voice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657475" y="1619250"/>
            <a:ext cx="2457450" cy="1724025"/>
            <a:chOff x="2657475" y="1619250"/>
            <a:chExt cx="2457450" cy="1724025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57475" y="1619250"/>
              <a:ext cx="2457450" cy="172402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724150" y="1657350"/>
              <a:ext cx="2333625" cy="1600200"/>
            </a:xfrm>
            <a:custGeom>
              <a:avLst/>
              <a:gdLst/>
              <a:ahLst/>
              <a:cxnLst/>
              <a:rect l="l" t="t" r="r" b="b"/>
              <a:pathLst>
                <a:path w="2333625" h="1600200">
                  <a:moveTo>
                    <a:pt x="2066798" y="0"/>
                  </a:moveTo>
                  <a:lnTo>
                    <a:pt x="266700" y="0"/>
                  </a:lnTo>
                  <a:lnTo>
                    <a:pt x="218694" y="4317"/>
                  </a:lnTo>
                  <a:lnTo>
                    <a:pt x="173608" y="16637"/>
                  </a:lnTo>
                  <a:lnTo>
                    <a:pt x="132080" y="36449"/>
                  </a:lnTo>
                  <a:lnTo>
                    <a:pt x="94868" y="62737"/>
                  </a:lnTo>
                  <a:lnTo>
                    <a:pt x="62737" y="94869"/>
                  </a:lnTo>
                  <a:lnTo>
                    <a:pt x="36449" y="132079"/>
                  </a:lnTo>
                  <a:lnTo>
                    <a:pt x="16637" y="173609"/>
                  </a:lnTo>
                  <a:lnTo>
                    <a:pt x="4318" y="218694"/>
                  </a:lnTo>
                  <a:lnTo>
                    <a:pt x="0" y="266700"/>
                  </a:lnTo>
                  <a:lnTo>
                    <a:pt x="0" y="1333373"/>
                  </a:lnTo>
                  <a:lnTo>
                    <a:pt x="4318" y="1381378"/>
                  </a:lnTo>
                  <a:lnTo>
                    <a:pt x="16637" y="1426464"/>
                  </a:lnTo>
                  <a:lnTo>
                    <a:pt x="36449" y="1467992"/>
                  </a:lnTo>
                  <a:lnTo>
                    <a:pt x="62737" y="1505203"/>
                  </a:lnTo>
                  <a:lnTo>
                    <a:pt x="94868" y="1537462"/>
                  </a:lnTo>
                  <a:lnTo>
                    <a:pt x="132080" y="1563751"/>
                  </a:lnTo>
                  <a:lnTo>
                    <a:pt x="173608" y="1583563"/>
                  </a:lnTo>
                  <a:lnTo>
                    <a:pt x="218694" y="1595882"/>
                  </a:lnTo>
                  <a:lnTo>
                    <a:pt x="266700" y="1600200"/>
                  </a:lnTo>
                  <a:lnTo>
                    <a:pt x="2066798" y="1600200"/>
                  </a:lnTo>
                  <a:lnTo>
                    <a:pt x="2114804" y="1595882"/>
                  </a:lnTo>
                  <a:lnTo>
                    <a:pt x="2159889" y="1583563"/>
                  </a:lnTo>
                  <a:lnTo>
                    <a:pt x="2201417" y="1563751"/>
                  </a:lnTo>
                  <a:lnTo>
                    <a:pt x="2238629" y="1537462"/>
                  </a:lnTo>
                  <a:lnTo>
                    <a:pt x="2270887" y="1505203"/>
                  </a:lnTo>
                  <a:lnTo>
                    <a:pt x="2297176" y="1467992"/>
                  </a:lnTo>
                  <a:lnTo>
                    <a:pt x="2316988" y="1426464"/>
                  </a:lnTo>
                  <a:lnTo>
                    <a:pt x="2329307" y="1381378"/>
                  </a:lnTo>
                  <a:lnTo>
                    <a:pt x="2333625" y="1333373"/>
                  </a:lnTo>
                  <a:lnTo>
                    <a:pt x="2333625" y="266700"/>
                  </a:lnTo>
                  <a:lnTo>
                    <a:pt x="2329307" y="218694"/>
                  </a:lnTo>
                  <a:lnTo>
                    <a:pt x="2316988" y="173609"/>
                  </a:lnTo>
                  <a:lnTo>
                    <a:pt x="2297176" y="132079"/>
                  </a:lnTo>
                  <a:lnTo>
                    <a:pt x="2270887" y="94869"/>
                  </a:lnTo>
                  <a:lnTo>
                    <a:pt x="2238629" y="62737"/>
                  </a:lnTo>
                  <a:lnTo>
                    <a:pt x="2201417" y="36449"/>
                  </a:lnTo>
                  <a:lnTo>
                    <a:pt x="2159889" y="16637"/>
                  </a:lnTo>
                  <a:lnTo>
                    <a:pt x="2114804" y="4317"/>
                  </a:lnTo>
                  <a:lnTo>
                    <a:pt x="2066798" y="0"/>
                  </a:lnTo>
                  <a:close/>
                </a:path>
              </a:pathLst>
            </a:custGeom>
            <a:solidFill>
              <a:srgbClr val="F7F8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28976" y="1662176"/>
              <a:ext cx="2333625" cy="1600200"/>
            </a:xfrm>
            <a:custGeom>
              <a:avLst/>
              <a:gdLst/>
              <a:ahLst/>
              <a:cxnLst/>
              <a:rect l="l" t="t" r="r" b="b"/>
              <a:pathLst>
                <a:path w="2333625" h="1600200">
                  <a:moveTo>
                    <a:pt x="0" y="266700"/>
                  </a:moveTo>
                  <a:lnTo>
                    <a:pt x="4191" y="218694"/>
                  </a:lnTo>
                  <a:lnTo>
                    <a:pt x="16637" y="173609"/>
                  </a:lnTo>
                  <a:lnTo>
                    <a:pt x="36322" y="132079"/>
                  </a:lnTo>
                  <a:lnTo>
                    <a:pt x="62611" y="94741"/>
                  </a:lnTo>
                  <a:lnTo>
                    <a:pt x="94742" y="62611"/>
                  </a:lnTo>
                  <a:lnTo>
                    <a:pt x="132080" y="36322"/>
                  </a:lnTo>
                  <a:lnTo>
                    <a:pt x="173609" y="16637"/>
                  </a:lnTo>
                  <a:lnTo>
                    <a:pt x="218694" y="4190"/>
                  </a:lnTo>
                  <a:lnTo>
                    <a:pt x="266700" y="0"/>
                  </a:lnTo>
                  <a:lnTo>
                    <a:pt x="2066798" y="0"/>
                  </a:lnTo>
                  <a:lnTo>
                    <a:pt x="2114677" y="4190"/>
                  </a:lnTo>
                  <a:lnTo>
                    <a:pt x="2159762" y="16637"/>
                  </a:lnTo>
                  <a:lnTo>
                    <a:pt x="2201418" y="36322"/>
                  </a:lnTo>
                  <a:lnTo>
                    <a:pt x="2238629" y="62611"/>
                  </a:lnTo>
                  <a:lnTo>
                    <a:pt x="2270760" y="94741"/>
                  </a:lnTo>
                  <a:lnTo>
                    <a:pt x="2297176" y="131952"/>
                  </a:lnTo>
                  <a:lnTo>
                    <a:pt x="2316861" y="173609"/>
                  </a:lnTo>
                  <a:lnTo>
                    <a:pt x="2329307" y="218694"/>
                  </a:lnTo>
                  <a:lnTo>
                    <a:pt x="2333625" y="266700"/>
                  </a:lnTo>
                  <a:lnTo>
                    <a:pt x="2333625" y="1333373"/>
                  </a:lnTo>
                  <a:lnTo>
                    <a:pt x="2329307" y="1381252"/>
                  </a:lnTo>
                  <a:lnTo>
                    <a:pt x="2316861" y="1426337"/>
                  </a:lnTo>
                  <a:lnTo>
                    <a:pt x="2297176" y="1467993"/>
                  </a:lnTo>
                  <a:lnTo>
                    <a:pt x="2270760" y="1505203"/>
                  </a:lnTo>
                  <a:lnTo>
                    <a:pt x="2238629" y="1537335"/>
                  </a:lnTo>
                  <a:lnTo>
                    <a:pt x="2201418" y="1563751"/>
                  </a:lnTo>
                  <a:lnTo>
                    <a:pt x="2159762" y="1583436"/>
                  </a:lnTo>
                  <a:lnTo>
                    <a:pt x="2114677" y="1595882"/>
                  </a:lnTo>
                  <a:lnTo>
                    <a:pt x="2066798" y="1600200"/>
                  </a:lnTo>
                  <a:lnTo>
                    <a:pt x="266700" y="1600200"/>
                  </a:lnTo>
                  <a:lnTo>
                    <a:pt x="218694" y="1595882"/>
                  </a:lnTo>
                  <a:lnTo>
                    <a:pt x="173609" y="1583436"/>
                  </a:lnTo>
                  <a:lnTo>
                    <a:pt x="132080" y="1563751"/>
                  </a:lnTo>
                  <a:lnTo>
                    <a:pt x="94742" y="1537335"/>
                  </a:lnTo>
                  <a:lnTo>
                    <a:pt x="62611" y="1505203"/>
                  </a:lnTo>
                  <a:lnTo>
                    <a:pt x="36322" y="1467993"/>
                  </a:lnTo>
                  <a:lnTo>
                    <a:pt x="16637" y="1426337"/>
                  </a:lnTo>
                  <a:lnTo>
                    <a:pt x="4191" y="1381252"/>
                  </a:lnTo>
                  <a:lnTo>
                    <a:pt x="0" y="1333373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C8DC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970910" y="1787207"/>
            <a:ext cx="183896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30">
                <a:solidFill>
                  <a:srgbClr val="0E364F"/>
                </a:solidFill>
                <a:latin typeface="Tahoma"/>
                <a:cs typeface="Tahoma"/>
              </a:rPr>
              <a:t>COMMUTER/DRIVER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58845" y="2197163"/>
            <a:ext cx="1877695" cy="38989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559435" marR="5080" indent="-547370">
              <a:lnSpc>
                <a:spcPts val="1430"/>
              </a:lnSpc>
              <a:spcBef>
                <a:spcPts val="155"/>
              </a:spcBef>
            </a:pPr>
            <a:r>
              <a:rPr sz="1200" b="1" spc="-65">
                <a:solidFill>
                  <a:srgbClr val="17202A"/>
                </a:solidFill>
                <a:latin typeface="Tahoma"/>
                <a:cs typeface="Tahoma"/>
              </a:rPr>
              <a:t>Rain</a:t>
            </a:r>
            <a:r>
              <a:rPr sz="1200" b="1" spc="-10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b="1" spc="-70">
                <a:solidFill>
                  <a:srgbClr val="17202A"/>
                </a:solidFill>
                <a:latin typeface="Tahoma"/>
                <a:cs typeface="Tahoma"/>
              </a:rPr>
              <a:t>+wind+route</a:t>
            </a:r>
            <a:r>
              <a:rPr sz="1200" b="1" spc="-16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b="1" spc="-70">
                <a:solidFill>
                  <a:srgbClr val="17202A"/>
                </a:solidFill>
                <a:latin typeface="Tahoma"/>
                <a:cs typeface="Tahoma"/>
              </a:rPr>
              <a:t>→travel </a:t>
            </a:r>
            <a:r>
              <a:rPr sz="1200" b="1" spc="-10">
                <a:solidFill>
                  <a:srgbClr val="17202A"/>
                </a:solidFill>
                <a:latin typeface="Tahoma"/>
                <a:cs typeface="Tahoma"/>
              </a:rPr>
              <a:t>suitability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11500" y="2765425"/>
            <a:ext cx="15595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5">
                <a:solidFill>
                  <a:srgbClr val="5B6974"/>
                </a:solidFill>
                <a:latin typeface="Tahoma"/>
                <a:cs typeface="Tahoma"/>
              </a:rPr>
              <a:t>Fast,</a:t>
            </a:r>
            <a:r>
              <a:rPr sz="1200" b="1" spc="-100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200" b="1" spc="-55">
                <a:solidFill>
                  <a:srgbClr val="5B6974"/>
                </a:solidFill>
                <a:latin typeface="Tahoma"/>
                <a:cs typeface="Tahoma"/>
              </a:rPr>
              <a:t>practical</a:t>
            </a:r>
            <a:r>
              <a:rPr sz="1200" b="1" spc="-65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200" b="1" spc="-30">
                <a:solidFill>
                  <a:srgbClr val="5B6974"/>
                </a:solidFill>
                <a:latin typeface="Tahoma"/>
                <a:cs typeface="Tahoma"/>
              </a:rPr>
              <a:t>answer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149884" y="1654128"/>
            <a:ext cx="2263775" cy="1673860"/>
            <a:chOff x="5149884" y="1654128"/>
            <a:chExt cx="2263775" cy="1673860"/>
          </a:xfrm>
        </p:grpSpPr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49884" y="1654128"/>
              <a:ext cx="2263705" cy="167331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191124" y="1666874"/>
              <a:ext cx="2190750" cy="1600200"/>
            </a:xfrm>
            <a:custGeom>
              <a:avLst/>
              <a:gdLst/>
              <a:ahLst/>
              <a:cxnLst/>
              <a:rect l="l" t="t" r="r" b="b"/>
              <a:pathLst>
                <a:path w="2190750" h="1600200">
                  <a:moveTo>
                    <a:pt x="1923923" y="0"/>
                  </a:moveTo>
                  <a:lnTo>
                    <a:pt x="266700" y="0"/>
                  </a:lnTo>
                  <a:lnTo>
                    <a:pt x="218694" y="4317"/>
                  </a:lnTo>
                  <a:lnTo>
                    <a:pt x="173609" y="16637"/>
                  </a:lnTo>
                  <a:lnTo>
                    <a:pt x="132079" y="36449"/>
                  </a:lnTo>
                  <a:lnTo>
                    <a:pt x="94869" y="62737"/>
                  </a:lnTo>
                  <a:lnTo>
                    <a:pt x="62737" y="94869"/>
                  </a:lnTo>
                  <a:lnTo>
                    <a:pt x="36449" y="132079"/>
                  </a:lnTo>
                  <a:lnTo>
                    <a:pt x="16637" y="173609"/>
                  </a:lnTo>
                  <a:lnTo>
                    <a:pt x="4317" y="218694"/>
                  </a:lnTo>
                  <a:lnTo>
                    <a:pt x="0" y="266700"/>
                  </a:lnTo>
                  <a:lnTo>
                    <a:pt x="0" y="1333373"/>
                  </a:lnTo>
                  <a:lnTo>
                    <a:pt x="4317" y="1381378"/>
                  </a:lnTo>
                  <a:lnTo>
                    <a:pt x="16637" y="1426464"/>
                  </a:lnTo>
                  <a:lnTo>
                    <a:pt x="36449" y="1467992"/>
                  </a:lnTo>
                  <a:lnTo>
                    <a:pt x="62737" y="1505203"/>
                  </a:lnTo>
                  <a:lnTo>
                    <a:pt x="94869" y="1537462"/>
                  </a:lnTo>
                  <a:lnTo>
                    <a:pt x="132079" y="1563751"/>
                  </a:lnTo>
                  <a:lnTo>
                    <a:pt x="173609" y="1583563"/>
                  </a:lnTo>
                  <a:lnTo>
                    <a:pt x="218694" y="1595882"/>
                  </a:lnTo>
                  <a:lnTo>
                    <a:pt x="266700" y="1600200"/>
                  </a:lnTo>
                  <a:lnTo>
                    <a:pt x="1923923" y="1600200"/>
                  </a:lnTo>
                  <a:lnTo>
                    <a:pt x="1971928" y="1595882"/>
                  </a:lnTo>
                  <a:lnTo>
                    <a:pt x="2017014" y="1583563"/>
                  </a:lnTo>
                  <a:lnTo>
                    <a:pt x="2058543" y="1563751"/>
                  </a:lnTo>
                  <a:lnTo>
                    <a:pt x="2095753" y="1537462"/>
                  </a:lnTo>
                  <a:lnTo>
                    <a:pt x="2128011" y="1505203"/>
                  </a:lnTo>
                  <a:lnTo>
                    <a:pt x="2154301" y="1467992"/>
                  </a:lnTo>
                  <a:lnTo>
                    <a:pt x="2174113" y="1426464"/>
                  </a:lnTo>
                  <a:lnTo>
                    <a:pt x="2186431" y="1381378"/>
                  </a:lnTo>
                  <a:lnTo>
                    <a:pt x="2190750" y="1333373"/>
                  </a:lnTo>
                  <a:lnTo>
                    <a:pt x="2190750" y="266700"/>
                  </a:lnTo>
                  <a:lnTo>
                    <a:pt x="2186431" y="218694"/>
                  </a:lnTo>
                  <a:lnTo>
                    <a:pt x="2174113" y="173609"/>
                  </a:lnTo>
                  <a:lnTo>
                    <a:pt x="2154301" y="132079"/>
                  </a:lnTo>
                  <a:lnTo>
                    <a:pt x="2128011" y="94869"/>
                  </a:lnTo>
                  <a:lnTo>
                    <a:pt x="2095753" y="62737"/>
                  </a:lnTo>
                  <a:lnTo>
                    <a:pt x="2058543" y="36449"/>
                  </a:lnTo>
                  <a:lnTo>
                    <a:pt x="2017014" y="16637"/>
                  </a:lnTo>
                  <a:lnTo>
                    <a:pt x="1971928" y="4317"/>
                  </a:lnTo>
                  <a:lnTo>
                    <a:pt x="1923923" y="0"/>
                  </a:lnTo>
                  <a:close/>
                </a:path>
              </a:pathLst>
            </a:custGeom>
            <a:solidFill>
              <a:srgbClr val="F7F8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95950" y="1671700"/>
              <a:ext cx="2190750" cy="1600200"/>
            </a:xfrm>
            <a:custGeom>
              <a:avLst/>
              <a:gdLst/>
              <a:ahLst/>
              <a:cxnLst/>
              <a:rect l="l" t="t" r="r" b="b"/>
              <a:pathLst>
                <a:path w="2190750" h="1600200">
                  <a:moveTo>
                    <a:pt x="0" y="266700"/>
                  </a:moveTo>
                  <a:lnTo>
                    <a:pt x="4190" y="218694"/>
                  </a:lnTo>
                  <a:lnTo>
                    <a:pt x="16637" y="173609"/>
                  </a:lnTo>
                  <a:lnTo>
                    <a:pt x="36322" y="132079"/>
                  </a:lnTo>
                  <a:lnTo>
                    <a:pt x="62611" y="94741"/>
                  </a:lnTo>
                  <a:lnTo>
                    <a:pt x="94741" y="62611"/>
                  </a:lnTo>
                  <a:lnTo>
                    <a:pt x="131952" y="36322"/>
                  </a:lnTo>
                  <a:lnTo>
                    <a:pt x="173609" y="16637"/>
                  </a:lnTo>
                  <a:lnTo>
                    <a:pt x="218694" y="4190"/>
                  </a:lnTo>
                  <a:lnTo>
                    <a:pt x="266700" y="0"/>
                  </a:lnTo>
                  <a:lnTo>
                    <a:pt x="1923796" y="0"/>
                  </a:lnTo>
                  <a:lnTo>
                    <a:pt x="1971802" y="4190"/>
                  </a:lnTo>
                  <a:lnTo>
                    <a:pt x="2016887" y="16637"/>
                  </a:lnTo>
                  <a:lnTo>
                    <a:pt x="2058543" y="36322"/>
                  </a:lnTo>
                  <a:lnTo>
                    <a:pt x="2095753" y="62611"/>
                  </a:lnTo>
                  <a:lnTo>
                    <a:pt x="2127884" y="94741"/>
                  </a:lnTo>
                  <a:lnTo>
                    <a:pt x="2154301" y="131952"/>
                  </a:lnTo>
                  <a:lnTo>
                    <a:pt x="2173985" y="173609"/>
                  </a:lnTo>
                  <a:lnTo>
                    <a:pt x="2186431" y="218694"/>
                  </a:lnTo>
                  <a:lnTo>
                    <a:pt x="2190750" y="266700"/>
                  </a:lnTo>
                  <a:lnTo>
                    <a:pt x="2190750" y="1333373"/>
                  </a:lnTo>
                  <a:lnTo>
                    <a:pt x="2186431" y="1381252"/>
                  </a:lnTo>
                  <a:lnTo>
                    <a:pt x="2173985" y="1426337"/>
                  </a:lnTo>
                  <a:lnTo>
                    <a:pt x="2154301" y="1467993"/>
                  </a:lnTo>
                  <a:lnTo>
                    <a:pt x="2127884" y="1505203"/>
                  </a:lnTo>
                  <a:lnTo>
                    <a:pt x="2095753" y="1537335"/>
                  </a:lnTo>
                  <a:lnTo>
                    <a:pt x="2058543" y="1563751"/>
                  </a:lnTo>
                  <a:lnTo>
                    <a:pt x="2016887" y="1583436"/>
                  </a:lnTo>
                  <a:lnTo>
                    <a:pt x="1971802" y="1595882"/>
                  </a:lnTo>
                  <a:lnTo>
                    <a:pt x="1923796" y="1600200"/>
                  </a:lnTo>
                  <a:lnTo>
                    <a:pt x="266700" y="1600200"/>
                  </a:lnTo>
                  <a:lnTo>
                    <a:pt x="218694" y="1595882"/>
                  </a:lnTo>
                  <a:lnTo>
                    <a:pt x="173609" y="1583436"/>
                  </a:lnTo>
                  <a:lnTo>
                    <a:pt x="132079" y="1563751"/>
                  </a:lnTo>
                  <a:lnTo>
                    <a:pt x="94741" y="1537335"/>
                  </a:lnTo>
                  <a:lnTo>
                    <a:pt x="62611" y="1505203"/>
                  </a:lnTo>
                  <a:lnTo>
                    <a:pt x="36322" y="1467993"/>
                  </a:lnTo>
                  <a:lnTo>
                    <a:pt x="16637" y="1426337"/>
                  </a:lnTo>
                  <a:lnTo>
                    <a:pt x="4190" y="1381252"/>
                  </a:lnTo>
                  <a:lnTo>
                    <a:pt x="0" y="1333373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C8DC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335651" y="1787207"/>
            <a:ext cx="1831339" cy="11868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6200" algn="ctr">
              <a:lnSpc>
                <a:spcPts val="1664"/>
              </a:lnSpc>
              <a:spcBef>
                <a:spcPts val="125"/>
              </a:spcBef>
            </a:pPr>
            <a:r>
              <a:rPr sz="1400" b="1" spc="-105">
                <a:solidFill>
                  <a:srgbClr val="0E364F"/>
                </a:solidFill>
                <a:latin typeface="Tahoma"/>
                <a:cs typeface="Tahoma"/>
              </a:rPr>
              <a:t>TRAVELLER</a:t>
            </a:r>
            <a:r>
              <a:rPr sz="1400" b="1" spc="-22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400" b="1" spc="-10">
                <a:solidFill>
                  <a:srgbClr val="0E364F"/>
                </a:solidFill>
                <a:latin typeface="Tahoma"/>
                <a:cs typeface="Tahoma"/>
              </a:rPr>
              <a:t>/FAMILY</a:t>
            </a:r>
            <a:endParaRPr sz="1400">
              <a:latin typeface="Tahoma"/>
              <a:cs typeface="Tahoma"/>
            </a:endParaRPr>
          </a:p>
          <a:p>
            <a:pPr marL="76835" algn="ctr">
              <a:lnSpc>
                <a:spcPts val="1664"/>
              </a:lnSpc>
            </a:pPr>
            <a:r>
              <a:rPr sz="1400" b="1">
                <a:solidFill>
                  <a:srgbClr val="0E364F"/>
                </a:solidFill>
                <a:latin typeface="Tahoma"/>
                <a:cs typeface="Tahoma"/>
              </a:rPr>
              <a:t>/</a:t>
            </a:r>
            <a:r>
              <a:rPr sz="1400" b="1" spc="-4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400" b="1" spc="-30">
                <a:solidFill>
                  <a:srgbClr val="0E364F"/>
                </a:solidFill>
                <a:latin typeface="Tahoma"/>
                <a:cs typeface="Tahoma"/>
              </a:rPr>
              <a:t>GENERAL </a:t>
            </a:r>
            <a:r>
              <a:rPr sz="1400" b="1" spc="-20">
                <a:solidFill>
                  <a:srgbClr val="0E364F"/>
                </a:solidFill>
                <a:latin typeface="Tahoma"/>
                <a:cs typeface="Tahoma"/>
              </a:rPr>
              <a:t>USERS</a:t>
            </a:r>
            <a:endParaRPr sz="1400">
              <a:latin typeface="Tahoma"/>
              <a:cs typeface="Tahoma"/>
            </a:endParaRPr>
          </a:p>
          <a:p>
            <a:pPr marL="73660" algn="ctr">
              <a:lnSpc>
                <a:spcPts val="1435"/>
              </a:lnSpc>
              <a:spcBef>
                <a:spcPts val="1450"/>
              </a:spcBef>
            </a:pPr>
            <a:r>
              <a:rPr sz="1200" b="1" spc="-60">
                <a:solidFill>
                  <a:srgbClr val="17202A"/>
                </a:solidFill>
                <a:latin typeface="Tahoma"/>
                <a:cs typeface="Tahoma"/>
              </a:rPr>
              <a:t>Compare</a:t>
            </a:r>
            <a:r>
              <a:rPr sz="1200" b="1" spc="-8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b="1" spc="-40">
                <a:solidFill>
                  <a:srgbClr val="17202A"/>
                </a:solidFill>
                <a:latin typeface="Tahoma"/>
                <a:cs typeface="Tahoma"/>
              </a:rPr>
              <a:t>places</a:t>
            </a:r>
            <a:r>
              <a:rPr sz="1200" b="1" spc="-8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b="1" spc="-35">
                <a:solidFill>
                  <a:srgbClr val="17202A"/>
                </a:solidFill>
                <a:latin typeface="Tahoma"/>
                <a:cs typeface="Tahoma"/>
              </a:rPr>
              <a:t>→better</a:t>
            </a:r>
            <a:endParaRPr sz="1200">
              <a:latin typeface="Tahoma"/>
              <a:cs typeface="Tahoma"/>
            </a:endParaRPr>
          </a:p>
          <a:p>
            <a:pPr marL="73660" algn="ctr">
              <a:lnSpc>
                <a:spcPts val="1435"/>
              </a:lnSpc>
            </a:pPr>
            <a:r>
              <a:rPr sz="1200" b="1" spc="-125">
                <a:solidFill>
                  <a:srgbClr val="17202A"/>
                </a:solidFill>
                <a:latin typeface="Tahoma"/>
                <a:cs typeface="Tahoma"/>
              </a:rPr>
              <a:t>-</a:t>
            </a:r>
            <a:r>
              <a:rPr sz="1200" b="1" spc="-95">
                <a:solidFill>
                  <a:srgbClr val="17202A"/>
                </a:solidFill>
                <a:latin typeface="Tahoma"/>
                <a:cs typeface="Tahoma"/>
              </a:rPr>
              <a:t>weather</a:t>
            </a:r>
            <a:r>
              <a:rPr sz="1200" b="1" spc="-4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b="1" spc="-10">
                <a:solidFill>
                  <a:srgbClr val="17202A"/>
                </a:solidFill>
                <a:latin typeface="Tahoma"/>
                <a:cs typeface="Tahoma"/>
              </a:rPr>
              <a:t>choice</a:t>
            </a:r>
            <a:endParaRPr sz="1200">
              <a:latin typeface="Tahoma"/>
              <a:cs typeface="Tahoma"/>
            </a:endParaRPr>
          </a:p>
          <a:p>
            <a:pPr marR="4445" algn="ctr">
              <a:lnSpc>
                <a:spcPct val="100000"/>
              </a:lnSpc>
              <a:spcBef>
                <a:spcPts val="25"/>
              </a:spcBef>
            </a:pPr>
            <a:r>
              <a:rPr sz="1200" b="1" spc="-65">
                <a:solidFill>
                  <a:srgbClr val="5B6974"/>
                </a:solidFill>
                <a:latin typeface="Tahoma"/>
                <a:cs typeface="Tahoma"/>
              </a:rPr>
              <a:t>Simple</a:t>
            </a:r>
            <a:r>
              <a:rPr sz="1200" b="1" spc="-105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200" b="1" spc="-50">
                <a:solidFill>
                  <a:srgbClr val="5B6974"/>
                </a:solidFill>
                <a:latin typeface="Tahoma"/>
                <a:cs typeface="Tahoma"/>
              </a:rPr>
              <a:t>visual</a:t>
            </a:r>
            <a:r>
              <a:rPr sz="1200" b="1" spc="-114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200" b="1" spc="-20">
                <a:solidFill>
                  <a:srgbClr val="5B6974"/>
                </a:solidFill>
                <a:latin typeface="Tahoma"/>
                <a:cs typeface="Tahoma"/>
              </a:rPr>
              <a:t>comparison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454968" y="1654128"/>
            <a:ext cx="2311400" cy="1673860"/>
            <a:chOff x="7454968" y="1654128"/>
            <a:chExt cx="2311400" cy="1673860"/>
          </a:xfrm>
        </p:grpSpPr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54968" y="1654128"/>
              <a:ext cx="2311263" cy="1673318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7496174" y="1666874"/>
              <a:ext cx="2238375" cy="1600200"/>
            </a:xfrm>
            <a:custGeom>
              <a:avLst/>
              <a:gdLst/>
              <a:ahLst/>
              <a:cxnLst/>
              <a:rect l="l" t="t" r="r" b="b"/>
              <a:pathLst>
                <a:path w="2238375" h="1600200">
                  <a:moveTo>
                    <a:pt x="1971548" y="0"/>
                  </a:moveTo>
                  <a:lnTo>
                    <a:pt x="266700" y="0"/>
                  </a:lnTo>
                  <a:lnTo>
                    <a:pt x="218694" y="4317"/>
                  </a:lnTo>
                  <a:lnTo>
                    <a:pt x="173608" y="16637"/>
                  </a:lnTo>
                  <a:lnTo>
                    <a:pt x="132079" y="36449"/>
                  </a:lnTo>
                  <a:lnTo>
                    <a:pt x="94869" y="62737"/>
                  </a:lnTo>
                  <a:lnTo>
                    <a:pt x="62738" y="94869"/>
                  </a:lnTo>
                  <a:lnTo>
                    <a:pt x="36449" y="132079"/>
                  </a:lnTo>
                  <a:lnTo>
                    <a:pt x="16636" y="173609"/>
                  </a:lnTo>
                  <a:lnTo>
                    <a:pt x="4318" y="218694"/>
                  </a:lnTo>
                  <a:lnTo>
                    <a:pt x="0" y="266700"/>
                  </a:lnTo>
                  <a:lnTo>
                    <a:pt x="0" y="1333373"/>
                  </a:lnTo>
                  <a:lnTo>
                    <a:pt x="4318" y="1381378"/>
                  </a:lnTo>
                  <a:lnTo>
                    <a:pt x="16636" y="1426464"/>
                  </a:lnTo>
                  <a:lnTo>
                    <a:pt x="36449" y="1467992"/>
                  </a:lnTo>
                  <a:lnTo>
                    <a:pt x="62738" y="1505203"/>
                  </a:lnTo>
                  <a:lnTo>
                    <a:pt x="94869" y="1537462"/>
                  </a:lnTo>
                  <a:lnTo>
                    <a:pt x="132079" y="1563751"/>
                  </a:lnTo>
                  <a:lnTo>
                    <a:pt x="173608" y="1583563"/>
                  </a:lnTo>
                  <a:lnTo>
                    <a:pt x="218694" y="1595882"/>
                  </a:lnTo>
                  <a:lnTo>
                    <a:pt x="266700" y="1600200"/>
                  </a:lnTo>
                  <a:lnTo>
                    <a:pt x="1971548" y="1600200"/>
                  </a:lnTo>
                  <a:lnTo>
                    <a:pt x="2019553" y="1595882"/>
                  </a:lnTo>
                  <a:lnTo>
                    <a:pt x="2064639" y="1583563"/>
                  </a:lnTo>
                  <a:lnTo>
                    <a:pt x="2106168" y="1563751"/>
                  </a:lnTo>
                  <a:lnTo>
                    <a:pt x="2143379" y="1537462"/>
                  </a:lnTo>
                  <a:lnTo>
                    <a:pt x="2175636" y="1505203"/>
                  </a:lnTo>
                  <a:lnTo>
                    <a:pt x="2201926" y="1467992"/>
                  </a:lnTo>
                  <a:lnTo>
                    <a:pt x="2221738" y="1426464"/>
                  </a:lnTo>
                  <a:lnTo>
                    <a:pt x="2234056" y="1381378"/>
                  </a:lnTo>
                  <a:lnTo>
                    <a:pt x="2238375" y="1333373"/>
                  </a:lnTo>
                  <a:lnTo>
                    <a:pt x="2238375" y="266700"/>
                  </a:lnTo>
                  <a:lnTo>
                    <a:pt x="2234056" y="218694"/>
                  </a:lnTo>
                  <a:lnTo>
                    <a:pt x="2221738" y="173609"/>
                  </a:lnTo>
                  <a:lnTo>
                    <a:pt x="2201926" y="132079"/>
                  </a:lnTo>
                  <a:lnTo>
                    <a:pt x="2175636" y="94869"/>
                  </a:lnTo>
                  <a:lnTo>
                    <a:pt x="2143379" y="62737"/>
                  </a:lnTo>
                  <a:lnTo>
                    <a:pt x="2106168" y="36449"/>
                  </a:lnTo>
                  <a:lnTo>
                    <a:pt x="2064639" y="16637"/>
                  </a:lnTo>
                  <a:lnTo>
                    <a:pt x="2019553" y="4317"/>
                  </a:lnTo>
                  <a:lnTo>
                    <a:pt x="1971548" y="0"/>
                  </a:lnTo>
                  <a:close/>
                </a:path>
              </a:pathLst>
            </a:custGeom>
            <a:solidFill>
              <a:srgbClr val="F7F8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501000" y="1671700"/>
              <a:ext cx="2238375" cy="1600200"/>
            </a:xfrm>
            <a:custGeom>
              <a:avLst/>
              <a:gdLst/>
              <a:ahLst/>
              <a:cxnLst/>
              <a:rect l="l" t="t" r="r" b="b"/>
              <a:pathLst>
                <a:path w="2238375" h="1600200">
                  <a:moveTo>
                    <a:pt x="0" y="266700"/>
                  </a:moveTo>
                  <a:lnTo>
                    <a:pt x="4191" y="218694"/>
                  </a:lnTo>
                  <a:lnTo>
                    <a:pt x="16637" y="173609"/>
                  </a:lnTo>
                  <a:lnTo>
                    <a:pt x="36322" y="132079"/>
                  </a:lnTo>
                  <a:lnTo>
                    <a:pt x="62610" y="94741"/>
                  </a:lnTo>
                  <a:lnTo>
                    <a:pt x="94742" y="62611"/>
                  </a:lnTo>
                  <a:lnTo>
                    <a:pt x="131952" y="36322"/>
                  </a:lnTo>
                  <a:lnTo>
                    <a:pt x="173608" y="16637"/>
                  </a:lnTo>
                  <a:lnTo>
                    <a:pt x="218694" y="4190"/>
                  </a:lnTo>
                  <a:lnTo>
                    <a:pt x="266700" y="0"/>
                  </a:lnTo>
                  <a:lnTo>
                    <a:pt x="1971421" y="0"/>
                  </a:lnTo>
                  <a:lnTo>
                    <a:pt x="2019427" y="4190"/>
                  </a:lnTo>
                  <a:lnTo>
                    <a:pt x="2064512" y="16637"/>
                  </a:lnTo>
                  <a:lnTo>
                    <a:pt x="2106168" y="36322"/>
                  </a:lnTo>
                  <a:lnTo>
                    <a:pt x="2143379" y="62611"/>
                  </a:lnTo>
                  <a:lnTo>
                    <a:pt x="2175509" y="94741"/>
                  </a:lnTo>
                  <a:lnTo>
                    <a:pt x="2201926" y="131952"/>
                  </a:lnTo>
                  <a:lnTo>
                    <a:pt x="2221610" y="173609"/>
                  </a:lnTo>
                  <a:lnTo>
                    <a:pt x="2234056" y="218694"/>
                  </a:lnTo>
                  <a:lnTo>
                    <a:pt x="2238375" y="266700"/>
                  </a:lnTo>
                  <a:lnTo>
                    <a:pt x="2238375" y="1333373"/>
                  </a:lnTo>
                  <a:lnTo>
                    <a:pt x="2234056" y="1381252"/>
                  </a:lnTo>
                  <a:lnTo>
                    <a:pt x="2221610" y="1426337"/>
                  </a:lnTo>
                  <a:lnTo>
                    <a:pt x="2201926" y="1467993"/>
                  </a:lnTo>
                  <a:lnTo>
                    <a:pt x="2175509" y="1505203"/>
                  </a:lnTo>
                  <a:lnTo>
                    <a:pt x="2143379" y="1537335"/>
                  </a:lnTo>
                  <a:lnTo>
                    <a:pt x="2106168" y="1563751"/>
                  </a:lnTo>
                  <a:lnTo>
                    <a:pt x="2064512" y="1583436"/>
                  </a:lnTo>
                  <a:lnTo>
                    <a:pt x="2019427" y="1595882"/>
                  </a:lnTo>
                  <a:lnTo>
                    <a:pt x="1971421" y="1600200"/>
                  </a:lnTo>
                  <a:lnTo>
                    <a:pt x="266700" y="1600200"/>
                  </a:lnTo>
                  <a:lnTo>
                    <a:pt x="218694" y="1595882"/>
                  </a:lnTo>
                  <a:lnTo>
                    <a:pt x="173608" y="1583436"/>
                  </a:lnTo>
                  <a:lnTo>
                    <a:pt x="131952" y="1563751"/>
                  </a:lnTo>
                  <a:lnTo>
                    <a:pt x="94742" y="1537335"/>
                  </a:lnTo>
                  <a:lnTo>
                    <a:pt x="62610" y="1505203"/>
                  </a:lnTo>
                  <a:lnTo>
                    <a:pt x="36322" y="1467993"/>
                  </a:lnTo>
                  <a:lnTo>
                    <a:pt x="16637" y="1426337"/>
                  </a:lnTo>
                  <a:lnTo>
                    <a:pt x="4191" y="1381252"/>
                  </a:lnTo>
                  <a:lnTo>
                    <a:pt x="0" y="1333373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C8DC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727950" y="1817687"/>
            <a:ext cx="176530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120">
                <a:solidFill>
                  <a:srgbClr val="0E364F"/>
                </a:solidFill>
                <a:latin typeface="Tahoma"/>
                <a:cs typeface="Tahoma"/>
              </a:rPr>
              <a:t>DISASTER</a:t>
            </a:r>
            <a:r>
              <a:rPr sz="1400" b="1" spc="-13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400" b="1" spc="-10">
                <a:solidFill>
                  <a:srgbClr val="0E364F"/>
                </a:solidFill>
                <a:latin typeface="Tahoma"/>
                <a:cs typeface="Tahoma"/>
              </a:rPr>
              <a:t>MANAGER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504810" y="2228215"/>
            <a:ext cx="2245995" cy="389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0"/>
              </a:lnSpc>
              <a:spcBef>
                <a:spcPts val="100"/>
              </a:spcBef>
            </a:pPr>
            <a:r>
              <a:rPr sz="1200" b="1" spc="-70">
                <a:solidFill>
                  <a:srgbClr val="17202A"/>
                </a:solidFill>
                <a:latin typeface="Tahoma"/>
                <a:cs typeface="Tahoma"/>
              </a:rPr>
              <a:t>Hazard</a:t>
            </a:r>
            <a:r>
              <a:rPr sz="1200" b="1" spc="-11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b="1" spc="-65">
                <a:solidFill>
                  <a:srgbClr val="17202A"/>
                </a:solidFill>
                <a:latin typeface="Tahoma"/>
                <a:cs typeface="Tahoma"/>
              </a:rPr>
              <a:t>polygons</a:t>
            </a:r>
            <a:r>
              <a:rPr sz="1200" b="1" spc="-18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b="1" spc="-45">
                <a:solidFill>
                  <a:srgbClr val="17202A"/>
                </a:solidFill>
                <a:latin typeface="Tahoma"/>
                <a:cs typeface="Tahoma"/>
              </a:rPr>
              <a:t>+consensus</a:t>
            </a:r>
            <a:r>
              <a:rPr sz="1200" b="1" spc="-10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b="1" spc="-50">
                <a:solidFill>
                  <a:srgbClr val="17202A"/>
                </a:solidFill>
                <a:latin typeface="Tahoma"/>
                <a:cs typeface="Tahoma"/>
              </a:rPr>
              <a:t>→</a:t>
            </a:r>
            <a:endParaRPr sz="1200">
              <a:latin typeface="Tahoma"/>
              <a:cs typeface="Tahoma"/>
            </a:endParaRPr>
          </a:p>
          <a:p>
            <a:pPr marL="463550">
              <a:lnSpc>
                <a:spcPts val="1430"/>
              </a:lnSpc>
            </a:pPr>
            <a:r>
              <a:rPr sz="1200" b="1" spc="-60">
                <a:solidFill>
                  <a:srgbClr val="17202A"/>
                </a:solidFill>
                <a:latin typeface="Tahoma"/>
                <a:cs typeface="Tahoma"/>
              </a:rPr>
              <a:t>response</a:t>
            </a:r>
            <a:r>
              <a:rPr sz="1200" b="1" spc="-7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b="1" spc="-10">
                <a:solidFill>
                  <a:srgbClr val="17202A"/>
                </a:solidFill>
                <a:latin typeface="Tahoma"/>
                <a:cs typeface="Tahoma"/>
              </a:rPr>
              <a:t>support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066658" y="2755900"/>
            <a:ext cx="986790" cy="38989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317500" marR="5080" indent="-305435">
              <a:lnSpc>
                <a:spcPts val="1430"/>
              </a:lnSpc>
              <a:spcBef>
                <a:spcPts val="155"/>
              </a:spcBef>
            </a:pPr>
            <a:r>
              <a:rPr sz="1200" b="1" spc="-70">
                <a:solidFill>
                  <a:srgbClr val="5B6974"/>
                </a:solidFill>
                <a:latin typeface="Tahoma"/>
                <a:cs typeface="Tahoma"/>
              </a:rPr>
              <a:t>Technical</a:t>
            </a:r>
            <a:r>
              <a:rPr sz="1200" b="1" spc="-45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200" b="1" spc="-20">
                <a:solidFill>
                  <a:srgbClr val="5B6974"/>
                </a:solidFill>
                <a:latin typeface="Tahoma"/>
                <a:cs typeface="Tahoma"/>
              </a:rPr>
              <a:t>risk view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9826553" y="1654128"/>
            <a:ext cx="2216785" cy="1673860"/>
            <a:chOff x="9826553" y="1654128"/>
            <a:chExt cx="2216785" cy="1673860"/>
          </a:xfrm>
        </p:grpSpPr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26553" y="1654128"/>
              <a:ext cx="2216291" cy="167331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9858374" y="1666874"/>
              <a:ext cx="2152650" cy="1600200"/>
            </a:xfrm>
            <a:custGeom>
              <a:avLst/>
              <a:gdLst/>
              <a:ahLst/>
              <a:cxnLst/>
              <a:rect l="l" t="t" r="r" b="b"/>
              <a:pathLst>
                <a:path w="2152650" h="1600200">
                  <a:moveTo>
                    <a:pt x="1885823" y="0"/>
                  </a:moveTo>
                  <a:lnTo>
                    <a:pt x="266700" y="0"/>
                  </a:lnTo>
                  <a:lnTo>
                    <a:pt x="218694" y="4317"/>
                  </a:lnTo>
                  <a:lnTo>
                    <a:pt x="173608" y="16637"/>
                  </a:lnTo>
                  <a:lnTo>
                    <a:pt x="132079" y="36449"/>
                  </a:lnTo>
                  <a:lnTo>
                    <a:pt x="94869" y="62737"/>
                  </a:lnTo>
                  <a:lnTo>
                    <a:pt x="62738" y="94869"/>
                  </a:lnTo>
                  <a:lnTo>
                    <a:pt x="36449" y="132079"/>
                  </a:lnTo>
                  <a:lnTo>
                    <a:pt x="16636" y="173609"/>
                  </a:lnTo>
                  <a:lnTo>
                    <a:pt x="4318" y="218694"/>
                  </a:lnTo>
                  <a:lnTo>
                    <a:pt x="0" y="266700"/>
                  </a:lnTo>
                  <a:lnTo>
                    <a:pt x="0" y="1333373"/>
                  </a:lnTo>
                  <a:lnTo>
                    <a:pt x="4318" y="1381378"/>
                  </a:lnTo>
                  <a:lnTo>
                    <a:pt x="16636" y="1426464"/>
                  </a:lnTo>
                  <a:lnTo>
                    <a:pt x="36449" y="1467992"/>
                  </a:lnTo>
                  <a:lnTo>
                    <a:pt x="62738" y="1505203"/>
                  </a:lnTo>
                  <a:lnTo>
                    <a:pt x="94869" y="1537462"/>
                  </a:lnTo>
                  <a:lnTo>
                    <a:pt x="132079" y="1563751"/>
                  </a:lnTo>
                  <a:lnTo>
                    <a:pt x="173608" y="1583563"/>
                  </a:lnTo>
                  <a:lnTo>
                    <a:pt x="218694" y="1595882"/>
                  </a:lnTo>
                  <a:lnTo>
                    <a:pt x="266700" y="1600200"/>
                  </a:lnTo>
                  <a:lnTo>
                    <a:pt x="1885823" y="1600200"/>
                  </a:lnTo>
                  <a:lnTo>
                    <a:pt x="1933828" y="1595882"/>
                  </a:lnTo>
                  <a:lnTo>
                    <a:pt x="1978914" y="1583563"/>
                  </a:lnTo>
                  <a:lnTo>
                    <a:pt x="2020443" y="1563751"/>
                  </a:lnTo>
                  <a:lnTo>
                    <a:pt x="2057653" y="1537462"/>
                  </a:lnTo>
                  <a:lnTo>
                    <a:pt x="2089911" y="1505203"/>
                  </a:lnTo>
                  <a:lnTo>
                    <a:pt x="2116201" y="1467992"/>
                  </a:lnTo>
                  <a:lnTo>
                    <a:pt x="2136013" y="1426464"/>
                  </a:lnTo>
                  <a:lnTo>
                    <a:pt x="2148331" y="1381378"/>
                  </a:lnTo>
                  <a:lnTo>
                    <a:pt x="2152650" y="1333373"/>
                  </a:lnTo>
                  <a:lnTo>
                    <a:pt x="2152650" y="266700"/>
                  </a:lnTo>
                  <a:lnTo>
                    <a:pt x="2148331" y="218694"/>
                  </a:lnTo>
                  <a:lnTo>
                    <a:pt x="2136013" y="173609"/>
                  </a:lnTo>
                  <a:lnTo>
                    <a:pt x="2116201" y="132079"/>
                  </a:lnTo>
                  <a:lnTo>
                    <a:pt x="2089911" y="94869"/>
                  </a:lnTo>
                  <a:lnTo>
                    <a:pt x="2057653" y="62737"/>
                  </a:lnTo>
                  <a:lnTo>
                    <a:pt x="2020443" y="36449"/>
                  </a:lnTo>
                  <a:lnTo>
                    <a:pt x="1978914" y="16637"/>
                  </a:lnTo>
                  <a:lnTo>
                    <a:pt x="1933828" y="4317"/>
                  </a:lnTo>
                  <a:lnTo>
                    <a:pt x="1885823" y="0"/>
                  </a:lnTo>
                  <a:close/>
                </a:path>
              </a:pathLst>
            </a:custGeom>
            <a:solidFill>
              <a:srgbClr val="F7F8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863200" y="1671700"/>
              <a:ext cx="2152650" cy="1600200"/>
            </a:xfrm>
            <a:custGeom>
              <a:avLst/>
              <a:gdLst/>
              <a:ahLst/>
              <a:cxnLst/>
              <a:rect l="l" t="t" r="r" b="b"/>
              <a:pathLst>
                <a:path w="2152650" h="1600200">
                  <a:moveTo>
                    <a:pt x="0" y="266700"/>
                  </a:moveTo>
                  <a:lnTo>
                    <a:pt x="4191" y="218694"/>
                  </a:lnTo>
                  <a:lnTo>
                    <a:pt x="16637" y="173609"/>
                  </a:lnTo>
                  <a:lnTo>
                    <a:pt x="36322" y="132079"/>
                  </a:lnTo>
                  <a:lnTo>
                    <a:pt x="62610" y="94741"/>
                  </a:lnTo>
                  <a:lnTo>
                    <a:pt x="94742" y="62611"/>
                  </a:lnTo>
                  <a:lnTo>
                    <a:pt x="131952" y="36322"/>
                  </a:lnTo>
                  <a:lnTo>
                    <a:pt x="173608" y="16637"/>
                  </a:lnTo>
                  <a:lnTo>
                    <a:pt x="218694" y="4190"/>
                  </a:lnTo>
                  <a:lnTo>
                    <a:pt x="266700" y="0"/>
                  </a:lnTo>
                  <a:lnTo>
                    <a:pt x="1885696" y="0"/>
                  </a:lnTo>
                  <a:lnTo>
                    <a:pt x="1933702" y="4190"/>
                  </a:lnTo>
                  <a:lnTo>
                    <a:pt x="1978787" y="16637"/>
                  </a:lnTo>
                  <a:lnTo>
                    <a:pt x="2020443" y="36322"/>
                  </a:lnTo>
                  <a:lnTo>
                    <a:pt x="2057653" y="62611"/>
                  </a:lnTo>
                  <a:lnTo>
                    <a:pt x="2089784" y="94741"/>
                  </a:lnTo>
                  <a:lnTo>
                    <a:pt x="2116201" y="131952"/>
                  </a:lnTo>
                  <a:lnTo>
                    <a:pt x="2135885" y="173609"/>
                  </a:lnTo>
                  <a:lnTo>
                    <a:pt x="2148331" y="218694"/>
                  </a:lnTo>
                  <a:lnTo>
                    <a:pt x="2152650" y="266700"/>
                  </a:lnTo>
                  <a:lnTo>
                    <a:pt x="2152650" y="1333373"/>
                  </a:lnTo>
                  <a:lnTo>
                    <a:pt x="2148331" y="1381252"/>
                  </a:lnTo>
                  <a:lnTo>
                    <a:pt x="2135885" y="1426337"/>
                  </a:lnTo>
                  <a:lnTo>
                    <a:pt x="2116201" y="1467993"/>
                  </a:lnTo>
                  <a:lnTo>
                    <a:pt x="2089784" y="1505203"/>
                  </a:lnTo>
                  <a:lnTo>
                    <a:pt x="2057653" y="1537335"/>
                  </a:lnTo>
                  <a:lnTo>
                    <a:pt x="2020443" y="1563751"/>
                  </a:lnTo>
                  <a:lnTo>
                    <a:pt x="1978787" y="1583436"/>
                  </a:lnTo>
                  <a:lnTo>
                    <a:pt x="1933702" y="1595882"/>
                  </a:lnTo>
                  <a:lnTo>
                    <a:pt x="1885696" y="1600200"/>
                  </a:lnTo>
                  <a:lnTo>
                    <a:pt x="266700" y="1600200"/>
                  </a:lnTo>
                  <a:lnTo>
                    <a:pt x="218694" y="1595882"/>
                  </a:lnTo>
                  <a:lnTo>
                    <a:pt x="173608" y="1583436"/>
                  </a:lnTo>
                  <a:lnTo>
                    <a:pt x="131952" y="1563751"/>
                  </a:lnTo>
                  <a:lnTo>
                    <a:pt x="94742" y="1537335"/>
                  </a:lnTo>
                  <a:lnTo>
                    <a:pt x="62610" y="1505203"/>
                  </a:lnTo>
                  <a:lnTo>
                    <a:pt x="36322" y="1467993"/>
                  </a:lnTo>
                  <a:lnTo>
                    <a:pt x="16637" y="1426337"/>
                  </a:lnTo>
                  <a:lnTo>
                    <a:pt x="4191" y="1381252"/>
                  </a:lnTo>
                  <a:lnTo>
                    <a:pt x="0" y="1333373"/>
                  </a:lnTo>
                  <a:lnTo>
                    <a:pt x="0" y="266700"/>
                  </a:lnTo>
                  <a:close/>
                </a:path>
              </a:pathLst>
            </a:custGeom>
            <a:ln w="12700">
              <a:solidFill>
                <a:srgbClr val="C8DC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9900919" y="1676694"/>
            <a:ext cx="1838960" cy="810895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349250">
              <a:lnSpc>
                <a:spcPct val="100000"/>
              </a:lnSpc>
              <a:spcBef>
                <a:spcPts val="994"/>
              </a:spcBef>
            </a:pPr>
            <a:r>
              <a:rPr sz="1400" b="1" spc="-10">
                <a:solidFill>
                  <a:srgbClr val="0E364F"/>
                </a:solidFill>
                <a:latin typeface="Tahoma"/>
                <a:cs typeface="Tahoma"/>
              </a:rPr>
              <a:t>RESEARCHER</a:t>
            </a:r>
            <a:endParaRPr sz="1400">
              <a:latin typeface="Tahoma"/>
              <a:cs typeface="Tahoma"/>
            </a:endParaRPr>
          </a:p>
          <a:p>
            <a:pPr marR="5080" algn="r">
              <a:lnSpc>
                <a:spcPts val="1430"/>
              </a:lnSpc>
              <a:spcBef>
                <a:spcPts val="740"/>
              </a:spcBef>
            </a:pPr>
            <a:r>
              <a:rPr sz="1200" b="1" spc="-55">
                <a:solidFill>
                  <a:srgbClr val="17202A"/>
                </a:solidFill>
                <a:latin typeface="Tahoma"/>
                <a:cs typeface="Tahoma"/>
              </a:rPr>
              <a:t>Historical</a:t>
            </a:r>
            <a:r>
              <a:rPr sz="1200" b="1" spc="-7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b="1" spc="-40">
                <a:solidFill>
                  <a:srgbClr val="17202A"/>
                </a:solidFill>
                <a:latin typeface="Tahoma"/>
                <a:cs typeface="Tahoma"/>
              </a:rPr>
              <a:t>trends</a:t>
            </a:r>
            <a:r>
              <a:rPr sz="1200" b="1" spc="-10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17202A"/>
                </a:solidFill>
                <a:latin typeface="Tahoma"/>
                <a:cs typeface="Tahoma"/>
              </a:rPr>
              <a:t>+</a:t>
            </a:r>
            <a:r>
              <a:rPr sz="1200" b="1" spc="-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b="1" spc="-20">
                <a:solidFill>
                  <a:srgbClr val="17202A"/>
                </a:solidFill>
                <a:latin typeface="Tahoma"/>
                <a:cs typeface="Tahoma"/>
              </a:rPr>
              <a:t>model</a:t>
            </a:r>
            <a:endParaRPr sz="1200">
              <a:latin typeface="Tahoma"/>
              <a:cs typeface="Tahoma"/>
            </a:endParaRPr>
          </a:p>
          <a:p>
            <a:pPr marR="59055" algn="r">
              <a:lnSpc>
                <a:spcPts val="1430"/>
              </a:lnSpc>
            </a:pPr>
            <a:r>
              <a:rPr sz="1200" b="1" spc="-50">
                <a:solidFill>
                  <a:srgbClr val="17202A"/>
                </a:solidFill>
                <a:latin typeface="Tahoma"/>
                <a:cs typeface="Tahoma"/>
              </a:rPr>
              <a:t>data</a:t>
            </a:r>
            <a:r>
              <a:rPr sz="1200" b="1" spc="-8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17202A"/>
                </a:solidFill>
                <a:latin typeface="Tahoma"/>
                <a:cs typeface="Tahoma"/>
              </a:rPr>
              <a:t>→</a:t>
            </a:r>
            <a:r>
              <a:rPr sz="1200" b="1" spc="-4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b="1" spc="-55">
                <a:solidFill>
                  <a:srgbClr val="17202A"/>
                </a:solidFill>
                <a:latin typeface="Tahoma"/>
                <a:cs typeface="Tahoma"/>
              </a:rPr>
              <a:t>open</a:t>
            </a:r>
            <a:r>
              <a:rPr sz="1200" b="1" spc="-6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b="1" spc="-10">
                <a:solidFill>
                  <a:srgbClr val="17202A"/>
                </a:solidFill>
                <a:latin typeface="Tahoma"/>
                <a:cs typeface="Tahoma"/>
              </a:rPr>
              <a:t>analysis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868154" y="2777172"/>
            <a:ext cx="18586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10">
                <a:solidFill>
                  <a:srgbClr val="5B6974"/>
                </a:solidFill>
                <a:latin typeface="Tahoma"/>
                <a:cs typeface="Tahoma"/>
              </a:rPr>
              <a:t>Queryable</a:t>
            </a:r>
            <a:r>
              <a:rPr sz="1200" b="1" spc="-155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200" b="1" spc="-105">
                <a:solidFill>
                  <a:srgbClr val="5B6974"/>
                </a:solidFill>
                <a:latin typeface="Tahoma"/>
                <a:cs typeface="Tahoma"/>
              </a:rPr>
              <a:t>datasets</a:t>
            </a:r>
            <a:r>
              <a:rPr sz="1200" b="1" spc="-155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200" b="1" spc="-55">
                <a:solidFill>
                  <a:srgbClr val="5B6974"/>
                </a:solidFill>
                <a:latin typeface="Tahoma"/>
                <a:cs typeface="Tahoma"/>
              </a:rPr>
              <a:t>forstudy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33400" y="3434610"/>
            <a:ext cx="11058525" cy="404495"/>
            <a:chOff x="533400" y="3434610"/>
            <a:chExt cx="11058525" cy="404495"/>
          </a:xfrm>
        </p:grpSpPr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3400" y="3434610"/>
              <a:ext cx="11058525" cy="40396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61975" y="3448049"/>
              <a:ext cx="11000740" cy="333375"/>
            </a:xfrm>
            <a:custGeom>
              <a:avLst/>
              <a:gdLst/>
              <a:ahLst/>
              <a:cxnLst/>
              <a:rect l="l" t="t" r="r" b="b"/>
              <a:pathLst>
                <a:path w="11000740" h="333375">
                  <a:moveTo>
                    <a:pt x="10943336" y="0"/>
                  </a:moveTo>
                  <a:lnTo>
                    <a:pt x="57302" y="0"/>
                  </a:lnTo>
                  <a:lnTo>
                    <a:pt x="35001" y="4317"/>
                  </a:lnTo>
                  <a:lnTo>
                    <a:pt x="16789" y="16255"/>
                  </a:lnTo>
                  <a:lnTo>
                    <a:pt x="4508" y="33909"/>
                  </a:lnTo>
                  <a:lnTo>
                    <a:pt x="0" y="55499"/>
                  </a:lnTo>
                  <a:lnTo>
                    <a:pt x="0" y="277749"/>
                  </a:lnTo>
                  <a:lnTo>
                    <a:pt x="4508" y="299338"/>
                  </a:lnTo>
                  <a:lnTo>
                    <a:pt x="16789" y="317119"/>
                  </a:lnTo>
                  <a:lnTo>
                    <a:pt x="35001" y="329056"/>
                  </a:lnTo>
                  <a:lnTo>
                    <a:pt x="57302" y="333375"/>
                  </a:lnTo>
                  <a:lnTo>
                    <a:pt x="10943336" y="333375"/>
                  </a:lnTo>
                  <a:lnTo>
                    <a:pt x="10965688" y="329056"/>
                  </a:lnTo>
                  <a:lnTo>
                    <a:pt x="10983976" y="317119"/>
                  </a:lnTo>
                  <a:lnTo>
                    <a:pt x="10996295" y="299338"/>
                  </a:lnTo>
                  <a:lnTo>
                    <a:pt x="11000740" y="277749"/>
                  </a:lnTo>
                  <a:lnTo>
                    <a:pt x="11000740" y="55499"/>
                  </a:lnTo>
                  <a:lnTo>
                    <a:pt x="10996295" y="33909"/>
                  </a:lnTo>
                  <a:lnTo>
                    <a:pt x="10983976" y="16255"/>
                  </a:lnTo>
                  <a:lnTo>
                    <a:pt x="10965688" y="4317"/>
                  </a:lnTo>
                  <a:lnTo>
                    <a:pt x="10943336" y="0"/>
                  </a:lnTo>
                  <a:close/>
                </a:path>
              </a:pathLst>
            </a:custGeom>
            <a:solidFill>
              <a:srgbClr val="EC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66737" y="3452875"/>
              <a:ext cx="11001375" cy="333375"/>
            </a:xfrm>
            <a:custGeom>
              <a:avLst/>
              <a:gdLst/>
              <a:ahLst/>
              <a:cxnLst/>
              <a:rect l="l" t="t" r="r" b="b"/>
              <a:pathLst>
                <a:path w="11001375" h="333375">
                  <a:moveTo>
                    <a:pt x="0" y="55499"/>
                  </a:moveTo>
                  <a:lnTo>
                    <a:pt x="4508" y="33909"/>
                  </a:lnTo>
                  <a:lnTo>
                    <a:pt x="16789" y="16128"/>
                  </a:lnTo>
                  <a:lnTo>
                    <a:pt x="35001" y="4318"/>
                  </a:lnTo>
                  <a:lnTo>
                    <a:pt x="57302" y="0"/>
                  </a:lnTo>
                  <a:lnTo>
                    <a:pt x="10943399" y="0"/>
                  </a:lnTo>
                  <a:lnTo>
                    <a:pt x="10965751" y="4318"/>
                  </a:lnTo>
                  <a:lnTo>
                    <a:pt x="10984039" y="16128"/>
                  </a:lnTo>
                  <a:lnTo>
                    <a:pt x="10996231" y="33909"/>
                  </a:lnTo>
                  <a:lnTo>
                    <a:pt x="11000803" y="55499"/>
                  </a:lnTo>
                  <a:lnTo>
                    <a:pt x="11000803" y="277622"/>
                  </a:lnTo>
                  <a:lnTo>
                    <a:pt x="10996231" y="299338"/>
                  </a:lnTo>
                  <a:lnTo>
                    <a:pt x="10984039" y="316992"/>
                  </a:lnTo>
                  <a:lnTo>
                    <a:pt x="10965751" y="328930"/>
                  </a:lnTo>
                  <a:lnTo>
                    <a:pt x="10943399" y="333375"/>
                  </a:lnTo>
                  <a:lnTo>
                    <a:pt x="57302" y="333375"/>
                  </a:lnTo>
                  <a:lnTo>
                    <a:pt x="35001" y="328930"/>
                  </a:lnTo>
                  <a:lnTo>
                    <a:pt x="16789" y="316992"/>
                  </a:lnTo>
                  <a:lnTo>
                    <a:pt x="4508" y="299338"/>
                  </a:lnTo>
                  <a:lnTo>
                    <a:pt x="0" y="277622"/>
                  </a:lnTo>
                  <a:lnTo>
                    <a:pt x="0" y="55499"/>
                  </a:lnTo>
                  <a:close/>
                </a:path>
              </a:pathLst>
            </a:custGeom>
            <a:ln w="10160">
              <a:solidFill>
                <a:srgbClr val="C8DC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83577" y="3461956"/>
            <a:ext cx="9340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75">
                <a:solidFill>
                  <a:srgbClr val="0E364F"/>
                </a:solidFill>
                <a:latin typeface="Tahoma"/>
                <a:cs typeface="Tahoma"/>
              </a:rPr>
              <a:t>BENEFITS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90550" y="3882789"/>
            <a:ext cx="3514725" cy="1394460"/>
            <a:chOff x="590550" y="3882789"/>
            <a:chExt cx="3514725" cy="1394460"/>
          </a:xfrm>
        </p:grpSpPr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0550" y="3882789"/>
              <a:ext cx="3514725" cy="1394060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628650" y="3895725"/>
              <a:ext cx="3448050" cy="1323975"/>
            </a:xfrm>
            <a:custGeom>
              <a:avLst/>
              <a:gdLst/>
              <a:ahLst/>
              <a:cxnLst/>
              <a:rect l="l" t="t" r="r" b="b"/>
              <a:pathLst>
                <a:path w="3448050" h="1323975">
                  <a:moveTo>
                    <a:pt x="3229229" y="0"/>
                  </a:moveTo>
                  <a:lnTo>
                    <a:pt x="218211" y="0"/>
                  </a:lnTo>
                  <a:lnTo>
                    <a:pt x="174231" y="4444"/>
                  </a:lnTo>
                  <a:lnTo>
                    <a:pt x="133273" y="17272"/>
                  </a:lnTo>
                  <a:lnTo>
                    <a:pt x="96202" y="37592"/>
                  </a:lnTo>
                  <a:lnTo>
                    <a:pt x="63906" y="64516"/>
                  </a:lnTo>
                  <a:lnTo>
                    <a:pt x="37261" y="97281"/>
                  </a:lnTo>
                  <a:lnTo>
                    <a:pt x="17145" y="134747"/>
                  </a:lnTo>
                  <a:lnTo>
                    <a:pt x="4432" y="176149"/>
                  </a:lnTo>
                  <a:lnTo>
                    <a:pt x="0" y="220599"/>
                  </a:lnTo>
                  <a:lnTo>
                    <a:pt x="0" y="1103249"/>
                  </a:lnTo>
                  <a:lnTo>
                    <a:pt x="4432" y="1147699"/>
                  </a:lnTo>
                  <a:lnTo>
                    <a:pt x="17145" y="1189227"/>
                  </a:lnTo>
                  <a:lnTo>
                    <a:pt x="37261" y="1226693"/>
                  </a:lnTo>
                  <a:lnTo>
                    <a:pt x="63906" y="1259332"/>
                  </a:lnTo>
                  <a:lnTo>
                    <a:pt x="96202" y="1286256"/>
                  </a:lnTo>
                  <a:lnTo>
                    <a:pt x="133273" y="1306576"/>
                  </a:lnTo>
                  <a:lnTo>
                    <a:pt x="174231" y="1319530"/>
                  </a:lnTo>
                  <a:lnTo>
                    <a:pt x="218211" y="1323975"/>
                  </a:lnTo>
                  <a:lnTo>
                    <a:pt x="3229229" y="1323975"/>
                  </a:lnTo>
                  <a:lnTo>
                    <a:pt x="3273171" y="1319530"/>
                  </a:lnTo>
                  <a:lnTo>
                    <a:pt x="3314191" y="1306576"/>
                  </a:lnTo>
                  <a:lnTo>
                    <a:pt x="3351276" y="1286256"/>
                  </a:lnTo>
                  <a:lnTo>
                    <a:pt x="3383534" y="1259332"/>
                  </a:lnTo>
                  <a:lnTo>
                    <a:pt x="3410204" y="1226693"/>
                  </a:lnTo>
                  <a:lnTo>
                    <a:pt x="3430397" y="1189227"/>
                  </a:lnTo>
                  <a:lnTo>
                    <a:pt x="3443097" y="1147699"/>
                  </a:lnTo>
                  <a:lnTo>
                    <a:pt x="3447541" y="1103249"/>
                  </a:lnTo>
                  <a:lnTo>
                    <a:pt x="3447541" y="220599"/>
                  </a:lnTo>
                  <a:lnTo>
                    <a:pt x="3443097" y="176149"/>
                  </a:lnTo>
                  <a:lnTo>
                    <a:pt x="3430397" y="134747"/>
                  </a:lnTo>
                  <a:lnTo>
                    <a:pt x="3410204" y="97281"/>
                  </a:lnTo>
                  <a:lnTo>
                    <a:pt x="3383534" y="64516"/>
                  </a:lnTo>
                  <a:lnTo>
                    <a:pt x="3351276" y="37592"/>
                  </a:lnTo>
                  <a:lnTo>
                    <a:pt x="3314191" y="17272"/>
                  </a:lnTo>
                  <a:lnTo>
                    <a:pt x="3273171" y="4444"/>
                  </a:lnTo>
                  <a:lnTo>
                    <a:pt x="32292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33412" y="3900551"/>
              <a:ext cx="3448050" cy="1323975"/>
            </a:xfrm>
            <a:custGeom>
              <a:avLst/>
              <a:gdLst/>
              <a:ahLst/>
              <a:cxnLst/>
              <a:rect l="l" t="t" r="r" b="b"/>
              <a:pathLst>
                <a:path w="3448050" h="1323975">
                  <a:moveTo>
                    <a:pt x="0" y="220599"/>
                  </a:moveTo>
                  <a:lnTo>
                    <a:pt x="4432" y="176022"/>
                  </a:lnTo>
                  <a:lnTo>
                    <a:pt x="17145" y="134619"/>
                  </a:lnTo>
                  <a:lnTo>
                    <a:pt x="37261" y="97155"/>
                  </a:lnTo>
                  <a:lnTo>
                    <a:pt x="63906" y="64516"/>
                  </a:lnTo>
                  <a:lnTo>
                    <a:pt x="96202" y="37592"/>
                  </a:lnTo>
                  <a:lnTo>
                    <a:pt x="133273" y="17272"/>
                  </a:lnTo>
                  <a:lnTo>
                    <a:pt x="174231" y="4444"/>
                  </a:lnTo>
                  <a:lnTo>
                    <a:pt x="218211" y="0"/>
                  </a:lnTo>
                  <a:lnTo>
                    <a:pt x="3229165" y="0"/>
                  </a:lnTo>
                  <a:lnTo>
                    <a:pt x="3273234" y="4444"/>
                  </a:lnTo>
                  <a:lnTo>
                    <a:pt x="3314128" y="17272"/>
                  </a:lnTo>
                  <a:lnTo>
                    <a:pt x="3351212" y="37592"/>
                  </a:lnTo>
                  <a:lnTo>
                    <a:pt x="3383597" y="64516"/>
                  </a:lnTo>
                  <a:lnTo>
                    <a:pt x="3410267" y="97155"/>
                  </a:lnTo>
                  <a:lnTo>
                    <a:pt x="3430333" y="134619"/>
                  </a:lnTo>
                  <a:lnTo>
                    <a:pt x="3443033" y="176022"/>
                  </a:lnTo>
                  <a:lnTo>
                    <a:pt x="3447478" y="220599"/>
                  </a:lnTo>
                  <a:lnTo>
                    <a:pt x="3447478" y="1103249"/>
                  </a:lnTo>
                  <a:lnTo>
                    <a:pt x="3443033" y="1147699"/>
                  </a:lnTo>
                  <a:lnTo>
                    <a:pt x="3430333" y="1189101"/>
                  </a:lnTo>
                  <a:lnTo>
                    <a:pt x="3410267" y="1226566"/>
                  </a:lnTo>
                  <a:lnTo>
                    <a:pt x="3383597" y="1259332"/>
                  </a:lnTo>
                  <a:lnTo>
                    <a:pt x="3351212" y="1286256"/>
                  </a:lnTo>
                  <a:lnTo>
                    <a:pt x="3314128" y="1306576"/>
                  </a:lnTo>
                  <a:lnTo>
                    <a:pt x="3273234" y="1319403"/>
                  </a:lnTo>
                  <a:lnTo>
                    <a:pt x="3229165" y="1323975"/>
                  </a:lnTo>
                  <a:lnTo>
                    <a:pt x="218211" y="1323975"/>
                  </a:lnTo>
                  <a:lnTo>
                    <a:pt x="174231" y="1319403"/>
                  </a:lnTo>
                  <a:lnTo>
                    <a:pt x="133273" y="1306576"/>
                  </a:lnTo>
                  <a:lnTo>
                    <a:pt x="96202" y="1286256"/>
                  </a:lnTo>
                  <a:lnTo>
                    <a:pt x="63906" y="1259332"/>
                  </a:lnTo>
                  <a:lnTo>
                    <a:pt x="37261" y="1226566"/>
                  </a:lnTo>
                  <a:lnTo>
                    <a:pt x="17145" y="1189101"/>
                  </a:lnTo>
                  <a:lnTo>
                    <a:pt x="4432" y="1147699"/>
                  </a:lnTo>
                  <a:lnTo>
                    <a:pt x="0" y="1103249"/>
                  </a:lnTo>
                  <a:lnTo>
                    <a:pt x="0" y="220599"/>
                  </a:lnTo>
                  <a:close/>
                </a:path>
              </a:pathLst>
            </a:custGeom>
            <a:ln w="12700">
              <a:solidFill>
                <a:srgbClr val="C8DC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4375" y="4019550"/>
              <a:ext cx="523875" cy="51435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771525" y="4057650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4787" y="0"/>
                  </a:moveTo>
                  <a:lnTo>
                    <a:pt x="157822" y="5461"/>
                  </a:lnTo>
                  <a:lnTo>
                    <a:pt x="114719" y="20827"/>
                  </a:lnTo>
                  <a:lnTo>
                    <a:pt x="76695" y="44957"/>
                  </a:lnTo>
                  <a:lnTo>
                    <a:pt x="44983" y="76581"/>
                  </a:lnTo>
                  <a:lnTo>
                    <a:pt x="20815" y="114681"/>
                  </a:lnTo>
                  <a:lnTo>
                    <a:pt x="5410" y="157733"/>
                  </a:lnTo>
                  <a:lnTo>
                    <a:pt x="0" y="204724"/>
                  </a:lnTo>
                  <a:lnTo>
                    <a:pt x="5410" y="251713"/>
                  </a:lnTo>
                  <a:lnTo>
                    <a:pt x="20815" y="294767"/>
                  </a:lnTo>
                  <a:lnTo>
                    <a:pt x="44983" y="332867"/>
                  </a:lnTo>
                  <a:lnTo>
                    <a:pt x="76695" y="364617"/>
                  </a:lnTo>
                  <a:lnTo>
                    <a:pt x="114719" y="388747"/>
                  </a:lnTo>
                  <a:lnTo>
                    <a:pt x="157822" y="404113"/>
                  </a:lnTo>
                  <a:lnTo>
                    <a:pt x="204787" y="409575"/>
                  </a:lnTo>
                  <a:lnTo>
                    <a:pt x="251739" y="404113"/>
                  </a:lnTo>
                  <a:lnTo>
                    <a:pt x="294855" y="388747"/>
                  </a:lnTo>
                  <a:lnTo>
                    <a:pt x="332866" y="364617"/>
                  </a:lnTo>
                  <a:lnTo>
                    <a:pt x="364591" y="332867"/>
                  </a:lnTo>
                  <a:lnTo>
                    <a:pt x="388759" y="294767"/>
                  </a:lnTo>
                  <a:lnTo>
                    <a:pt x="404164" y="251713"/>
                  </a:lnTo>
                  <a:lnTo>
                    <a:pt x="409575" y="204724"/>
                  </a:lnTo>
                  <a:lnTo>
                    <a:pt x="404164" y="157733"/>
                  </a:lnTo>
                  <a:lnTo>
                    <a:pt x="388759" y="114681"/>
                  </a:lnTo>
                  <a:lnTo>
                    <a:pt x="364591" y="76581"/>
                  </a:lnTo>
                  <a:lnTo>
                    <a:pt x="332866" y="44957"/>
                  </a:lnTo>
                  <a:lnTo>
                    <a:pt x="294855" y="20827"/>
                  </a:lnTo>
                  <a:lnTo>
                    <a:pt x="251739" y="5461"/>
                  </a:lnTo>
                  <a:lnTo>
                    <a:pt x="204787" y="0"/>
                  </a:lnTo>
                  <a:close/>
                </a:path>
              </a:pathLst>
            </a:custGeom>
            <a:solidFill>
              <a:srgbClr val="0E36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76287" y="4062476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0" y="204724"/>
                  </a:moveTo>
                  <a:lnTo>
                    <a:pt x="5410" y="157734"/>
                  </a:lnTo>
                  <a:lnTo>
                    <a:pt x="20815" y="114554"/>
                  </a:lnTo>
                  <a:lnTo>
                    <a:pt x="44983" y="76581"/>
                  </a:lnTo>
                  <a:lnTo>
                    <a:pt x="76695" y="44831"/>
                  </a:lnTo>
                  <a:lnTo>
                    <a:pt x="114719" y="20700"/>
                  </a:lnTo>
                  <a:lnTo>
                    <a:pt x="157835" y="5334"/>
                  </a:lnTo>
                  <a:lnTo>
                    <a:pt x="204787" y="0"/>
                  </a:lnTo>
                  <a:lnTo>
                    <a:pt x="251739" y="5334"/>
                  </a:lnTo>
                  <a:lnTo>
                    <a:pt x="294855" y="20700"/>
                  </a:lnTo>
                  <a:lnTo>
                    <a:pt x="332879" y="44831"/>
                  </a:lnTo>
                  <a:lnTo>
                    <a:pt x="364591" y="76581"/>
                  </a:lnTo>
                  <a:lnTo>
                    <a:pt x="388759" y="114554"/>
                  </a:lnTo>
                  <a:lnTo>
                    <a:pt x="404164" y="157734"/>
                  </a:lnTo>
                  <a:lnTo>
                    <a:pt x="409575" y="204724"/>
                  </a:lnTo>
                  <a:lnTo>
                    <a:pt x="404164" y="251587"/>
                  </a:lnTo>
                  <a:lnTo>
                    <a:pt x="388759" y="294767"/>
                  </a:lnTo>
                  <a:lnTo>
                    <a:pt x="364591" y="332740"/>
                  </a:lnTo>
                  <a:lnTo>
                    <a:pt x="332879" y="364490"/>
                  </a:lnTo>
                  <a:lnTo>
                    <a:pt x="294855" y="388747"/>
                  </a:lnTo>
                  <a:lnTo>
                    <a:pt x="251739" y="404113"/>
                  </a:lnTo>
                  <a:lnTo>
                    <a:pt x="204787" y="409575"/>
                  </a:lnTo>
                  <a:lnTo>
                    <a:pt x="157835" y="404113"/>
                  </a:lnTo>
                  <a:lnTo>
                    <a:pt x="114719" y="388747"/>
                  </a:lnTo>
                  <a:lnTo>
                    <a:pt x="76695" y="364490"/>
                  </a:lnTo>
                  <a:lnTo>
                    <a:pt x="44983" y="332740"/>
                  </a:lnTo>
                  <a:lnTo>
                    <a:pt x="20815" y="294767"/>
                  </a:lnTo>
                  <a:lnTo>
                    <a:pt x="5410" y="251587"/>
                  </a:lnTo>
                  <a:lnTo>
                    <a:pt x="0" y="204724"/>
                  </a:lnTo>
                  <a:close/>
                </a:path>
              </a:pathLst>
            </a:custGeom>
            <a:ln w="6350">
              <a:solidFill>
                <a:srgbClr val="0E36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917892" y="4122737"/>
            <a:ext cx="106807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40360" algn="l"/>
              </a:tabLst>
            </a:pPr>
            <a:r>
              <a:rPr sz="1650" b="1" spc="-75" baseline="2525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1650" b="1" baseline="2525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1550" b="1" spc="-45">
                <a:solidFill>
                  <a:srgbClr val="0E364F"/>
                </a:solidFill>
                <a:latin typeface="Tahoma"/>
                <a:cs typeface="Tahoma"/>
              </a:rPr>
              <a:t>SOCIAL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29284" y="4606925"/>
            <a:ext cx="3454400" cy="38989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44450" marR="5080" indent="-31750">
              <a:lnSpc>
                <a:spcPts val="1430"/>
              </a:lnSpc>
              <a:spcBef>
                <a:spcPts val="155"/>
              </a:spcBef>
            </a:pPr>
            <a:r>
              <a:rPr sz="1200" spc="-10">
                <a:solidFill>
                  <a:srgbClr val="17202A"/>
                </a:solidFill>
                <a:latin typeface="Tahoma"/>
                <a:cs typeface="Tahoma"/>
              </a:rPr>
              <a:t>Builds</a:t>
            </a:r>
            <a:r>
              <a:rPr sz="1200" spc="-8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50">
                <a:solidFill>
                  <a:srgbClr val="17202A"/>
                </a:solidFill>
                <a:latin typeface="Tahoma"/>
                <a:cs typeface="Tahoma"/>
              </a:rPr>
              <a:t>everyday</a:t>
            </a:r>
            <a:r>
              <a:rPr sz="1200" spc="-12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30">
                <a:solidFill>
                  <a:srgbClr val="17202A"/>
                </a:solidFill>
                <a:latin typeface="Tahoma"/>
                <a:cs typeface="Tahoma"/>
              </a:rPr>
              <a:t>weather</a:t>
            </a:r>
            <a:r>
              <a:rPr sz="1200" spc="-6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17202A"/>
                </a:solidFill>
                <a:latin typeface="Tahoma"/>
                <a:cs typeface="Tahoma"/>
              </a:rPr>
              <a:t>literacy</a:t>
            </a:r>
            <a:r>
              <a:rPr sz="1200" spc="-3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20">
                <a:solidFill>
                  <a:srgbClr val="17202A"/>
                </a:solidFill>
                <a:latin typeface="Tahoma"/>
                <a:cs typeface="Tahoma"/>
              </a:rPr>
              <a:t>and</a:t>
            </a:r>
            <a:r>
              <a:rPr sz="1200" spc="-7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17202A"/>
                </a:solidFill>
                <a:latin typeface="Tahoma"/>
                <a:cs typeface="Tahoma"/>
              </a:rPr>
              <a:t>makes</a:t>
            </a:r>
            <a:r>
              <a:rPr sz="1200" spc="-8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17202A"/>
                </a:solidFill>
                <a:latin typeface="Tahoma"/>
                <a:cs typeface="Tahoma"/>
              </a:rPr>
              <a:t>useful </a:t>
            </a:r>
            <a:r>
              <a:rPr sz="1200" spc="-30">
                <a:solidFill>
                  <a:srgbClr val="17202A"/>
                </a:solidFill>
                <a:latin typeface="Tahoma"/>
                <a:cs typeface="Tahoma"/>
              </a:rPr>
              <a:t>information</a:t>
            </a:r>
            <a:r>
              <a:rPr sz="1200" spc="-6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17202A"/>
                </a:solidFill>
                <a:latin typeface="Tahoma"/>
                <a:cs typeface="Tahoma"/>
              </a:rPr>
              <a:t>accessible</a:t>
            </a:r>
            <a:r>
              <a:rPr sz="1200" spc="-5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17202A"/>
                </a:solidFill>
                <a:latin typeface="Tahoma"/>
                <a:cs typeface="Tahoma"/>
              </a:rPr>
              <a:t>in</a:t>
            </a:r>
            <a:r>
              <a:rPr sz="1200" spc="-1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17202A"/>
                </a:solidFill>
                <a:latin typeface="Tahoma"/>
                <a:cs typeface="Tahoma"/>
              </a:rPr>
              <a:t>local</a:t>
            </a:r>
            <a:r>
              <a:rPr sz="1200" spc="-1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25">
                <a:solidFill>
                  <a:srgbClr val="17202A"/>
                </a:solidFill>
                <a:latin typeface="Tahoma"/>
                <a:cs typeface="Tahoma"/>
              </a:rPr>
              <a:t>languages</a:t>
            </a:r>
            <a:r>
              <a:rPr sz="1200" spc="-6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17202A"/>
                </a:solidFill>
                <a:latin typeface="Tahoma"/>
                <a:cs typeface="Tahoma"/>
              </a:rPr>
              <a:t>and </a:t>
            </a:r>
            <a:r>
              <a:rPr sz="1200" spc="-10">
                <a:solidFill>
                  <a:srgbClr val="17202A"/>
                </a:solidFill>
                <a:latin typeface="Tahoma"/>
                <a:cs typeface="Tahoma"/>
              </a:rPr>
              <a:t>voice.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4371975" y="3882789"/>
            <a:ext cx="3562350" cy="1394460"/>
            <a:chOff x="4371975" y="3882789"/>
            <a:chExt cx="3562350" cy="1394460"/>
          </a:xfrm>
        </p:grpSpPr>
        <p:pic>
          <p:nvPicPr>
            <p:cNvPr id="55" name="object 5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371975" y="3882789"/>
              <a:ext cx="3562350" cy="139406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4410075" y="3895725"/>
              <a:ext cx="3495675" cy="1323975"/>
            </a:xfrm>
            <a:custGeom>
              <a:avLst/>
              <a:gdLst/>
              <a:ahLst/>
              <a:cxnLst/>
              <a:rect l="l" t="t" r="r" b="b"/>
              <a:pathLst>
                <a:path w="3495675" h="1323975">
                  <a:moveTo>
                    <a:pt x="3274949" y="0"/>
                  </a:moveTo>
                  <a:lnTo>
                    <a:pt x="220599" y="0"/>
                  </a:lnTo>
                  <a:lnTo>
                    <a:pt x="176149" y="4444"/>
                  </a:lnTo>
                  <a:lnTo>
                    <a:pt x="134747" y="17272"/>
                  </a:lnTo>
                  <a:lnTo>
                    <a:pt x="97282" y="37592"/>
                  </a:lnTo>
                  <a:lnTo>
                    <a:pt x="64515" y="64516"/>
                  </a:lnTo>
                  <a:lnTo>
                    <a:pt x="37591" y="97281"/>
                  </a:lnTo>
                  <a:lnTo>
                    <a:pt x="17272" y="134747"/>
                  </a:lnTo>
                  <a:lnTo>
                    <a:pt x="4445" y="176149"/>
                  </a:lnTo>
                  <a:lnTo>
                    <a:pt x="0" y="220599"/>
                  </a:lnTo>
                  <a:lnTo>
                    <a:pt x="0" y="1103249"/>
                  </a:lnTo>
                  <a:lnTo>
                    <a:pt x="4445" y="1147699"/>
                  </a:lnTo>
                  <a:lnTo>
                    <a:pt x="17272" y="1189227"/>
                  </a:lnTo>
                  <a:lnTo>
                    <a:pt x="37591" y="1226693"/>
                  </a:lnTo>
                  <a:lnTo>
                    <a:pt x="64515" y="1259332"/>
                  </a:lnTo>
                  <a:lnTo>
                    <a:pt x="97282" y="1286256"/>
                  </a:lnTo>
                  <a:lnTo>
                    <a:pt x="134747" y="1306576"/>
                  </a:lnTo>
                  <a:lnTo>
                    <a:pt x="176149" y="1319530"/>
                  </a:lnTo>
                  <a:lnTo>
                    <a:pt x="220599" y="1323975"/>
                  </a:lnTo>
                  <a:lnTo>
                    <a:pt x="3274949" y="1323975"/>
                  </a:lnTo>
                  <a:lnTo>
                    <a:pt x="3319399" y="1319530"/>
                  </a:lnTo>
                  <a:lnTo>
                    <a:pt x="3360928" y="1306576"/>
                  </a:lnTo>
                  <a:lnTo>
                    <a:pt x="3398393" y="1286256"/>
                  </a:lnTo>
                  <a:lnTo>
                    <a:pt x="3431031" y="1259332"/>
                  </a:lnTo>
                  <a:lnTo>
                    <a:pt x="3457955" y="1226693"/>
                  </a:lnTo>
                  <a:lnTo>
                    <a:pt x="3478276" y="1189227"/>
                  </a:lnTo>
                  <a:lnTo>
                    <a:pt x="3491229" y="1147699"/>
                  </a:lnTo>
                  <a:lnTo>
                    <a:pt x="3495675" y="1103249"/>
                  </a:lnTo>
                  <a:lnTo>
                    <a:pt x="3495675" y="220599"/>
                  </a:lnTo>
                  <a:lnTo>
                    <a:pt x="3491229" y="176149"/>
                  </a:lnTo>
                  <a:lnTo>
                    <a:pt x="3478276" y="134747"/>
                  </a:lnTo>
                  <a:lnTo>
                    <a:pt x="3457955" y="97281"/>
                  </a:lnTo>
                  <a:lnTo>
                    <a:pt x="3431031" y="64516"/>
                  </a:lnTo>
                  <a:lnTo>
                    <a:pt x="3398393" y="37592"/>
                  </a:lnTo>
                  <a:lnTo>
                    <a:pt x="3360928" y="17272"/>
                  </a:lnTo>
                  <a:lnTo>
                    <a:pt x="3319399" y="4444"/>
                  </a:lnTo>
                  <a:lnTo>
                    <a:pt x="32749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14901" y="3900551"/>
              <a:ext cx="3495675" cy="1323975"/>
            </a:xfrm>
            <a:custGeom>
              <a:avLst/>
              <a:gdLst/>
              <a:ahLst/>
              <a:cxnLst/>
              <a:rect l="l" t="t" r="r" b="b"/>
              <a:pathLst>
                <a:path w="3495675" h="1323975">
                  <a:moveTo>
                    <a:pt x="0" y="220599"/>
                  </a:moveTo>
                  <a:lnTo>
                    <a:pt x="4445" y="176022"/>
                  </a:lnTo>
                  <a:lnTo>
                    <a:pt x="17272" y="134619"/>
                  </a:lnTo>
                  <a:lnTo>
                    <a:pt x="37591" y="97155"/>
                  </a:lnTo>
                  <a:lnTo>
                    <a:pt x="64515" y="64516"/>
                  </a:lnTo>
                  <a:lnTo>
                    <a:pt x="97154" y="37592"/>
                  </a:lnTo>
                  <a:lnTo>
                    <a:pt x="134620" y="17272"/>
                  </a:lnTo>
                  <a:lnTo>
                    <a:pt x="176022" y="4444"/>
                  </a:lnTo>
                  <a:lnTo>
                    <a:pt x="220599" y="0"/>
                  </a:lnTo>
                  <a:lnTo>
                    <a:pt x="3274949" y="0"/>
                  </a:lnTo>
                  <a:lnTo>
                    <a:pt x="3319399" y="4444"/>
                  </a:lnTo>
                  <a:lnTo>
                    <a:pt x="3360801" y="17272"/>
                  </a:lnTo>
                  <a:lnTo>
                    <a:pt x="3398266" y="37592"/>
                  </a:lnTo>
                  <a:lnTo>
                    <a:pt x="3430904" y="64516"/>
                  </a:lnTo>
                  <a:lnTo>
                    <a:pt x="3457955" y="97155"/>
                  </a:lnTo>
                  <a:lnTo>
                    <a:pt x="3478276" y="134619"/>
                  </a:lnTo>
                  <a:lnTo>
                    <a:pt x="3491103" y="176022"/>
                  </a:lnTo>
                  <a:lnTo>
                    <a:pt x="3495675" y="220599"/>
                  </a:lnTo>
                  <a:lnTo>
                    <a:pt x="3495675" y="1103249"/>
                  </a:lnTo>
                  <a:lnTo>
                    <a:pt x="3491103" y="1147699"/>
                  </a:lnTo>
                  <a:lnTo>
                    <a:pt x="3478276" y="1189101"/>
                  </a:lnTo>
                  <a:lnTo>
                    <a:pt x="3457955" y="1226566"/>
                  </a:lnTo>
                  <a:lnTo>
                    <a:pt x="3430904" y="1259332"/>
                  </a:lnTo>
                  <a:lnTo>
                    <a:pt x="3398266" y="1286256"/>
                  </a:lnTo>
                  <a:lnTo>
                    <a:pt x="3360801" y="1306576"/>
                  </a:lnTo>
                  <a:lnTo>
                    <a:pt x="3319399" y="1319403"/>
                  </a:lnTo>
                  <a:lnTo>
                    <a:pt x="3274949" y="1323975"/>
                  </a:lnTo>
                  <a:lnTo>
                    <a:pt x="220599" y="1323975"/>
                  </a:lnTo>
                  <a:lnTo>
                    <a:pt x="176022" y="1319403"/>
                  </a:lnTo>
                  <a:lnTo>
                    <a:pt x="134620" y="1306576"/>
                  </a:lnTo>
                  <a:lnTo>
                    <a:pt x="97154" y="1286256"/>
                  </a:lnTo>
                  <a:lnTo>
                    <a:pt x="64515" y="1259332"/>
                  </a:lnTo>
                  <a:lnTo>
                    <a:pt x="37591" y="1226566"/>
                  </a:lnTo>
                  <a:lnTo>
                    <a:pt x="17272" y="1189101"/>
                  </a:lnTo>
                  <a:lnTo>
                    <a:pt x="4445" y="1147699"/>
                  </a:lnTo>
                  <a:lnTo>
                    <a:pt x="0" y="1103249"/>
                  </a:lnTo>
                  <a:lnTo>
                    <a:pt x="0" y="220599"/>
                  </a:lnTo>
                  <a:close/>
                </a:path>
              </a:pathLst>
            </a:custGeom>
            <a:ln w="12700">
              <a:solidFill>
                <a:srgbClr val="C8DC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81525" y="4019550"/>
              <a:ext cx="523875" cy="514350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4648200" y="4057650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4724" y="0"/>
                  </a:moveTo>
                  <a:lnTo>
                    <a:pt x="157734" y="5461"/>
                  </a:lnTo>
                  <a:lnTo>
                    <a:pt x="114680" y="20827"/>
                  </a:lnTo>
                  <a:lnTo>
                    <a:pt x="76580" y="44957"/>
                  </a:lnTo>
                  <a:lnTo>
                    <a:pt x="44958" y="76581"/>
                  </a:lnTo>
                  <a:lnTo>
                    <a:pt x="20827" y="114681"/>
                  </a:lnTo>
                  <a:lnTo>
                    <a:pt x="5461" y="157733"/>
                  </a:lnTo>
                  <a:lnTo>
                    <a:pt x="0" y="204724"/>
                  </a:lnTo>
                  <a:lnTo>
                    <a:pt x="5461" y="251713"/>
                  </a:lnTo>
                  <a:lnTo>
                    <a:pt x="20827" y="294767"/>
                  </a:lnTo>
                  <a:lnTo>
                    <a:pt x="44958" y="332867"/>
                  </a:lnTo>
                  <a:lnTo>
                    <a:pt x="76580" y="364617"/>
                  </a:lnTo>
                  <a:lnTo>
                    <a:pt x="114680" y="388747"/>
                  </a:lnTo>
                  <a:lnTo>
                    <a:pt x="157734" y="404113"/>
                  </a:lnTo>
                  <a:lnTo>
                    <a:pt x="204724" y="409575"/>
                  </a:lnTo>
                  <a:lnTo>
                    <a:pt x="251713" y="404113"/>
                  </a:lnTo>
                  <a:lnTo>
                    <a:pt x="294766" y="388747"/>
                  </a:lnTo>
                  <a:lnTo>
                    <a:pt x="332866" y="364617"/>
                  </a:lnTo>
                  <a:lnTo>
                    <a:pt x="364616" y="332867"/>
                  </a:lnTo>
                  <a:lnTo>
                    <a:pt x="388747" y="294767"/>
                  </a:lnTo>
                  <a:lnTo>
                    <a:pt x="404113" y="251713"/>
                  </a:lnTo>
                  <a:lnTo>
                    <a:pt x="409575" y="204724"/>
                  </a:lnTo>
                  <a:lnTo>
                    <a:pt x="404113" y="157733"/>
                  </a:lnTo>
                  <a:lnTo>
                    <a:pt x="388747" y="114681"/>
                  </a:lnTo>
                  <a:lnTo>
                    <a:pt x="364616" y="76581"/>
                  </a:lnTo>
                  <a:lnTo>
                    <a:pt x="332866" y="44957"/>
                  </a:lnTo>
                  <a:lnTo>
                    <a:pt x="294766" y="20827"/>
                  </a:lnTo>
                  <a:lnTo>
                    <a:pt x="251713" y="5461"/>
                  </a:lnTo>
                  <a:lnTo>
                    <a:pt x="204724" y="0"/>
                  </a:lnTo>
                  <a:close/>
                </a:path>
              </a:pathLst>
            </a:custGeom>
            <a:solidFill>
              <a:srgbClr val="0E36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653025" y="4062476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0" y="204724"/>
                  </a:moveTo>
                  <a:lnTo>
                    <a:pt x="5334" y="157734"/>
                  </a:lnTo>
                  <a:lnTo>
                    <a:pt x="20700" y="114554"/>
                  </a:lnTo>
                  <a:lnTo>
                    <a:pt x="44831" y="76581"/>
                  </a:lnTo>
                  <a:lnTo>
                    <a:pt x="76581" y="44831"/>
                  </a:lnTo>
                  <a:lnTo>
                    <a:pt x="114553" y="20700"/>
                  </a:lnTo>
                  <a:lnTo>
                    <a:pt x="157734" y="5334"/>
                  </a:lnTo>
                  <a:lnTo>
                    <a:pt x="204724" y="0"/>
                  </a:lnTo>
                  <a:lnTo>
                    <a:pt x="251587" y="5334"/>
                  </a:lnTo>
                  <a:lnTo>
                    <a:pt x="294766" y="20700"/>
                  </a:lnTo>
                  <a:lnTo>
                    <a:pt x="332739" y="44831"/>
                  </a:lnTo>
                  <a:lnTo>
                    <a:pt x="364489" y="76581"/>
                  </a:lnTo>
                  <a:lnTo>
                    <a:pt x="388747" y="114554"/>
                  </a:lnTo>
                  <a:lnTo>
                    <a:pt x="404113" y="157734"/>
                  </a:lnTo>
                  <a:lnTo>
                    <a:pt x="409575" y="204724"/>
                  </a:lnTo>
                  <a:lnTo>
                    <a:pt x="404113" y="251587"/>
                  </a:lnTo>
                  <a:lnTo>
                    <a:pt x="388747" y="294767"/>
                  </a:lnTo>
                  <a:lnTo>
                    <a:pt x="364489" y="332740"/>
                  </a:lnTo>
                  <a:lnTo>
                    <a:pt x="332739" y="364490"/>
                  </a:lnTo>
                  <a:lnTo>
                    <a:pt x="294766" y="388747"/>
                  </a:lnTo>
                  <a:lnTo>
                    <a:pt x="251587" y="404113"/>
                  </a:lnTo>
                  <a:lnTo>
                    <a:pt x="204724" y="409575"/>
                  </a:lnTo>
                  <a:lnTo>
                    <a:pt x="157734" y="404113"/>
                  </a:lnTo>
                  <a:lnTo>
                    <a:pt x="114553" y="388747"/>
                  </a:lnTo>
                  <a:lnTo>
                    <a:pt x="76581" y="364490"/>
                  </a:lnTo>
                  <a:lnTo>
                    <a:pt x="44831" y="332740"/>
                  </a:lnTo>
                  <a:lnTo>
                    <a:pt x="20700" y="294767"/>
                  </a:lnTo>
                  <a:lnTo>
                    <a:pt x="5334" y="251587"/>
                  </a:lnTo>
                  <a:lnTo>
                    <a:pt x="0" y="204724"/>
                  </a:lnTo>
                  <a:close/>
                </a:path>
              </a:pathLst>
            </a:custGeom>
            <a:ln w="6350">
              <a:solidFill>
                <a:srgbClr val="0E36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4800600" y="4176077"/>
            <a:ext cx="113664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-5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125720" y="4143692"/>
            <a:ext cx="110426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30">
                <a:solidFill>
                  <a:srgbClr val="0E364F"/>
                </a:solidFill>
                <a:latin typeface="Tahoma"/>
                <a:cs typeface="Tahoma"/>
              </a:rPr>
              <a:t>ECONOMIC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582540" y="4585970"/>
            <a:ext cx="2467610" cy="57086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spc="-20">
                <a:solidFill>
                  <a:srgbClr val="17202A"/>
                </a:solidFill>
                <a:latin typeface="Tahoma"/>
                <a:cs typeface="Tahoma"/>
              </a:rPr>
              <a:t>Better</a:t>
            </a:r>
            <a:r>
              <a:rPr sz="1200" spc="-2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35">
                <a:solidFill>
                  <a:srgbClr val="17202A"/>
                </a:solidFill>
                <a:latin typeface="Tahoma"/>
                <a:cs typeface="Tahoma"/>
              </a:rPr>
              <a:t>weather</a:t>
            </a:r>
            <a:r>
              <a:rPr sz="1200" spc="-4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17202A"/>
                </a:solidFill>
                <a:latin typeface="Tahoma"/>
                <a:cs typeface="Tahoma"/>
              </a:rPr>
              <a:t>decisions</a:t>
            </a:r>
            <a:r>
              <a:rPr sz="1200" spc="-4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17202A"/>
                </a:solidFill>
                <a:latin typeface="Tahoma"/>
                <a:cs typeface="Tahoma"/>
              </a:rPr>
              <a:t>can</a:t>
            </a:r>
            <a:r>
              <a:rPr sz="1200" spc="-6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17202A"/>
                </a:solidFill>
                <a:latin typeface="Tahoma"/>
                <a:cs typeface="Tahoma"/>
              </a:rPr>
              <a:t>reduce disruption</a:t>
            </a:r>
            <a:r>
              <a:rPr sz="1200" spc="-2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17202A"/>
                </a:solidFill>
                <a:latin typeface="Tahoma"/>
                <a:cs typeface="Tahoma"/>
              </a:rPr>
              <a:t>in</a:t>
            </a:r>
            <a:r>
              <a:rPr sz="1200" spc="-5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35">
                <a:solidFill>
                  <a:srgbClr val="17202A"/>
                </a:solidFill>
                <a:latin typeface="Tahoma"/>
                <a:cs typeface="Tahoma"/>
              </a:rPr>
              <a:t>agriculture,</a:t>
            </a:r>
            <a:r>
              <a:rPr sz="1200" spc="-6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17202A"/>
                </a:solidFill>
                <a:latin typeface="Tahoma"/>
                <a:cs typeface="Tahoma"/>
              </a:rPr>
              <a:t>logistics</a:t>
            </a:r>
            <a:r>
              <a:rPr sz="120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25">
                <a:solidFill>
                  <a:srgbClr val="17202A"/>
                </a:solidFill>
                <a:latin typeface="Tahoma"/>
                <a:cs typeface="Tahoma"/>
              </a:rPr>
              <a:t>and </a:t>
            </a:r>
            <a:r>
              <a:rPr sz="1200" spc="-10">
                <a:solidFill>
                  <a:srgbClr val="17202A"/>
                </a:solidFill>
                <a:latin typeface="Tahoma"/>
                <a:cs typeface="Tahoma"/>
              </a:rPr>
              <a:t>travel.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8039100" y="3882789"/>
            <a:ext cx="3552825" cy="1394460"/>
            <a:chOff x="8039100" y="3882789"/>
            <a:chExt cx="3552825" cy="1394460"/>
          </a:xfrm>
        </p:grpSpPr>
        <p:pic>
          <p:nvPicPr>
            <p:cNvPr id="65" name="object 6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39100" y="3882789"/>
              <a:ext cx="3552825" cy="1394060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8077200" y="3895725"/>
              <a:ext cx="3486150" cy="1323975"/>
            </a:xfrm>
            <a:custGeom>
              <a:avLst/>
              <a:gdLst/>
              <a:ahLst/>
              <a:cxnLst/>
              <a:rect l="l" t="t" r="r" b="b"/>
              <a:pathLst>
                <a:path w="3486150" h="1323975">
                  <a:moveTo>
                    <a:pt x="3265424" y="0"/>
                  </a:moveTo>
                  <a:lnTo>
                    <a:pt x="220599" y="0"/>
                  </a:lnTo>
                  <a:lnTo>
                    <a:pt x="176149" y="4444"/>
                  </a:lnTo>
                  <a:lnTo>
                    <a:pt x="134747" y="17272"/>
                  </a:lnTo>
                  <a:lnTo>
                    <a:pt x="97281" y="37592"/>
                  </a:lnTo>
                  <a:lnTo>
                    <a:pt x="64516" y="64516"/>
                  </a:lnTo>
                  <a:lnTo>
                    <a:pt x="37592" y="97281"/>
                  </a:lnTo>
                  <a:lnTo>
                    <a:pt x="17272" y="134747"/>
                  </a:lnTo>
                  <a:lnTo>
                    <a:pt x="4445" y="176149"/>
                  </a:lnTo>
                  <a:lnTo>
                    <a:pt x="0" y="220599"/>
                  </a:lnTo>
                  <a:lnTo>
                    <a:pt x="0" y="1103249"/>
                  </a:lnTo>
                  <a:lnTo>
                    <a:pt x="4445" y="1147699"/>
                  </a:lnTo>
                  <a:lnTo>
                    <a:pt x="17272" y="1189227"/>
                  </a:lnTo>
                  <a:lnTo>
                    <a:pt x="37592" y="1226693"/>
                  </a:lnTo>
                  <a:lnTo>
                    <a:pt x="64516" y="1259332"/>
                  </a:lnTo>
                  <a:lnTo>
                    <a:pt x="97281" y="1286256"/>
                  </a:lnTo>
                  <a:lnTo>
                    <a:pt x="134747" y="1306576"/>
                  </a:lnTo>
                  <a:lnTo>
                    <a:pt x="176149" y="1319530"/>
                  </a:lnTo>
                  <a:lnTo>
                    <a:pt x="220599" y="1323975"/>
                  </a:lnTo>
                  <a:lnTo>
                    <a:pt x="3265424" y="1323975"/>
                  </a:lnTo>
                  <a:lnTo>
                    <a:pt x="3309874" y="1319530"/>
                  </a:lnTo>
                  <a:lnTo>
                    <a:pt x="3351403" y="1306576"/>
                  </a:lnTo>
                  <a:lnTo>
                    <a:pt x="3388868" y="1286256"/>
                  </a:lnTo>
                  <a:lnTo>
                    <a:pt x="3421506" y="1259332"/>
                  </a:lnTo>
                  <a:lnTo>
                    <a:pt x="3448430" y="1226693"/>
                  </a:lnTo>
                  <a:lnTo>
                    <a:pt x="3468751" y="1189227"/>
                  </a:lnTo>
                  <a:lnTo>
                    <a:pt x="3481704" y="1147699"/>
                  </a:lnTo>
                  <a:lnTo>
                    <a:pt x="3486150" y="1103249"/>
                  </a:lnTo>
                  <a:lnTo>
                    <a:pt x="3486150" y="220599"/>
                  </a:lnTo>
                  <a:lnTo>
                    <a:pt x="3481704" y="176149"/>
                  </a:lnTo>
                  <a:lnTo>
                    <a:pt x="3468751" y="134747"/>
                  </a:lnTo>
                  <a:lnTo>
                    <a:pt x="3448430" y="97281"/>
                  </a:lnTo>
                  <a:lnTo>
                    <a:pt x="3421506" y="64516"/>
                  </a:lnTo>
                  <a:lnTo>
                    <a:pt x="3388868" y="37592"/>
                  </a:lnTo>
                  <a:lnTo>
                    <a:pt x="3351403" y="17272"/>
                  </a:lnTo>
                  <a:lnTo>
                    <a:pt x="3309874" y="4444"/>
                  </a:lnTo>
                  <a:lnTo>
                    <a:pt x="32654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082026" y="3900551"/>
              <a:ext cx="3486150" cy="1323975"/>
            </a:xfrm>
            <a:custGeom>
              <a:avLst/>
              <a:gdLst/>
              <a:ahLst/>
              <a:cxnLst/>
              <a:rect l="l" t="t" r="r" b="b"/>
              <a:pathLst>
                <a:path w="3486150" h="1323975">
                  <a:moveTo>
                    <a:pt x="0" y="220599"/>
                  </a:moveTo>
                  <a:lnTo>
                    <a:pt x="4445" y="176022"/>
                  </a:lnTo>
                  <a:lnTo>
                    <a:pt x="17272" y="134619"/>
                  </a:lnTo>
                  <a:lnTo>
                    <a:pt x="37592" y="97155"/>
                  </a:lnTo>
                  <a:lnTo>
                    <a:pt x="64516" y="64516"/>
                  </a:lnTo>
                  <a:lnTo>
                    <a:pt x="97154" y="37592"/>
                  </a:lnTo>
                  <a:lnTo>
                    <a:pt x="134620" y="17272"/>
                  </a:lnTo>
                  <a:lnTo>
                    <a:pt x="176022" y="4444"/>
                  </a:lnTo>
                  <a:lnTo>
                    <a:pt x="220599" y="0"/>
                  </a:lnTo>
                  <a:lnTo>
                    <a:pt x="3265424" y="0"/>
                  </a:lnTo>
                  <a:lnTo>
                    <a:pt x="3309874" y="4444"/>
                  </a:lnTo>
                  <a:lnTo>
                    <a:pt x="3351276" y="17272"/>
                  </a:lnTo>
                  <a:lnTo>
                    <a:pt x="3388741" y="37592"/>
                  </a:lnTo>
                  <a:lnTo>
                    <a:pt x="3421379" y="64516"/>
                  </a:lnTo>
                  <a:lnTo>
                    <a:pt x="3448430" y="97155"/>
                  </a:lnTo>
                  <a:lnTo>
                    <a:pt x="3468751" y="134619"/>
                  </a:lnTo>
                  <a:lnTo>
                    <a:pt x="3481578" y="176022"/>
                  </a:lnTo>
                  <a:lnTo>
                    <a:pt x="3486150" y="220599"/>
                  </a:lnTo>
                  <a:lnTo>
                    <a:pt x="3486150" y="1103249"/>
                  </a:lnTo>
                  <a:lnTo>
                    <a:pt x="3481578" y="1147699"/>
                  </a:lnTo>
                  <a:lnTo>
                    <a:pt x="3468751" y="1189101"/>
                  </a:lnTo>
                  <a:lnTo>
                    <a:pt x="3448430" y="1226566"/>
                  </a:lnTo>
                  <a:lnTo>
                    <a:pt x="3421379" y="1259332"/>
                  </a:lnTo>
                  <a:lnTo>
                    <a:pt x="3388741" y="1286256"/>
                  </a:lnTo>
                  <a:lnTo>
                    <a:pt x="3351276" y="1306576"/>
                  </a:lnTo>
                  <a:lnTo>
                    <a:pt x="3309874" y="1319403"/>
                  </a:lnTo>
                  <a:lnTo>
                    <a:pt x="3265424" y="1323975"/>
                  </a:lnTo>
                  <a:lnTo>
                    <a:pt x="220599" y="1323975"/>
                  </a:lnTo>
                  <a:lnTo>
                    <a:pt x="176022" y="1319403"/>
                  </a:lnTo>
                  <a:lnTo>
                    <a:pt x="134620" y="1306576"/>
                  </a:lnTo>
                  <a:lnTo>
                    <a:pt x="97154" y="1286256"/>
                  </a:lnTo>
                  <a:lnTo>
                    <a:pt x="64516" y="1259332"/>
                  </a:lnTo>
                  <a:lnTo>
                    <a:pt x="37592" y="1226566"/>
                  </a:lnTo>
                  <a:lnTo>
                    <a:pt x="17272" y="1189101"/>
                  </a:lnTo>
                  <a:lnTo>
                    <a:pt x="4445" y="1147699"/>
                  </a:lnTo>
                  <a:lnTo>
                    <a:pt x="0" y="1103249"/>
                  </a:lnTo>
                  <a:lnTo>
                    <a:pt x="0" y="220599"/>
                  </a:lnTo>
                  <a:close/>
                </a:path>
              </a:pathLst>
            </a:custGeom>
            <a:ln w="12700">
              <a:solidFill>
                <a:srgbClr val="C8DC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143875" y="4019550"/>
              <a:ext cx="523875" cy="514350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8210550" y="4057650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4724" y="0"/>
                  </a:moveTo>
                  <a:lnTo>
                    <a:pt x="157733" y="5461"/>
                  </a:lnTo>
                  <a:lnTo>
                    <a:pt x="114680" y="20827"/>
                  </a:lnTo>
                  <a:lnTo>
                    <a:pt x="76580" y="44957"/>
                  </a:lnTo>
                  <a:lnTo>
                    <a:pt x="44957" y="76581"/>
                  </a:lnTo>
                  <a:lnTo>
                    <a:pt x="20827" y="114681"/>
                  </a:lnTo>
                  <a:lnTo>
                    <a:pt x="5460" y="157733"/>
                  </a:lnTo>
                  <a:lnTo>
                    <a:pt x="0" y="204724"/>
                  </a:lnTo>
                  <a:lnTo>
                    <a:pt x="5460" y="251713"/>
                  </a:lnTo>
                  <a:lnTo>
                    <a:pt x="20827" y="294767"/>
                  </a:lnTo>
                  <a:lnTo>
                    <a:pt x="44957" y="332867"/>
                  </a:lnTo>
                  <a:lnTo>
                    <a:pt x="76580" y="364617"/>
                  </a:lnTo>
                  <a:lnTo>
                    <a:pt x="114680" y="388747"/>
                  </a:lnTo>
                  <a:lnTo>
                    <a:pt x="157733" y="404113"/>
                  </a:lnTo>
                  <a:lnTo>
                    <a:pt x="204724" y="409575"/>
                  </a:lnTo>
                  <a:lnTo>
                    <a:pt x="251714" y="404113"/>
                  </a:lnTo>
                  <a:lnTo>
                    <a:pt x="294767" y="388747"/>
                  </a:lnTo>
                  <a:lnTo>
                    <a:pt x="332867" y="364617"/>
                  </a:lnTo>
                  <a:lnTo>
                    <a:pt x="364617" y="332867"/>
                  </a:lnTo>
                  <a:lnTo>
                    <a:pt x="388747" y="294767"/>
                  </a:lnTo>
                  <a:lnTo>
                    <a:pt x="404114" y="251713"/>
                  </a:lnTo>
                  <a:lnTo>
                    <a:pt x="409575" y="204724"/>
                  </a:lnTo>
                  <a:lnTo>
                    <a:pt x="404114" y="157733"/>
                  </a:lnTo>
                  <a:lnTo>
                    <a:pt x="388747" y="114681"/>
                  </a:lnTo>
                  <a:lnTo>
                    <a:pt x="364617" y="76581"/>
                  </a:lnTo>
                  <a:lnTo>
                    <a:pt x="332867" y="44957"/>
                  </a:lnTo>
                  <a:lnTo>
                    <a:pt x="294767" y="20827"/>
                  </a:lnTo>
                  <a:lnTo>
                    <a:pt x="251714" y="5461"/>
                  </a:lnTo>
                  <a:lnTo>
                    <a:pt x="204724" y="0"/>
                  </a:lnTo>
                  <a:close/>
                </a:path>
              </a:pathLst>
            </a:custGeom>
            <a:solidFill>
              <a:srgbClr val="0E36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215376" y="4062476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0" y="204724"/>
                  </a:moveTo>
                  <a:lnTo>
                    <a:pt x="5333" y="157734"/>
                  </a:lnTo>
                  <a:lnTo>
                    <a:pt x="20700" y="114554"/>
                  </a:lnTo>
                  <a:lnTo>
                    <a:pt x="44830" y="76581"/>
                  </a:lnTo>
                  <a:lnTo>
                    <a:pt x="76580" y="44831"/>
                  </a:lnTo>
                  <a:lnTo>
                    <a:pt x="114553" y="20700"/>
                  </a:lnTo>
                  <a:lnTo>
                    <a:pt x="157733" y="5334"/>
                  </a:lnTo>
                  <a:lnTo>
                    <a:pt x="204724" y="0"/>
                  </a:lnTo>
                  <a:lnTo>
                    <a:pt x="251587" y="5334"/>
                  </a:lnTo>
                  <a:lnTo>
                    <a:pt x="294767" y="20700"/>
                  </a:lnTo>
                  <a:lnTo>
                    <a:pt x="332740" y="44831"/>
                  </a:lnTo>
                  <a:lnTo>
                    <a:pt x="364490" y="76581"/>
                  </a:lnTo>
                  <a:lnTo>
                    <a:pt x="388747" y="114554"/>
                  </a:lnTo>
                  <a:lnTo>
                    <a:pt x="404114" y="157734"/>
                  </a:lnTo>
                  <a:lnTo>
                    <a:pt x="409575" y="204724"/>
                  </a:lnTo>
                  <a:lnTo>
                    <a:pt x="404114" y="251587"/>
                  </a:lnTo>
                  <a:lnTo>
                    <a:pt x="388747" y="294767"/>
                  </a:lnTo>
                  <a:lnTo>
                    <a:pt x="364490" y="332740"/>
                  </a:lnTo>
                  <a:lnTo>
                    <a:pt x="332740" y="364490"/>
                  </a:lnTo>
                  <a:lnTo>
                    <a:pt x="294767" y="388747"/>
                  </a:lnTo>
                  <a:lnTo>
                    <a:pt x="251587" y="404113"/>
                  </a:lnTo>
                  <a:lnTo>
                    <a:pt x="204724" y="409575"/>
                  </a:lnTo>
                  <a:lnTo>
                    <a:pt x="157733" y="404113"/>
                  </a:lnTo>
                  <a:lnTo>
                    <a:pt x="114553" y="388747"/>
                  </a:lnTo>
                  <a:lnTo>
                    <a:pt x="76580" y="364490"/>
                  </a:lnTo>
                  <a:lnTo>
                    <a:pt x="44830" y="332740"/>
                  </a:lnTo>
                  <a:lnTo>
                    <a:pt x="20700" y="294767"/>
                  </a:lnTo>
                  <a:lnTo>
                    <a:pt x="5333" y="251587"/>
                  </a:lnTo>
                  <a:lnTo>
                    <a:pt x="0" y="204724"/>
                  </a:lnTo>
                  <a:close/>
                </a:path>
              </a:pathLst>
            </a:custGeom>
            <a:ln w="6350">
              <a:solidFill>
                <a:srgbClr val="0E36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8356600" y="4176077"/>
            <a:ext cx="113664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-5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839200" y="4122737"/>
            <a:ext cx="16579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85">
                <a:solidFill>
                  <a:srgbClr val="0E364F"/>
                </a:solidFill>
                <a:latin typeface="Tahoma"/>
                <a:cs typeface="Tahoma"/>
              </a:rPr>
              <a:t>ENVIRONMENTAL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8253730" y="4662487"/>
            <a:ext cx="308610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sz="1200" spc="-10">
                <a:solidFill>
                  <a:srgbClr val="17202A"/>
                </a:solidFill>
                <a:latin typeface="Tahoma"/>
                <a:cs typeface="Tahoma"/>
              </a:rPr>
              <a:t>Surfaces</a:t>
            </a:r>
            <a:r>
              <a:rPr sz="1200" spc="-8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40">
                <a:solidFill>
                  <a:srgbClr val="17202A"/>
                </a:solidFill>
                <a:latin typeface="Tahoma"/>
                <a:cs typeface="Tahoma"/>
              </a:rPr>
              <a:t>extreme</a:t>
            </a:r>
            <a:r>
              <a:rPr sz="1200" spc="-5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30">
                <a:solidFill>
                  <a:srgbClr val="17202A"/>
                </a:solidFill>
                <a:latin typeface="Tahoma"/>
                <a:cs typeface="Tahoma"/>
              </a:rPr>
              <a:t>events</a:t>
            </a:r>
            <a:r>
              <a:rPr sz="1200" spc="-10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17202A"/>
                </a:solidFill>
                <a:latin typeface="Tahoma"/>
                <a:cs typeface="Tahoma"/>
              </a:rPr>
              <a:t>and</a:t>
            </a:r>
            <a:r>
              <a:rPr sz="1200" spc="-1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35">
                <a:solidFill>
                  <a:srgbClr val="17202A"/>
                </a:solidFill>
                <a:latin typeface="Tahoma"/>
                <a:cs typeface="Tahoma"/>
              </a:rPr>
              <a:t>long-</a:t>
            </a:r>
            <a:r>
              <a:rPr sz="1200" spc="-25">
                <a:solidFill>
                  <a:srgbClr val="17202A"/>
                </a:solidFill>
                <a:latin typeface="Tahoma"/>
                <a:cs typeface="Tahoma"/>
              </a:rPr>
              <a:t>term</a:t>
            </a:r>
            <a:r>
              <a:rPr sz="1200" spc="-10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17202A"/>
                </a:solidFill>
                <a:latin typeface="Tahoma"/>
                <a:cs typeface="Tahoma"/>
              </a:rPr>
              <a:t>climate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ts val="1435"/>
              </a:lnSpc>
            </a:pPr>
            <a:r>
              <a:rPr sz="1200" spc="-10">
                <a:solidFill>
                  <a:srgbClr val="17202A"/>
                </a:solidFill>
                <a:latin typeface="Tahoma"/>
                <a:cs typeface="Tahoma"/>
              </a:rPr>
              <a:t>trends</a:t>
            </a:r>
            <a:r>
              <a:rPr sz="900" spc="-10">
                <a:solidFill>
                  <a:srgbClr val="17202A"/>
                </a:solidFill>
                <a:latin typeface="Tahoma"/>
                <a:cs typeface="Tahoma"/>
              </a:rPr>
              <a:t>,</a:t>
            </a:r>
            <a:r>
              <a:rPr sz="900" spc="-3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40">
                <a:solidFill>
                  <a:srgbClr val="17202A"/>
                </a:solidFill>
                <a:latin typeface="Tahoma"/>
                <a:cs typeface="Tahoma"/>
              </a:rPr>
              <a:t>improving</a:t>
            </a:r>
            <a:r>
              <a:rPr sz="1200" spc="-8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17202A"/>
                </a:solidFill>
                <a:latin typeface="Tahoma"/>
                <a:cs typeface="Tahoma"/>
              </a:rPr>
              <a:t>public</a:t>
            </a:r>
            <a:r>
              <a:rPr sz="1200" spc="-10">
                <a:solidFill>
                  <a:srgbClr val="17202A"/>
                </a:solidFill>
                <a:latin typeface="Tahoma"/>
                <a:cs typeface="Tahoma"/>
              </a:rPr>
              <a:t> awareness.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571495" y="5592445"/>
            <a:ext cx="7033259" cy="8172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550" b="1" spc="-125">
                <a:solidFill>
                  <a:srgbClr val="0E364F"/>
                </a:solidFill>
                <a:latin typeface="Tahoma"/>
                <a:cs typeface="Tahoma"/>
              </a:rPr>
              <a:t>INFORMATION</a:t>
            </a:r>
            <a:r>
              <a:rPr sz="1550" b="1" spc="-22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550" b="1" spc="-40">
                <a:solidFill>
                  <a:srgbClr val="0E364F"/>
                </a:solidFill>
                <a:latin typeface="Tahoma"/>
                <a:cs typeface="Tahoma"/>
              </a:rPr>
              <a:t>OVERLOAD</a:t>
            </a:r>
            <a:r>
              <a:rPr sz="1550" b="1" spc="3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550" b="1" spc="-85">
                <a:solidFill>
                  <a:srgbClr val="0E364F"/>
                </a:solidFill>
                <a:latin typeface="Tahoma"/>
                <a:cs typeface="Tahoma"/>
              </a:rPr>
              <a:t>→EXPLAINABLE</a:t>
            </a:r>
            <a:r>
              <a:rPr sz="1550" b="1" spc="-29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550" b="1" spc="-45">
                <a:solidFill>
                  <a:srgbClr val="0E364F"/>
                </a:solidFill>
                <a:latin typeface="Tahoma"/>
                <a:cs typeface="Tahoma"/>
              </a:rPr>
              <a:t>WEATHER</a:t>
            </a:r>
            <a:r>
              <a:rPr sz="1550" b="1" spc="6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550" b="1" spc="-80">
                <a:solidFill>
                  <a:srgbClr val="0E364F"/>
                </a:solidFill>
                <a:latin typeface="Tahoma"/>
                <a:cs typeface="Tahoma"/>
              </a:rPr>
              <a:t>→INFORMED</a:t>
            </a:r>
            <a:r>
              <a:rPr sz="1550" b="1" spc="-23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550" b="1" spc="-10">
                <a:solidFill>
                  <a:srgbClr val="0E364F"/>
                </a:solidFill>
                <a:latin typeface="Tahoma"/>
                <a:cs typeface="Tahoma"/>
              </a:rPr>
              <a:t>ACTION</a:t>
            </a:r>
            <a:endParaRPr sz="1550">
              <a:latin typeface="Tahoma"/>
              <a:cs typeface="Tahoma"/>
            </a:endParaRPr>
          </a:p>
          <a:p>
            <a:pPr marR="4445" algn="ctr">
              <a:lnSpc>
                <a:spcPct val="100000"/>
              </a:lnSpc>
              <a:spcBef>
                <a:spcPts val="1520"/>
              </a:spcBef>
            </a:pPr>
            <a:r>
              <a:rPr sz="1250" b="1">
                <a:solidFill>
                  <a:srgbClr val="0E364F"/>
                </a:solidFill>
                <a:latin typeface="Tahoma"/>
                <a:cs typeface="Tahoma"/>
              </a:rPr>
              <a:t>BUILT</a:t>
            </a:r>
            <a:r>
              <a:rPr sz="1250" b="1" spc="15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50" b="1">
                <a:solidFill>
                  <a:srgbClr val="0E364F"/>
                </a:solidFill>
                <a:latin typeface="Tahoma"/>
                <a:cs typeface="Tahoma"/>
              </a:rPr>
              <a:t>FOR</a:t>
            </a:r>
            <a:r>
              <a:rPr sz="1250" b="1" spc="17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50" b="1">
                <a:solidFill>
                  <a:srgbClr val="0E364F"/>
                </a:solidFill>
                <a:latin typeface="Tahoma"/>
                <a:cs typeface="Tahoma"/>
              </a:rPr>
              <a:t>RESEARCHERS</a:t>
            </a:r>
            <a:r>
              <a:rPr sz="1250" b="1" spc="13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50" b="1">
                <a:solidFill>
                  <a:srgbClr val="0E364F"/>
                </a:solidFill>
                <a:latin typeface="Tahoma"/>
                <a:cs typeface="Tahoma"/>
              </a:rPr>
              <a:t>&amp;</a:t>
            </a:r>
            <a:r>
              <a:rPr sz="1250" b="1" spc="18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50" b="1">
                <a:solidFill>
                  <a:srgbClr val="0E364F"/>
                </a:solidFill>
                <a:latin typeface="Tahoma"/>
                <a:cs typeface="Tahoma"/>
              </a:rPr>
              <a:t>EDUCATORS</a:t>
            </a:r>
            <a:r>
              <a:rPr sz="1250" b="1" spc="13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50" b="1" spc="-25">
                <a:solidFill>
                  <a:srgbClr val="0E364F"/>
                </a:solidFill>
                <a:latin typeface="Tahoma"/>
                <a:cs typeface="Tahoma"/>
              </a:rPr>
              <a:t>TOO</a:t>
            </a:r>
            <a:endParaRPr sz="1250">
              <a:latin typeface="Tahoma"/>
              <a:cs typeface="Tahoma"/>
            </a:endParaRPr>
          </a:p>
          <a:p>
            <a:pPr marR="3175" algn="ctr">
              <a:lnSpc>
                <a:spcPct val="100000"/>
              </a:lnSpc>
            </a:pPr>
            <a:r>
              <a:rPr sz="1100">
                <a:solidFill>
                  <a:srgbClr val="5B6974"/>
                </a:solidFill>
                <a:latin typeface="Tahoma"/>
                <a:cs typeface="Tahoma"/>
              </a:rPr>
              <a:t>Every</a:t>
            </a:r>
            <a:r>
              <a:rPr sz="1100" spc="-30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100">
                <a:solidFill>
                  <a:srgbClr val="5B6974"/>
                </a:solidFill>
                <a:latin typeface="Tahoma"/>
                <a:cs typeface="Tahoma"/>
              </a:rPr>
              <a:t>trend,</a:t>
            </a:r>
            <a:r>
              <a:rPr sz="1100" spc="-30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100">
                <a:solidFill>
                  <a:srgbClr val="5B6974"/>
                </a:solidFill>
                <a:latin typeface="Tahoma"/>
                <a:cs typeface="Tahoma"/>
              </a:rPr>
              <a:t>dataset</a:t>
            </a:r>
            <a:r>
              <a:rPr sz="1100" spc="10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100">
                <a:solidFill>
                  <a:srgbClr val="5B6974"/>
                </a:solidFill>
                <a:latin typeface="Tahoma"/>
                <a:cs typeface="Tahoma"/>
              </a:rPr>
              <a:t>and</a:t>
            </a:r>
            <a:r>
              <a:rPr sz="1100" spc="-15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100">
                <a:solidFill>
                  <a:srgbClr val="5B6974"/>
                </a:solidFill>
                <a:latin typeface="Tahoma"/>
                <a:cs typeface="Tahoma"/>
              </a:rPr>
              <a:t>confidence</a:t>
            </a:r>
            <a:r>
              <a:rPr sz="1100" spc="20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100">
                <a:solidFill>
                  <a:srgbClr val="5B6974"/>
                </a:solidFill>
                <a:latin typeface="Tahoma"/>
                <a:cs typeface="Tahoma"/>
              </a:rPr>
              <a:t>score</a:t>
            </a:r>
            <a:r>
              <a:rPr sz="1100" spc="15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100">
                <a:solidFill>
                  <a:srgbClr val="5B6974"/>
                </a:solidFill>
                <a:latin typeface="Tahoma"/>
                <a:cs typeface="Tahoma"/>
              </a:rPr>
              <a:t>stays</a:t>
            </a:r>
            <a:r>
              <a:rPr sz="1100" spc="-40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100">
                <a:solidFill>
                  <a:srgbClr val="5B6974"/>
                </a:solidFill>
                <a:latin typeface="Tahoma"/>
                <a:cs typeface="Tahoma"/>
              </a:rPr>
              <a:t>queryable</a:t>
            </a:r>
            <a:r>
              <a:rPr sz="1100" spc="-55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100">
                <a:solidFill>
                  <a:srgbClr val="5B6974"/>
                </a:solidFill>
                <a:latin typeface="Tahoma"/>
                <a:cs typeface="Tahoma"/>
              </a:rPr>
              <a:t>and</a:t>
            </a:r>
            <a:r>
              <a:rPr sz="1100" spc="-10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100">
                <a:solidFill>
                  <a:srgbClr val="5B6974"/>
                </a:solidFill>
                <a:latin typeface="Tahoma"/>
                <a:cs typeface="Tahoma"/>
              </a:rPr>
              <a:t>exportable</a:t>
            </a:r>
            <a:r>
              <a:rPr sz="1100" spc="-55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100">
                <a:solidFill>
                  <a:srgbClr val="5B6974"/>
                </a:solidFill>
                <a:latin typeface="Tahoma"/>
                <a:cs typeface="Tahoma"/>
              </a:rPr>
              <a:t>for</a:t>
            </a:r>
            <a:r>
              <a:rPr sz="1100" spc="-20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100" spc="-10">
                <a:solidFill>
                  <a:srgbClr val="5B6974"/>
                </a:solidFill>
                <a:latin typeface="Tahoma"/>
                <a:cs typeface="Tahoma"/>
              </a:rPr>
              <a:t>study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4F8EA147-3E1D-740F-51EB-D16D51D3CBB2}"/>
              </a:ext>
            </a:extLst>
          </p:cNvPr>
          <p:cNvSpPr/>
          <p:nvPr/>
        </p:nvSpPr>
        <p:spPr>
          <a:xfrm>
            <a:off x="403231" y="204347"/>
            <a:ext cx="1495302" cy="82895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23ABEBE-476A-4761-1CE2-772BF864D0D7}"/>
              </a:ext>
            </a:extLst>
          </p:cNvPr>
          <p:cNvSpPr txBox="1"/>
          <p:nvPr/>
        </p:nvSpPr>
        <p:spPr>
          <a:xfrm>
            <a:off x="688866" y="475953"/>
            <a:ext cx="135544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b="1" dirty="0">
                <a:latin typeface="Tahoma"/>
                <a:ea typeface="Tahoma"/>
                <a:cs typeface="Tahoma"/>
              </a:rPr>
              <a:t>GRIFFINS</a:t>
            </a:r>
            <a:endParaRPr lang="en-US" sz="1200" b="1">
              <a:solidFill>
                <a:srgbClr val="000000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6172200" y="19050"/>
            <a:ext cx="5838825" cy="1495425"/>
            <a:chOff x="6172200" y="19050"/>
            <a:chExt cx="5838825" cy="14954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10750" y="19050"/>
              <a:ext cx="2200275" cy="10287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2200" y="1091642"/>
              <a:ext cx="5410200" cy="42283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210300" y="1104900"/>
              <a:ext cx="5343525" cy="352425"/>
            </a:xfrm>
            <a:custGeom>
              <a:avLst/>
              <a:gdLst/>
              <a:ahLst/>
              <a:cxnLst/>
              <a:rect l="l" t="t" r="r" b="b"/>
              <a:pathLst>
                <a:path w="5343525" h="352425">
                  <a:moveTo>
                    <a:pt x="5284724" y="0"/>
                  </a:moveTo>
                  <a:lnTo>
                    <a:pt x="58674" y="0"/>
                  </a:lnTo>
                  <a:lnTo>
                    <a:pt x="35813" y="4572"/>
                  </a:lnTo>
                  <a:lnTo>
                    <a:pt x="17145" y="17145"/>
                  </a:lnTo>
                  <a:lnTo>
                    <a:pt x="4572" y="35813"/>
                  </a:lnTo>
                  <a:lnTo>
                    <a:pt x="0" y="58674"/>
                  </a:lnTo>
                  <a:lnTo>
                    <a:pt x="0" y="293624"/>
                  </a:lnTo>
                  <a:lnTo>
                    <a:pt x="4572" y="316484"/>
                  </a:lnTo>
                  <a:lnTo>
                    <a:pt x="17145" y="335152"/>
                  </a:lnTo>
                  <a:lnTo>
                    <a:pt x="35813" y="347852"/>
                  </a:lnTo>
                  <a:lnTo>
                    <a:pt x="58674" y="352425"/>
                  </a:lnTo>
                  <a:lnTo>
                    <a:pt x="5284724" y="352425"/>
                  </a:lnTo>
                  <a:lnTo>
                    <a:pt x="5307583" y="347852"/>
                  </a:lnTo>
                  <a:lnTo>
                    <a:pt x="5326253" y="335152"/>
                  </a:lnTo>
                  <a:lnTo>
                    <a:pt x="5338953" y="316484"/>
                  </a:lnTo>
                  <a:lnTo>
                    <a:pt x="5343525" y="293624"/>
                  </a:lnTo>
                  <a:lnTo>
                    <a:pt x="5343525" y="58674"/>
                  </a:lnTo>
                  <a:lnTo>
                    <a:pt x="5338953" y="35813"/>
                  </a:lnTo>
                  <a:lnTo>
                    <a:pt x="5326253" y="17145"/>
                  </a:lnTo>
                  <a:lnTo>
                    <a:pt x="5307583" y="4572"/>
                  </a:lnTo>
                  <a:lnTo>
                    <a:pt x="5284724" y="0"/>
                  </a:lnTo>
                  <a:close/>
                </a:path>
              </a:pathLst>
            </a:custGeom>
            <a:solidFill>
              <a:srgbClr val="EC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15126" y="1109725"/>
              <a:ext cx="5343525" cy="352425"/>
            </a:xfrm>
            <a:custGeom>
              <a:avLst/>
              <a:gdLst/>
              <a:ahLst/>
              <a:cxnLst/>
              <a:rect l="l" t="t" r="r" b="b"/>
              <a:pathLst>
                <a:path w="5343525" h="352425">
                  <a:moveTo>
                    <a:pt x="0" y="58674"/>
                  </a:moveTo>
                  <a:lnTo>
                    <a:pt x="4572" y="35813"/>
                  </a:lnTo>
                  <a:lnTo>
                    <a:pt x="17145" y="17145"/>
                  </a:lnTo>
                  <a:lnTo>
                    <a:pt x="35813" y="4572"/>
                  </a:lnTo>
                  <a:lnTo>
                    <a:pt x="58674" y="0"/>
                  </a:lnTo>
                  <a:lnTo>
                    <a:pt x="5284724" y="0"/>
                  </a:lnTo>
                  <a:lnTo>
                    <a:pt x="5307457" y="4572"/>
                  </a:lnTo>
                  <a:lnTo>
                    <a:pt x="5326253" y="17145"/>
                  </a:lnTo>
                  <a:lnTo>
                    <a:pt x="5338826" y="35813"/>
                  </a:lnTo>
                  <a:lnTo>
                    <a:pt x="5343525" y="58674"/>
                  </a:lnTo>
                  <a:lnTo>
                    <a:pt x="5343525" y="293624"/>
                  </a:lnTo>
                  <a:lnTo>
                    <a:pt x="5338826" y="316357"/>
                  </a:lnTo>
                  <a:lnTo>
                    <a:pt x="5326253" y="335152"/>
                  </a:lnTo>
                  <a:lnTo>
                    <a:pt x="5307457" y="347725"/>
                  </a:lnTo>
                  <a:lnTo>
                    <a:pt x="5284724" y="352425"/>
                  </a:lnTo>
                  <a:lnTo>
                    <a:pt x="58674" y="352425"/>
                  </a:lnTo>
                  <a:lnTo>
                    <a:pt x="35813" y="347725"/>
                  </a:lnTo>
                  <a:lnTo>
                    <a:pt x="17145" y="335152"/>
                  </a:lnTo>
                  <a:lnTo>
                    <a:pt x="4572" y="316357"/>
                  </a:lnTo>
                  <a:lnTo>
                    <a:pt x="0" y="293624"/>
                  </a:lnTo>
                  <a:lnTo>
                    <a:pt x="0" y="58674"/>
                  </a:lnTo>
                  <a:close/>
                </a:path>
              </a:pathLst>
            </a:custGeom>
            <a:ln w="10160">
              <a:solidFill>
                <a:srgbClr val="C8DC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t>RESEARCH</a:t>
            </a:r>
            <a:r>
              <a:rPr spc="-80"/>
              <a:t> </a:t>
            </a:r>
            <a:r>
              <a:t>AND</a:t>
            </a:r>
            <a:r>
              <a:rPr spc="-120"/>
              <a:t> </a:t>
            </a:r>
            <a:r>
              <a:rPr spc="-10"/>
              <a:t>REFERENCES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523875" y="1091642"/>
            <a:ext cx="5495925" cy="422909"/>
            <a:chOff x="523875" y="1091642"/>
            <a:chExt cx="5495925" cy="422909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3875" y="1091642"/>
              <a:ext cx="5495925" cy="42283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52450" y="1133474"/>
              <a:ext cx="5438140" cy="352425"/>
            </a:xfrm>
            <a:custGeom>
              <a:avLst/>
              <a:gdLst/>
              <a:ahLst/>
              <a:cxnLst/>
              <a:rect l="l" t="t" r="r" b="b"/>
              <a:pathLst>
                <a:path w="5438140" h="352425">
                  <a:moveTo>
                    <a:pt x="5379466" y="0"/>
                  </a:moveTo>
                  <a:lnTo>
                    <a:pt x="58724" y="0"/>
                  </a:lnTo>
                  <a:lnTo>
                    <a:pt x="35864" y="4572"/>
                  </a:lnTo>
                  <a:lnTo>
                    <a:pt x="17208" y="17145"/>
                  </a:lnTo>
                  <a:lnTo>
                    <a:pt x="4610" y="35813"/>
                  </a:lnTo>
                  <a:lnTo>
                    <a:pt x="0" y="58674"/>
                  </a:lnTo>
                  <a:lnTo>
                    <a:pt x="0" y="293624"/>
                  </a:lnTo>
                  <a:lnTo>
                    <a:pt x="4610" y="316484"/>
                  </a:lnTo>
                  <a:lnTo>
                    <a:pt x="17208" y="335152"/>
                  </a:lnTo>
                  <a:lnTo>
                    <a:pt x="35864" y="347852"/>
                  </a:lnTo>
                  <a:lnTo>
                    <a:pt x="58724" y="352425"/>
                  </a:lnTo>
                  <a:lnTo>
                    <a:pt x="5379466" y="352425"/>
                  </a:lnTo>
                  <a:lnTo>
                    <a:pt x="5402199" y="347852"/>
                  </a:lnTo>
                  <a:lnTo>
                    <a:pt x="5420995" y="335152"/>
                  </a:lnTo>
                  <a:lnTo>
                    <a:pt x="5433568" y="316484"/>
                  </a:lnTo>
                  <a:lnTo>
                    <a:pt x="5438140" y="293624"/>
                  </a:lnTo>
                  <a:lnTo>
                    <a:pt x="5438140" y="58674"/>
                  </a:lnTo>
                  <a:lnTo>
                    <a:pt x="5433568" y="35813"/>
                  </a:lnTo>
                  <a:lnTo>
                    <a:pt x="5420995" y="17145"/>
                  </a:lnTo>
                  <a:lnTo>
                    <a:pt x="5402199" y="4572"/>
                  </a:lnTo>
                  <a:lnTo>
                    <a:pt x="5379466" y="0"/>
                  </a:lnTo>
                  <a:close/>
                </a:path>
              </a:pathLst>
            </a:custGeom>
            <a:solidFill>
              <a:srgbClr val="EC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514728" y="1119441"/>
            <a:ext cx="351980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>
                <a:solidFill>
                  <a:srgbClr val="0E364F"/>
                </a:solidFill>
                <a:latin typeface="Tahoma"/>
                <a:cs typeface="Tahoma"/>
              </a:rPr>
              <a:t>METEOROLOGICAL</a:t>
            </a:r>
            <a:r>
              <a:rPr sz="1200" b="1" spc="-1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0E364F"/>
                </a:solidFill>
                <a:latin typeface="Tahoma"/>
                <a:cs typeface="Tahoma"/>
              </a:rPr>
              <a:t>/</a:t>
            </a:r>
            <a:r>
              <a:rPr sz="1200" b="1" spc="-2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0E364F"/>
                </a:solidFill>
                <a:latin typeface="Tahoma"/>
                <a:cs typeface="Tahoma"/>
              </a:rPr>
              <a:t>GOVERNMENT</a:t>
            </a:r>
            <a:r>
              <a:rPr sz="1200" b="1" spc="1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 spc="-10">
                <a:solidFill>
                  <a:srgbClr val="0E364F"/>
                </a:solidFill>
                <a:latin typeface="Tahoma"/>
                <a:cs typeface="Tahoma"/>
              </a:rPr>
              <a:t>SOURCES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57212" y="1109725"/>
            <a:ext cx="5438775" cy="352425"/>
          </a:xfrm>
          <a:custGeom>
            <a:avLst/>
            <a:gdLst/>
            <a:ahLst/>
            <a:cxnLst/>
            <a:rect l="l" t="t" r="r" b="b"/>
            <a:pathLst>
              <a:path w="5438775" h="352425">
                <a:moveTo>
                  <a:pt x="0" y="58674"/>
                </a:moveTo>
                <a:lnTo>
                  <a:pt x="4610" y="35813"/>
                </a:lnTo>
                <a:lnTo>
                  <a:pt x="17208" y="17145"/>
                </a:lnTo>
                <a:lnTo>
                  <a:pt x="35877" y="4572"/>
                </a:lnTo>
                <a:lnTo>
                  <a:pt x="58724" y="0"/>
                </a:lnTo>
                <a:lnTo>
                  <a:pt x="5379402" y="0"/>
                </a:lnTo>
                <a:lnTo>
                  <a:pt x="5402262" y="4572"/>
                </a:lnTo>
                <a:lnTo>
                  <a:pt x="5420931" y="17145"/>
                </a:lnTo>
                <a:lnTo>
                  <a:pt x="5433631" y="35813"/>
                </a:lnTo>
                <a:lnTo>
                  <a:pt x="5438203" y="58674"/>
                </a:lnTo>
                <a:lnTo>
                  <a:pt x="5438203" y="293624"/>
                </a:lnTo>
                <a:lnTo>
                  <a:pt x="5433631" y="316357"/>
                </a:lnTo>
                <a:lnTo>
                  <a:pt x="5420931" y="335152"/>
                </a:lnTo>
                <a:lnTo>
                  <a:pt x="5402262" y="347725"/>
                </a:lnTo>
                <a:lnTo>
                  <a:pt x="5379402" y="352425"/>
                </a:lnTo>
                <a:lnTo>
                  <a:pt x="58724" y="352425"/>
                </a:lnTo>
                <a:lnTo>
                  <a:pt x="35877" y="347725"/>
                </a:lnTo>
                <a:lnTo>
                  <a:pt x="17208" y="335152"/>
                </a:lnTo>
                <a:lnTo>
                  <a:pt x="4610" y="316357"/>
                </a:lnTo>
                <a:lnTo>
                  <a:pt x="0" y="293624"/>
                </a:lnTo>
                <a:lnTo>
                  <a:pt x="0" y="58674"/>
                </a:lnTo>
                <a:close/>
              </a:path>
            </a:pathLst>
          </a:custGeom>
          <a:ln w="10160">
            <a:solidFill>
              <a:srgbClr val="C8DC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987675" y="723582"/>
            <a:ext cx="650113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>
                <a:solidFill>
                  <a:srgbClr val="5B6974"/>
                </a:solidFill>
                <a:latin typeface="Tahoma"/>
                <a:cs typeface="Tahoma"/>
              </a:rPr>
              <a:t>Data</a:t>
            </a:r>
            <a:r>
              <a:rPr sz="1400" spc="-200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400" spc="-20">
                <a:solidFill>
                  <a:srgbClr val="5B6974"/>
                </a:solidFill>
                <a:latin typeface="Tahoma"/>
                <a:cs typeface="Tahoma"/>
              </a:rPr>
              <a:t>sources,</a:t>
            </a:r>
            <a:r>
              <a:rPr sz="1400" spc="-55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400" spc="-10">
                <a:solidFill>
                  <a:srgbClr val="5B6974"/>
                </a:solidFill>
                <a:latin typeface="Tahoma"/>
                <a:cs typeface="Tahoma"/>
              </a:rPr>
              <a:t>standards</a:t>
            </a:r>
            <a:r>
              <a:rPr sz="1400" spc="-85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400" spc="-10">
                <a:solidFill>
                  <a:srgbClr val="5B6974"/>
                </a:solidFill>
                <a:latin typeface="Tahoma"/>
                <a:cs typeface="Tahoma"/>
              </a:rPr>
              <a:t>and</a:t>
            </a:r>
            <a:r>
              <a:rPr sz="1400" spc="-145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400" spc="-45">
                <a:solidFill>
                  <a:srgbClr val="5B6974"/>
                </a:solidFill>
                <a:latin typeface="Tahoma"/>
                <a:cs typeface="Tahoma"/>
              </a:rPr>
              <a:t>engineering</a:t>
            </a:r>
            <a:r>
              <a:rPr sz="1400" spc="-85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400" spc="-10">
                <a:solidFill>
                  <a:srgbClr val="5B6974"/>
                </a:solidFill>
                <a:latin typeface="Tahoma"/>
                <a:cs typeface="Tahoma"/>
              </a:rPr>
              <a:t>foundations</a:t>
            </a:r>
            <a:r>
              <a:rPr sz="1400" spc="-70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400">
                <a:solidFill>
                  <a:srgbClr val="5B6974"/>
                </a:solidFill>
                <a:latin typeface="Tahoma"/>
                <a:cs typeface="Tahoma"/>
              </a:rPr>
              <a:t>used</a:t>
            </a:r>
            <a:r>
              <a:rPr sz="1400" spc="-165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400" spc="-10">
                <a:solidFill>
                  <a:srgbClr val="5B6974"/>
                </a:solidFill>
                <a:latin typeface="Tahoma"/>
                <a:cs typeface="Tahoma"/>
              </a:rPr>
              <a:t>in</a:t>
            </a:r>
            <a:r>
              <a:rPr sz="1400" spc="-75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400">
                <a:solidFill>
                  <a:srgbClr val="5B6974"/>
                </a:solidFill>
                <a:latin typeface="Tahoma"/>
                <a:cs typeface="Tahoma"/>
              </a:rPr>
              <a:t>the</a:t>
            </a:r>
            <a:r>
              <a:rPr sz="1400" spc="-20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400" spc="-35">
                <a:solidFill>
                  <a:srgbClr val="5B6974"/>
                </a:solidFill>
                <a:latin typeface="Tahoma"/>
                <a:cs typeface="Tahoma"/>
              </a:rPr>
              <a:t>WeatherGPT</a:t>
            </a:r>
            <a:r>
              <a:rPr sz="1400" spc="-185">
                <a:solidFill>
                  <a:srgbClr val="5B6974"/>
                </a:solidFill>
                <a:latin typeface="Tahoma"/>
                <a:cs typeface="Tahoma"/>
              </a:rPr>
              <a:t> </a:t>
            </a:r>
            <a:r>
              <a:rPr sz="1400" spc="-10">
                <a:solidFill>
                  <a:srgbClr val="5B6974"/>
                </a:solidFill>
                <a:latin typeface="Tahoma"/>
                <a:cs typeface="Tahoma"/>
              </a:rPr>
              <a:t>design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3577" y="1566862"/>
            <a:ext cx="37274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75">
                <a:solidFill>
                  <a:srgbClr val="0E364F"/>
                </a:solidFill>
                <a:latin typeface="Tahoma"/>
                <a:cs typeface="Tahoma"/>
              </a:rPr>
              <a:t>IMD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05178" y="1564259"/>
            <a:ext cx="4605655" cy="380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95"/>
              </a:lnSpc>
              <a:spcBef>
                <a:spcPts val="100"/>
              </a:spcBef>
            </a:pPr>
            <a:r>
              <a:rPr sz="900" spc="-25">
                <a:solidFill>
                  <a:srgbClr val="17202A"/>
                </a:solidFill>
                <a:latin typeface="Tahoma"/>
                <a:cs typeface="Tahoma"/>
              </a:rPr>
              <a:t>I</a:t>
            </a:r>
            <a:r>
              <a:rPr sz="1200" spc="-25">
                <a:solidFill>
                  <a:srgbClr val="17202A"/>
                </a:solidFill>
                <a:latin typeface="Tahoma"/>
                <a:cs typeface="Tahoma"/>
              </a:rPr>
              <a:t>ndia</a:t>
            </a:r>
            <a:r>
              <a:rPr sz="1200" spc="-13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17202A"/>
                </a:solidFill>
                <a:latin typeface="Tahoma"/>
                <a:cs typeface="Tahoma"/>
              </a:rPr>
              <a:t>Meteorological</a:t>
            </a:r>
            <a:r>
              <a:rPr sz="1200" spc="-5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20">
                <a:solidFill>
                  <a:srgbClr val="17202A"/>
                </a:solidFill>
                <a:latin typeface="Tahoma"/>
                <a:cs typeface="Tahoma"/>
              </a:rPr>
              <a:t>Department</a:t>
            </a:r>
            <a:r>
              <a:rPr sz="1200" spc="-3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17202A"/>
                </a:solidFill>
                <a:latin typeface="Tahoma"/>
                <a:cs typeface="Tahoma"/>
              </a:rPr>
              <a:t>—</a:t>
            </a:r>
            <a:r>
              <a:rPr sz="1200" spc="-5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25">
                <a:solidFill>
                  <a:srgbClr val="17202A"/>
                </a:solidFill>
                <a:latin typeface="Tahoma"/>
                <a:cs typeface="Tahoma"/>
              </a:rPr>
              <a:t>warnings</a:t>
            </a:r>
            <a:r>
              <a:rPr sz="1200" spc="-10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20">
                <a:solidFill>
                  <a:srgbClr val="17202A"/>
                </a:solidFill>
                <a:latin typeface="Tahoma"/>
                <a:cs typeface="Tahoma"/>
              </a:rPr>
              <a:t>and</a:t>
            </a:r>
            <a:r>
              <a:rPr sz="1200" spc="-9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25">
                <a:solidFill>
                  <a:srgbClr val="17202A"/>
                </a:solidFill>
                <a:latin typeface="Tahoma"/>
                <a:cs typeface="Tahoma"/>
              </a:rPr>
              <a:t>weather</a:t>
            </a:r>
            <a:r>
              <a:rPr sz="1200" spc="-6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17202A"/>
                </a:solidFill>
                <a:latin typeface="Tahoma"/>
                <a:cs typeface="Tahoma"/>
              </a:rPr>
              <a:t>information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ts val="1395"/>
              </a:lnSpc>
            </a:pPr>
            <a:r>
              <a:rPr sz="12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IMD</a:t>
            </a:r>
            <a:r>
              <a:rPr sz="1200" u="sng" spc="-7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2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Mausam</a:t>
            </a:r>
            <a:r>
              <a:rPr sz="1200" u="sng" spc="-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2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-</a:t>
            </a:r>
            <a:r>
              <a:rPr sz="1200" u="sng" spc="-3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2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India</a:t>
            </a:r>
            <a:r>
              <a:rPr sz="1200" u="sng" spc="4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2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Meteorologica</a:t>
            </a:r>
            <a:r>
              <a:rPr sz="12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</a:t>
            </a:r>
            <a:r>
              <a:rPr sz="1200" u="sng" spc="-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2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Department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3577" y="2273236"/>
            <a:ext cx="890269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50">
                <a:solidFill>
                  <a:srgbClr val="0E364F"/>
                </a:solidFill>
                <a:latin typeface="Tahoma"/>
                <a:cs typeface="Tahoma"/>
              </a:rPr>
              <a:t>GFS</a:t>
            </a:r>
            <a:r>
              <a:rPr sz="1400" b="1" spc="-19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400" b="1" spc="-20">
                <a:solidFill>
                  <a:srgbClr val="0E364F"/>
                </a:solidFill>
                <a:latin typeface="Tahoma"/>
                <a:cs typeface="Tahoma"/>
              </a:rPr>
              <a:t>/WRF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01570" y="2269871"/>
            <a:ext cx="3492500" cy="380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95"/>
              </a:lnSpc>
              <a:spcBef>
                <a:spcPts val="100"/>
              </a:spcBef>
            </a:pPr>
            <a:r>
              <a:rPr sz="1200">
                <a:solidFill>
                  <a:srgbClr val="17202A"/>
                </a:solidFill>
                <a:latin typeface="Tahoma"/>
                <a:cs typeface="Tahoma"/>
              </a:rPr>
              <a:t>Numerical </a:t>
            </a:r>
            <a:r>
              <a:rPr sz="1200" spc="-25">
                <a:solidFill>
                  <a:srgbClr val="17202A"/>
                </a:solidFill>
                <a:latin typeface="Tahoma"/>
                <a:cs typeface="Tahoma"/>
              </a:rPr>
              <a:t>weather</a:t>
            </a:r>
            <a:r>
              <a:rPr sz="1200" spc="-19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17202A"/>
                </a:solidFill>
                <a:latin typeface="Tahoma"/>
                <a:cs typeface="Tahoma"/>
              </a:rPr>
              <a:t>prediction</a:t>
            </a:r>
            <a:r>
              <a:rPr sz="1200" spc="-7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17202A"/>
                </a:solidFill>
                <a:latin typeface="Tahoma"/>
                <a:cs typeface="Tahoma"/>
              </a:rPr>
              <a:t>model</a:t>
            </a:r>
            <a:r>
              <a:rPr sz="1200" spc="-3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17202A"/>
                </a:solidFill>
                <a:latin typeface="Tahoma"/>
                <a:cs typeface="Tahoma"/>
              </a:rPr>
              <a:t>outputs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ts val="1395"/>
              </a:lnSpc>
            </a:pPr>
            <a:r>
              <a:rPr sz="1200" u="sng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GFS-Initialized</a:t>
            </a:r>
            <a:r>
              <a:rPr sz="1200" u="sng" spc="-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2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Pacific</a:t>
            </a:r>
            <a:r>
              <a:rPr sz="1200" u="sng" spc="-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2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Northwest</a:t>
            </a:r>
            <a:r>
              <a:rPr sz="1200" u="sng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2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WRF</a:t>
            </a:r>
            <a:r>
              <a:rPr sz="1200" u="sng" spc="-4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200" u="sng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Weather</a:t>
            </a:r>
            <a:r>
              <a:rPr sz="1200" u="sng" spc="-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2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Forecasts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3577" y="2978848"/>
            <a:ext cx="46482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60">
                <a:solidFill>
                  <a:srgbClr val="0E364F"/>
                </a:solidFill>
                <a:latin typeface="Tahoma"/>
                <a:cs typeface="Tahoma"/>
              </a:rPr>
              <a:t>ERA5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11985" y="3028696"/>
            <a:ext cx="3479800" cy="380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95"/>
              </a:lnSpc>
              <a:spcBef>
                <a:spcPts val="100"/>
              </a:spcBef>
            </a:pPr>
            <a:r>
              <a:rPr sz="1200">
                <a:solidFill>
                  <a:srgbClr val="17202A"/>
                </a:solidFill>
                <a:latin typeface="Tahoma"/>
                <a:cs typeface="Tahoma"/>
              </a:rPr>
              <a:t>Copernicus</a:t>
            </a:r>
            <a:r>
              <a:rPr sz="1200" spc="-5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20">
                <a:solidFill>
                  <a:srgbClr val="17202A"/>
                </a:solidFill>
                <a:latin typeface="Tahoma"/>
                <a:cs typeface="Tahoma"/>
              </a:rPr>
              <a:t>reanalysis</a:t>
            </a:r>
            <a:r>
              <a:rPr sz="1200" spc="1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30">
                <a:solidFill>
                  <a:srgbClr val="17202A"/>
                </a:solidFill>
                <a:latin typeface="Tahoma"/>
                <a:cs typeface="Tahoma"/>
              </a:rPr>
              <a:t>for</a:t>
            </a:r>
            <a:r>
              <a:rPr sz="1200" spc="-8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17202A"/>
                </a:solidFill>
                <a:latin typeface="Tahoma"/>
                <a:cs typeface="Tahoma"/>
              </a:rPr>
              <a:t>historical</a:t>
            </a:r>
            <a:r>
              <a:rPr sz="1200" spc="-5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17202A"/>
                </a:solidFill>
                <a:latin typeface="Tahoma"/>
                <a:cs typeface="Tahoma"/>
              </a:rPr>
              <a:t>/</a:t>
            </a:r>
            <a:r>
              <a:rPr sz="1200" spc="-5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17202A"/>
                </a:solidFill>
                <a:latin typeface="Tahoma"/>
                <a:cs typeface="Tahoma"/>
              </a:rPr>
              <a:t>climate</a:t>
            </a:r>
            <a:r>
              <a:rPr sz="1200" spc="-10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17202A"/>
                </a:solidFill>
                <a:latin typeface="Tahoma"/>
                <a:cs typeface="Tahoma"/>
              </a:rPr>
              <a:t>analysis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ts val="1395"/>
              </a:lnSpc>
            </a:pPr>
            <a:r>
              <a:rPr sz="12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ERA5</a:t>
            </a:r>
            <a:r>
              <a:rPr sz="1200" u="sng" spc="-3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2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hourly</a:t>
            </a:r>
            <a:r>
              <a:rPr sz="12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2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data</a:t>
            </a:r>
            <a:r>
              <a:rPr sz="1200" u="sng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2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on</a:t>
            </a:r>
            <a:r>
              <a:rPr sz="1200" u="sng" spc="-7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2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single</a:t>
            </a:r>
            <a:r>
              <a:rPr sz="1200" u="sng" spc="-3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2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levels</a:t>
            </a:r>
            <a:r>
              <a:rPr sz="1200" u="sng" spc="-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2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from</a:t>
            </a:r>
            <a:r>
              <a:rPr sz="1200" u="sng" spc="-6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2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1940</a:t>
            </a:r>
            <a:r>
              <a:rPr sz="1200" u="sng" spc="-4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2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to</a:t>
            </a:r>
            <a:r>
              <a:rPr sz="12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2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"/>
              </a:rPr>
              <a:t>present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3577" y="3685158"/>
            <a:ext cx="120777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120">
                <a:solidFill>
                  <a:srgbClr val="0E364F"/>
                </a:solidFill>
                <a:latin typeface="Tahoma"/>
                <a:cs typeface="Tahoma"/>
              </a:rPr>
              <a:t>WIS2.0</a:t>
            </a:r>
            <a:r>
              <a:rPr sz="1400" b="1" spc="-20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400" b="1" spc="-50">
                <a:solidFill>
                  <a:srgbClr val="0E364F"/>
                </a:solidFill>
                <a:latin typeface="Tahoma"/>
                <a:cs typeface="Tahoma"/>
              </a:rPr>
              <a:t>/MQTT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99945" y="3682047"/>
            <a:ext cx="3557270" cy="380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95"/>
              </a:lnSpc>
              <a:spcBef>
                <a:spcPts val="100"/>
              </a:spcBef>
            </a:pPr>
            <a:r>
              <a:rPr sz="1200" spc="-25">
                <a:solidFill>
                  <a:srgbClr val="17202A"/>
                </a:solidFill>
                <a:latin typeface="Tahoma"/>
                <a:cs typeface="Tahoma"/>
              </a:rPr>
              <a:t>WMO-</a:t>
            </a:r>
            <a:r>
              <a:rPr sz="1200" spc="-20">
                <a:solidFill>
                  <a:srgbClr val="17202A"/>
                </a:solidFill>
                <a:latin typeface="Tahoma"/>
                <a:cs typeface="Tahoma"/>
              </a:rPr>
              <a:t>aligned</a:t>
            </a:r>
            <a:r>
              <a:rPr sz="1200" spc="-6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20">
                <a:solidFill>
                  <a:srgbClr val="17202A"/>
                </a:solidFill>
                <a:latin typeface="Tahoma"/>
                <a:cs typeface="Tahoma"/>
              </a:rPr>
              <a:t>real-</a:t>
            </a:r>
            <a:r>
              <a:rPr sz="1200">
                <a:solidFill>
                  <a:srgbClr val="17202A"/>
                </a:solidFill>
                <a:latin typeface="Tahoma"/>
                <a:cs typeface="Tahoma"/>
              </a:rPr>
              <a:t>time</a:t>
            </a:r>
            <a:r>
              <a:rPr sz="1200" spc="-4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20">
                <a:solidFill>
                  <a:srgbClr val="17202A"/>
                </a:solidFill>
                <a:latin typeface="Tahoma"/>
                <a:cs typeface="Tahoma"/>
              </a:rPr>
              <a:t>meteorological</a:t>
            </a:r>
            <a:r>
              <a:rPr sz="1200" spc="2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20">
                <a:solidFill>
                  <a:srgbClr val="17202A"/>
                </a:solidFill>
                <a:latin typeface="Tahoma"/>
                <a:cs typeface="Tahoma"/>
              </a:rPr>
              <a:t>data </a:t>
            </a:r>
            <a:r>
              <a:rPr sz="1200" spc="-10">
                <a:solidFill>
                  <a:srgbClr val="17202A"/>
                </a:solidFill>
                <a:latin typeface="Tahoma"/>
                <a:cs typeface="Tahoma"/>
              </a:rPr>
              <a:t>exchange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ts val="1395"/>
              </a:lnSpc>
            </a:pPr>
            <a:r>
              <a:rPr sz="12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/>
              </a:rPr>
              <a:t>WIS2</a:t>
            </a:r>
            <a:r>
              <a:rPr sz="1200" u="sng" spc="-6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20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8"/>
              </a:rPr>
              <a:t>Overview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3577" y="4391342"/>
            <a:ext cx="92265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80">
                <a:solidFill>
                  <a:srgbClr val="0E364F"/>
                </a:solidFill>
                <a:latin typeface="Tahoma"/>
                <a:cs typeface="Tahoma"/>
              </a:rPr>
              <a:t>data.gov.in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38579" y="4397057"/>
            <a:ext cx="2904490" cy="339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230"/>
              </a:lnSpc>
              <a:spcBef>
                <a:spcPts val="100"/>
              </a:spcBef>
            </a:pPr>
            <a:r>
              <a:rPr sz="1050" spc="-10">
                <a:solidFill>
                  <a:srgbClr val="17202A"/>
                </a:solidFill>
                <a:latin typeface="Tahoma"/>
                <a:cs typeface="Tahoma"/>
              </a:rPr>
              <a:t>Open</a:t>
            </a:r>
            <a:r>
              <a:rPr sz="1050" spc="-8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050" spc="-20">
                <a:solidFill>
                  <a:srgbClr val="17202A"/>
                </a:solidFill>
                <a:latin typeface="Tahoma"/>
                <a:cs typeface="Tahoma"/>
              </a:rPr>
              <a:t>Government</a:t>
            </a:r>
            <a:r>
              <a:rPr sz="1050" spc="-6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050" spc="-10">
                <a:solidFill>
                  <a:srgbClr val="17202A"/>
                </a:solidFill>
                <a:latin typeface="Tahoma"/>
                <a:cs typeface="Tahoma"/>
              </a:rPr>
              <a:t>datasets</a:t>
            </a:r>
            <a:endParaRPr sz="1050">
              <a:latin typeface="Tahoma"/>
              <a:cs typeface="Tahoma"/>
            </a:endParaRPr>
          </a:p>
          <a:p>
            <a:pPr marL="12700">
              <a:lnSpc>
                <a:spcPts val="1230"/>
              </a:lnSpc>
            </a:pPr>
            <a:r>
              <a:rPr sz="105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9"/>
              </a:rPr>
              <a:t>Home</a:t>
            </a:r>
            <a:r>
              <a:rPr sz="1050" u="sng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|</a:t>
            </a:r>
            <a:r>
              <a:rPr sz="1050" u="sng" spc="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9"/>
              </a:rPr>
              <a:t>Open</a:t>
            </a:r>
            <a:r>
              <a:rPr sz="1050" u="sng" spc="-7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9"/>
              </a:rPr>
              <a:t>Government Data</a:t>
            </a:r>
            <a:r>
              <a:rPr sz="1050" u="sng" spc="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105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9"/>
              </a:rPr>
              <a:t>(OGD)</a:t>
            </a:r>
            <a:r>
              <a:rPr sz="1050" u="sng" spc="-6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9"/>
              </a:rPr>
              <a:t>Platform</a:t>
            </a:r>
            <a:r>
              <a:rPr sz="1050" u="sng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0" u="sng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9"/>
              </a:rPr>
              <a:t>India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24980" y="1538287"/>
            <a:ext cx="4324350" cy="427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60">
                <a:solidFill>
                  <a:srgbClr val="0E364F"/>
                </a:solidFill>
                <a:latin typeface="Tahoma"/>
                <a:cs typeface="Tahoma"/>
              </a:rPr>
              <a:t>PostgreSQL+PostGIS</a:t>
            </a:r>
            <a:r>
              <a:rPr sz="1400" b="1" spc="22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800" spc="-15" baseline="2314">
                <a:solidFill>
                  <a:srgbClr val="17202A"/>
                </a:solidFill>
                <a:latin typeface="Tahoma"/>
                <a:cs typeface="Tahoma"/>
              </a:rPr>
              <a:t>Spatial</a:t>
            </a:r>
            <a:r>
              <a:rPr sz="1800" spc="-187" baseline="2314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800" spc="-15" baseline="2314">
                <a:solidFill>
                  <a:srgbClr val="17202A"/>
                </a:solidFill>
                <a:latin typeface="Tahoma"/>
                <a:cs typeface="Tahoma"/>
              </a:rPr>
              <a:t>queries,</a:t>
            </a:r>
            <a:r>
              <a:rPr sz="1800" spc="-225" baseline="2314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800" spc="-60" baseline="2314">
                <a:solidFill>
                  <a:srgbClr val="17202A"/>
                </a:solidFill>
                <a:latin typeface="Tahoma"/>
                <a:cs typeface="Tahoma"/>
              </a:rPr>
              <a:t>warning</a:t>
            </a:r>
            <a:r>
              <a:rPr sz="1800" spc="-202" baseline="2314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800" spc="-37" baseline="2314">
                <a:solidFill>
                  <a:srgbClr val="17202A"/>
                </a:solidFill>
                <a:latin typeface="Tahoma"/>
                <a:cs typeface="Tahoma"/>
              </a:rPr>
              <a:t>polygons</a:t>
            </a:r>
            <a:r>
              <a:rPr sz="1800" spc="-120" baseline="2314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800" spc="-37" baseline="2314">
                <a:solidFill>
                  <a:srgbClr val="17202A"/>
                </a:solidFill>
                <a:latin typeface="Tahoma"/>
                <a:cs typeface="Tahoma"/>
              </a:rPr>
              <a:t>and</a:t>
            </a:r>
            <a:endParaRPr sz="1800" baseline="2314">
              <a:latin typeface="Tahoma"/>
              <a:cs typeface="Tahoma"/>
            </a:endParaRPr>
          </a:p>
          <a:p>
            <a:pPr marL="1887855">
              <a:lnSpc>
                <a:spcPct val="100000"/>
              </a:lnSpc>
              <a:spcBef>
                <a:spcPts val="25"/>
              </a:spcBef>
            </a:pPr>
            <a:r>
              <a:rPr sz="1200" spc="-10">
                <a:solidFill>
                  <a:srgbClr val="17202A"/>
                </a:solidFill>
                <a:latin typeface="Tahoma"/>
                <a:cs typeface="Tahoma"/>
              </a:rPr>
              <a:t>route/location</a:t>
            </a:r>
            <a:r>
              <a:rPr sz="1200" spc="-8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17202A"/>
                </a:solidFill>
                <a:latin typeface="Tahoma"/>
                <a:cs typeface="Tahoma"/>
              </a:rPr>
              <a:t>matching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324980" y="2181478"/>
            <a:ext cx="128016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105">
                <a:solidFill>
                  <a:srgbClr val="0E364F"/>
                </a:solidFill>
                <a:latin typeface="Tahoma"/>
                <a:cs typeface="Tahoma"/>
              </a:rPr>
              <a:t>FastAPI</a:t>
            </a:r>
            <a:r>
              <a:rPr sz="1400" b="1" spc="-17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400" b="1" spc="-30">
                <a:solidFill>
                  <a:srgbClr val="0E364F"/>
                </a:solidFill>
                <a:latin typeface="Tahoma"/>
                <a:cs typeface="Tahoma"/>
              </a:rPr>
              <a:t>+Redis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98358" y="2190432"/>
            <a:ext cx="304419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10">
                <a:solidFill>
                  <a:srgbClr val="17202A"/>
                </a:solidFill>
                <a:latin typeface="Tahoma"/>
                <a:cs typeface="Tahoma"/>
              </a:rPr>
              <a:t>Async</a:t>
            </a:r>
            <a:r>
              <a:rPr sz="1100" spc="-15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 spc="-35">
                <a:solidFill>
                  <a:srgbClr val="17202A"/>
                </a:solidFill>
                <a:latin typeface="Tahoma"/>
                <a:cs typeface="Tahoma"/>
              </a:rPr>
              <a:t>API</a:t>
            </a:r>
            <a:r>
              <a:rPr sz="1100" spc="-15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 spc="-30">
                <a:solidFill>
                  <a:srgbClr val="17202A"/>
                </a:solidFill>
                <a:latin typeface="Tahoma"/>
                <a:cs typeface="Tahoma"/>
              </a:rPr>
              <a:t>layer,</a:t>
            </a:r>
            <a:r>
              <a:rPr sz="1100" spc="-11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>
                <a:solidFill>
                  <a:srgbClr val="17202A"/>
                </a:solidFill>
                <a:latin typeface="Tahoma"/>
                <a:cs typeface="Tahoma"/>
              </a:rPr>
              <a:t>caching and</a:t>
            </a:r>
            <a:r>
              <a:rPr sz="1100" spc="-114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 spc="-10">
                <a:solidFill>
                  <a:srgbClr val="17202A"/>
                </a:solidFill>
                <a:latin typeface="Tahoma"/>
                <a:cs typeface="Tahoma"/>
              </a:rPr>
              <a:t>request</a:t>
            </a:r>
            <a:r>
              <a:rPr sz="1100" spc="-9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 spc="-10">
                <a:solidFill>
                  <a:srgbClr val="17202A"/>
                </a:solidFill>
                <a:latin typeface="Tahoma"/>
                <a:cs typeface="Tahoma"/>
              </a:rPr>
              <a:t>orchestration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99580" y="2766631"/>
            <a:ext cx="488759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100" b="1" spc="-127" baseline="-5952">
                <a:solidFill>
                  <a:srgbClr val="0E364F"/>
                </a:solidFill>
                <a:latin typeface="Tahoma"/>
                <a:cs typeface="Tahoma"/>
              </a:rPr>
              <a:t>LangChain</a:t>
            </a:r>
            <a:r>
              <a:rPr sz="2100" b="1" spc="-225" baseline="-5952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2100" b="1" spc="-60" baseline="-5952">
                <a:solidFill>
                  <a:srgbClr val="0E364F"/>
                </a:solidFill>
                <a:latin typeface="Tahoma"/>
                <a:cs typeface="Tahoma"/>
              </a:rPr>
              <a:t>/LLM</a:t>
            </a:r>
            <a:r>
              <a:rPr sz="2100" b="1" spc="-284" baseline="-5952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100" spc="-20">
                <a:solidFill>
                  <a:srgbClr val="17202A"/>
                </a:solidFill>
                <a:latin typeface="Tahoma"/>
                <a:cs typeface="Tahoma"/>
              </a:rPr>
              <a:t>Structured</a:t>
            </a:r>
            <a:r>
              <a:rPr sz="1100" spc="-10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>
                <a:solidFill>
                  <a:srgbClr val="17202A"/>
                </a:solidFill>
                <a:latin typeface="Tahoma"/>
                <a:cs typeface="Tahoma"/>
              </a:rPr>
              <a:t>tool</a:t>
            </a:r>
            <a:r>
              <a:rPr sz="1100" spc="-7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>
                <a:solidFill>
                  <a:srgbClr val="17202A"/>
                </a:solidFill>
                <a:latin typeface="Tahoma"/>
                <a:cs typeface="Tahoma"/>
              </a:rPr>
              <a:t>calling</a:t>
            </a:r>
            <a:r>
              <a:rPr sz="1100" spc="-11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>
                <a:solidFill>
                  <a:srgbClr val="17202A"/>
                </a:solidFill>
                <a:latin typeface="Tahoma"/>
                <a:cs typeface="Tahoma"/>
              </a:rPr>
              <a:t>and</a:t>
            </a:r>
            <a:r>
              <a:rPr sz="1100" spc="-114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 spc="-10">
                <a:solidFill>
                  <a:srgbClr val="17202A"/>
                </a:solidFill>
                <a:latin typeface="Tahoma"/>
                <a:cs typeface="Tahoma"/>
              </a:rPr>
              <a:t>grounded</a:t>
            </a:r>
            <a:r>
              <a:rPr sz="1100" spc="-14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 spc="-10">
                <a:solidFill>
                  <a:srgbClr val="17202A"/>
                </a:solidFill>
                <a:latin typeface="Tahoma"/>
                <a:cs typeface="Tahoma"/>
              </a:rPr>
              <a:t>response</a:t>
            </a:r>
            <a:r>
              <a:rPr sz="1100" spc="-5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 spc="-10">
                <a:solidFill>
                  <a:srgbClr val="17202A"/>
                </a:solidFill>
                <a:latin typeface="Tahoma"/>
                <a:cs typeface="Tahoma"/>
              </a:rPr>
              <a:t>generation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324980" y="3410584"/>
            <a:ext cx="73787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60">
                <a:solidFill>
                  <a:srgbClr val="0E364F"/>
                </a:solidFill>
                <a:latin typeface="Tahoma"/>
                <a:cs typeface="Tahoma"/>
              </a:rPr>
              <a:t>Bhashini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698358" y="3420109"/>
            <a:ext cx="212661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5">
                <a:solidFill>
                  <a:srgbClr val="17202A"/>
                </a:solidFill>
                <a:latin typeface="Tahoma"/>
                <a:cs typeface="Tahoma"/>
              </a:rPr>
              <a:t>Regional-</a:t>
            </a:r>
            <a:r>
              <a:rPr sz="1100" spc="-35">
                <a:solidFill>
                  <a:srgbClr val="17202A"/>
                </a:solidFill>
                <a:latin typeface="Tahoma"/>
                <a:cs typeface="Tahoma"/>
              </a:rPr>
              <a:t>language</a:t>
            </a:r>
            <a:r>
              <a:rPr sz="1100" spc="-7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>
                <a:solidFill>
                  <a:srgbClr val="17202A"/>
                </a:solidFill>
                <a:latin typeface="Tahoma"/>
                <a:cs typeface="Tahoma"/>
              </a:rPr>
              <a:t>ASR</a:t>
            </a:r>
            <a:r>
              <a:rPr sz="1100" spc="-10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>
                <a:solidFill>
                  <a:srgbClr val="17202A"/>
                </a:solidFill>
                <a:latin typeface="Tahoma"/>
                <a:cs typeface="Tahoma"/>
              </a:rPr>
              <a:t>/</a:t>
            </a:r>
            <a:r>
              <a:rPr sz="1100" spc="-12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 spc="-10">
                <a:solidFill>
                  <a:srgbClr val="17202A"/>
                </a:solidFill>
                <a:latin typeface="Tahoma"/>
                <a:cs typeface="Tahoma"/>
              </a:rPr>
              <a:t>NMT</a:t>
            </a:r>
            <a:r>
              <a:rPr sz="1100" spc="-15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>
                <a:solidFill>
                  <a:srgbClr val="17202A"/>
                </a:solidFill>
                <a:latin typeface="Tahoma"/>
                <a:cs typeface="Tahoma"/>
              </a:rPr>
              <a:t>/</a:t>
            </a:r>
            <a:r>
              <a:rPr sz="1100" spc="-13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 spc="-25">
                <a:solidFill>
                  <a:srgbClr val="17202A"/>
                </a:solidFill>
                <a:latin typeface="Tahoma"/>
                <a:cs typeface="Tahoma"/>
              </a:rPr>
              <a:t>TTS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324980" y="4023931"/>
            <a:ext cx="107315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65">
                <a:solidFill>
                  <a:srgbClr val="0E364F"/>
                </a:solidFill>
                <a:latin typeface="Tahoma"/>
                <a:cs typeface="Tahoma"/>
              </a:rPr>
              <a:t>React</a:t>
            </a:r>
            <a:r>
              <a:rPr sz="1400" b="1" spc="-17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400" b="1" spc="-40">
                <a:solidFill>
                  <a:srgbClr val="0E364F"/>
                </a:solidFill>
                <a:latin typeface="Tahoma"/>
                <a:cs typeface="Tahoma"/>
              </a:rPr>
              <a:t>Native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698358" y="4033837"/>
            <a:ext cx="353758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10">
                <a:solidFill>
                  <a:srgbClr val="17202A"/>
                </a:solidFill>
                <a:latin typeface="Tahoma"/>
                <a:cs typeface="Tahoma"/>
              </a:rPr>
              <a:t>Cross-platform</a:t>
            </a:r>
            <a:r>
              <a:rPr sz="1100" spc="-2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 spc="-10">
                <a:solidFill>
                  <a:srgbClr val="17202A"/>
                </a:solidFill>
                <a:latin typeface="Tahoma"/>
                <a:cs typeface="Tahoma"/>
              </a:rPr>
              <a:t>mobile</a:t>
            </a:r>
            <a:r>
              <a:rPr sz="1100" spc="-12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>
                <a:solidFill>
                  <a:srgbClr val="17202A"/>
                </a:solidFill>
                <a:latin typeface="Tahoma"/>
                <a:cs typeface="Tahoma"/>
              </a:rPr>
              <a:t>interface</a:t>
            </a:r>
            <a:r>
              <a:rPr sz="1100" spc="-55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>
                <a:solidFill>
                  <a:srgbClr val="17202A"/>
                </a:solidFill>
                <a:latin typeface="Tahoma"/>
                <a:cs typeface="Tahoma"/>
              </a:rPr>
              <a:t>and</a:t>
            </a:r>
            <a:r>
              <a:rPr sz="1100" spc="-9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 spc="-10">
                <a:solidFill>
                  <a:srgbClr val="17202A"/>
                </a:solidFill>
                <a:latin typeface="Tahoma"/>
                <a:cs typeface="Tahoma"/>
              </a:rPr>
              <a:t>map/voice</a:t>
            </a:r>
            <a:r>
              <a:rPr sz="1100" spc="-10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 spc="-10">
                <a:solidFill>
                  <a:srgbClr val="17202A"/>
                </a:solidFill>
                <a:latin typeface="Tahoma"/>
                <a:cs typeface="Tahoma"/>
              </a:rPr>
              <a:t>interaction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324980" y="4638357"/>
            <a:ext cx="61849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45">
                <a:solidFill>
                  <a:srgbClr val="0E364F"/>
                </a:solidFill>
                <a:latin typeface="Tahoma"/>
                <a:cs typeface="Tahoma"/>
              </a:rPr>
              <a:t>Docker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698358" y="4647882"/>
            <a:ext cx="161099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>
                <a:solidFill>
                  <a:srgbClr val="17202A"/>
                </a:solidFill>
                <a:latin typeface="Tahoma"/>
                <a:cs typeface="Tahoma"/>
              </a:rPr>
              <a:t>Containerized</a:t>
            </a:r>
            <a:r>
              <a:rPr sz="1100" spc="-110">
                <a:solidFill>
                  <a:srgbClr val="17202A"/>
                </a:solidFill>
                <a:latin typeface="Tahoma"/>
                <a:cs typeface="Tahoma"/>
              </a:rPr>
              <a:t> </a:t>
            </a:r>
            <a:r>
              <a:rPr sz="1100" spc="-10">
                <a:solidFill>
                  <a:srgbClr val="17202A"/>
                </a:solidFill>
                <a:latin typeface="Tahoma"/>
                <a:cs typeface="Tahoma"/>
              </a:rPr>
              <a:t>deployment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14350" y="5201824"/>
            <a:ext cx="11029950" cy="770890"/>
            <a:chOff x="514350" y="5201824"/>
            <a:chExt cx="11029950" cy="770890"/>
          </a:xfrm>
        </p:grpSpPr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4350" y="5201824"/>
              <a:ext cx="11029950" cy="77035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42925" y="5219700"/>
              <a:ext cx="10981690" cy="647700"/>
            </a:xfrm>
            <a:custGeom>
              <a:avLst/>
              <a:gdLst/>
              <a:ahLst/>
              <a:cxnLst/>
              <a:rect l="l" t="t" r="r" b="b"/>
              <a:pathLst>
                <a:path w="10981690" h="647700">
                  <a:moveTo>
                    <a:pt x="10924413" y="0"/>
                  </a:moveTo>
                  <a:lnTo>
                    <a:pt x="57213" y="0"/>
                  </a:lnTo>
                  <a:lnTo>
                    <a:pt x="34937" y="8508"/>
                  </a:lnTo>
                  <a:lnTo>
                    <a:pt x="16751" y="31622"/>
                  </a:lnTo>
                  <a:lnTo>
                    <a:pt x="4495" y="65786"/>
                  </a:lnTo>
                  <a:lnTo>
                    <a:pt x="0" y="107822"/>
                  </a:lnTo>
                  <a:lnTo>
                    <a:pt x="0" y="539622"/>
                  </a:lnTo>
                  <a:lnTo>
                    <a:pt x="4495" y="581647"/>
                  </a:lnTo>
                  <a:lnTo>
                    <a:pt x="16751" y="615962"/>
                  </a:lnTo>
                  <a:lnTo>
                    <a:pt x="34937" y="639089"/>
                  </a:lnTo>
                  <a:lnTo>
                    <a:pt x="57213" y="647572"/>
                  </a:lnTo>
                  <a:lnTo>
                    <a:pt x="10924413" y="647572"/>
                  </a:lnTo>
                  <a:lnTo>
                    <a:pt x="10946765" y="639089"/>
                  </a:lnTo>
                  <a:lnTo>
                    <a:pt x="10964926" y="615962"/>
                  </a:lnTo>
                  <a:lnTo>
                    <a:pt x="10977245" y="581647"/>
                  </a:lnTo>
                  <a:lnTo>
                    <a:pt x="10981690" y="539622"/>
                  </a:lnTo>
                  <a:lnTo>
                    <a:pt x="10981690" y="107822"/>
                  </a:lnTo>
                  <a:lnTo>
                    <a:pt x="10977245" y="65786"/>
                  </a:lnTo>
                  <a:lnTo>
                    <a:pt x="10964926" y="31622"/>
                  </a:lnTo>
                  <a:lnTo>
                    <a:pt x="10946765" y="8508"/>
                  </a:lnTo>
                  <a:lnTo>
                    <a:pt x="10924413" y="0"/>
                  </a:lnTo>
                  <a:close/>
                </a:path>
              </a:pathLst>
            </a:custGeom>
            <a:solidFill>
              <a:srgbClr val="EC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47687" y="5224526"/>
              <a:ext cx="10982325" cy="647700"/>
            </a:xfrm>
            <a:custGeom>
              <a:avLst/>
              <a:gdLst/>
              <a:ahLst/>
              <a:cxnLst/>
              <a:rect l="l" t="t" r="r" b="b"/>
              <a:pathLst>
                <a:path w="10982325" h="647700">
                  <a:moveTo>
                    <a:pt x="0" y="107823"/>
                  </a:moveTo>
                  <a:lnTo>
                    <a:pt x="4495" y="65786"/>
                  </a:lnTo>
                  <a:lnTo>
                    <a:pt x="16751" y="31496"/>
                  </a:lnTo>
                  <a:lnTo>
                    <a:pt x="34937" y="8382"/>
                  </a:lnTo>
                  <a:lnTo>
                    <a:pt x="57213" y="0"/>
                  </a:lnTo>
                  <a:lnTo>
                    <a:pt x="10924476" y="0"/>
                  </a:lnTo>
                  <a:lnTo>
                    <a:pt x="10946701" y="8382"/>
                  </a:lnTo>
                  <a:lnTo>
                    <a:pt x="10964989" y="31496"/>
                  </a:lnTo>
                  <a:lnTo>
                    <a:pt x="10977308" y="65786"/>
                  </a:lnTo>
                  <a:lnTo>
                    <a:pt x="10981753" y="107823"/>
                  </a:lnTo>
                  <a:lnTo>
                    <a:pt x="10981753" y="539572"/>
                  </a:lnTo>
                  <a:lnTo>
                    <a:pt x="10977308" y="581583"/>
                  </a:lnTo>
                  <a:lnTo>
                    <a:pt x="10964989" y="615899"/>
                  </a:lnTo>
                  <a:lnTo>
                    <a:pt x="10946701" y="639025"/>
                  </a:lnTo>
                  <a:lnTo>
                    <a:pt x="10924476" y="647522"/>
                  </a:lnTo>
                  <a:lnTo>
                    <a:pt x="57213" y="647522"/>
                  </a:lnTo>
                  <a:lnTo>
                    <a:pt x="34937" y="639025"/>
                  </a:lnTo>
                  <a:lnTo>
                    <a:pt x="16751" y="615899"/>
                  </a:lnTo>
                  <a:lnTo>
                    <a:pt x="4495" y="581583"/>
                  </a:lnTo>
                  <a:lnTo>
                    <a:pt x="0" y="539572"/>
                  </a:lnTo>
                  <a:lnTo>
                    <a:pt x="0" y="107823"/>
                  </a:lnTo>
                  <a:close/>
                </a:path>
              </a:pathLst>
            </a:custGeom>
            <a:ln w="10160">
              <a:solidFill>
                <a:srgbClr val="C8DC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40080" y="5230558"/>
            <a:ext cx="9853930" cy="590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solidFill>
                  <a:srgbClr val="0E364F"/>
                </a:solidFill>
                <a:latin typeface="Tahoma"/>
                <a:cs typeface="Tahoma"/>
              </a:rPr>
              <a:t>VALIDATION</a:t>
            </a:r>
            <a:r>
              <a:rPr sz="1200" b="1" spc="-6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 spc="-10">
                <a:solidFill>
                  <a:srgbClr val="0E364F"/>
                </a:solidFill>
                <a:latin typeface="Tahoma"/>
                <a:cs typeface="Tahoma"/>
              </a:rPr>
              <a:t>FOUNDATION</a:t>
            </a:r>
            <a:endParaRPr sz="1200">
              <a:latin typeface="Tahoma"/>
              <a:cs typeface="Tahoma"/>
            </a:endParaRPr>
          </a:p>
          <a:p>
            <a:pPr marL="12700" marR="5080">
              <a:lnSpc>
                <a:spcPct val="104299"/>
              </a:lnSpc>
            </a:pPr>
            <a:r>
              <a:rPr sz="1200" b="1">
                <a:solidFill>
                  <a:srgbClr val="0E364F"/>
                </a:solidFill>
                <a:latin typeface="Tahoma"/>
                <a:cs typeface="Tahoma"/>
              </a:rPr>
              <a:t>Consensus</a:t>
            </a:r>
            <a:r>
              <a:rPr sz="1200" b="1" spc="-2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0E364F"/>
                </a:solidFill>
                <a:latin typeface="Tahoma"/>
                <a:cs typeface="Tahoma"/>
              </a:rPr>
              <a:t>score</a:t>
            </a:r>
            <a:r>
              <a:rPr sz="1200" b="1" spc="-3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0E364F"/>
                </a:solidFill>
                <a:latin typeface="Tahoma"/>
                <a:cs typeface="Tahoma"/>
              </a:rPr>
              <a:t>•</a:t>
            </a:r>
            <a:r>
              <a:rPr sz="1200" b="1" spc="-1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0E364F"/>
                </a:solidFill>
                <a:latin typeface="Tahoma"/>
                <a:cs typeface="Tahoma"/>
              </a:rPr>
              <a:t>Risk</a:t>
            </a:r>
            <a:r>
              <a:rPr sz="1200" b="1" spc="-4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0E364F"/>
                </a:solidFill>
                <a:latin typeface="Tahoma"/>
                <a:cs typeface="Tahoma"/>
              </a:rPr>
              <a:t>thresholds</a:t>
            </a:r>
            <a:r>
              <a:rPr sz="1200" b="1" spc="-8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0E364F"/>
                </a:solidFill>
                <a:latin typeface="Tahoma"/>
                <a:cs typeface="Tahoma"/>
              </a:rPr>
              <a:t>•</a:t>
            </a:r>
            <a:r>
              <a:rPr sz="1200" b="1" spc="-1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0E364F"/>
                </a:solidFill>
                <a:latin typeface="Tahoma"/>
                <a:cs typeface="Tahoma"/>
              </a:rPr>
              <a:t>spatial</a:t>
            </a:r>
            <a:r>
              <a:rPr sz="1200" b="1" spc="-5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0E364F"/>
                </a:solidFill>
                <a:latin typeface="Tahoma"/>
                <a:cs typeface="Tahoma"/>
              </a:rPr>
              <a:t>Point-</a:t>
            </a:r>
            <a:r>
              <a:rPr sz="1200" b="1" spc="-10">
                <a:solidFill>
                  <a:srgbClr val="0E364F"/>
                </a:solidFill>
                <a:latin typeface="Tahoma"/>
                <a:cs typeface="Tahoma"/>
              </a:rPr>
              <a:t>in-</a:t>
            </a:r>
            <a:r>
              <a:rPr sz="1200" b="1">
                <a:solidFill>
                  <a:srgbClr val="0E364F"/>
                </a:solidFill>
                <a:latin typeface="Tahoma"/>
                <a:cs typeface="Tahoma"/>
              </a:rPr>
              <a:t>Polygon</a:t>
            </a:r>
            <a:r>
              <a:rPr sz="1200" b="1" spc="-1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0E364F"/>
                </a:solidFill>
                <a:latin typeface="Tahoma"/>
                <a:cs typeface="Tahoma"/>
              </a:rPr>
              <a:t>checks</a:t>
            </a:r>
            <a:r>
              <a:rPr sz="1200" b="1" spc="-1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0E364F"/>
                </a:solidFill>
                <a:latin typeface="Tahoma"/>
                <a:cs typeface="Tahoma"/>
              </a:rPr>
              <a:t>•</a:t>
            </a:r>
            <a:r>
              <a:rPr sz="1200" b="1" spc="-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0E364F"/>
                </a:solidFill>
                <a:latin typeface="Tahoma"/>
                <a:cs typeface="Tahoma"/>
              </a:rPr>
              <a:t>latency</a:t>
            </a:r>
            <a:r>
              <a:rPr sz="1200" b="1" spc="-1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0E364F"/>
                </a:solidFill>
                <a:latin typeface="Tahoma"/>
                <a:cs typeface="Tahoma"/>
              </a:rPr>
              <a:t>tests</a:t>
            </a:r>
            <a:r>
              <a:rPr sz="1200" b="1" spc="-1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0E364F"/>
                </a:solidFill>
                <a:latin typeface="Tahoma"/>
                <a:cs typeface="Tahoma"/>
              </a:rPr>
              <a:t>(&lt;3s)</a:t>
            </a:r>
            <a:r>
              <a:rPr sz="1200" b="1" spc="-1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0E364F"/>
                </a:solidFill>
                <a:latin typeface="Tahoma"/>
                <a:cs typeface="Tahoma"/>
              </a:rPr>
              <a:t>•</a:t>
            </a:r>
            <a:r>
              <a:rPr sz="1200" b="1" spc="-10">
                <a:solidFill>
                  <a:srgbClr val="0E364F"/>
                </a:solidFill>
                <a:latin typeface="Tahoma"/>
                <a:cs typeface="Tahoma"/>
              </a:rPr>
              <a:t> multilingual/voice</a:t>
            </a:r>
            <a:r>
              <a:rPr sz="1200" b="1" spc="4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0E364F"/>
                </a:solidFill>
                <a:latin typeface="Tahoma"/>
                <a:cs typeface="Tahoma"/>
              </a:rPr>
              <a:t>evaluation</a:t>
            </a:r>
            <a:r>
              <a:rPr sz="1200" b="1" spc="-1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0E364F"/>
                </a:solidFill>
                <a:latin typeface="Tahoma"/>
                <a:cs typeface="Tahoma"/>
              </a:rPr>
              <a:t>•</a:t>
            </a:r>
            <a:r>
              <a:rPr sz="1200" b="1" spc="-8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 spc="-25">
                <a:solidFill>
                  <a:srgbClr val="0E364F"/>
                </a:solidFill>
                <a:latin typeface="Tahoma"/>
                <a:cs typeface="Tahoma"/>
              </a:rPr>
              <a:t>SMS </a:t>
            </a:r>
            <a:r>
              <a:rPr sz="1200" b="1">
                <a:solidFill>
                  <a:srgbClr val="0E364F"/>
                </a:solidFill>
                <a:latin typeface="Tahoma"/>
                <a:cs typeface="Tahoma"/>
              </a:rPr>
              <a:t>delivery</a:t>
            </a:r>
            <a:r>
              <a:rPr sz="1200" b="1" spc="-35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 spc="-20">
                <a:solidFill>
                  <a:srgbClr val="0E364F"/>
                </a:solidFill>
                <a:latin typeface="Tahoma"/>
                <a:cs typeface="Tahoma"/>
              </a:rPr>
              <a:t>tests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660640" y="1163256"/>
            <a:ext cx="19088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solidFill>
                  <a:srgbClr val="0E364F"/>
                </a:solidFill>
                <a:latin typeface="Tahoma"/>
                <a:cs typeface="Tahoma"/>
              </a:rPr>
              <a:t>AI</a:t>
            </a:r>
            <a:r>
              <a:rPr sz="1200" b="1" spc="-4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>
                <a:solidFill>
                  <a:srgbClr val="0E364F"/>
                </a:solidFill>
                <a:latin typeface="Tahoma"/>
                <a:cs typeface="Tahoma"/>
              </a:rPr>
              <a:t>/ GIS</a:t>
            </a:r>
            <a:r>
              <a:rPr sz="1200" b="1" spc="10">
                <a:solidFill>
                  <a:srgbClr val="0E364F"/>
                </a:solidFill>
                <a:latin typeface="Tahoma"/>
                <a:cs typeface="Tahoma"/>
              </a:rPr>
              <a:t> </a:t>
            </a:r>
            <a:r>
              <a:rPr sz="1200" b="1" spc="-10">
                <a:solidFill>
                  <a:srgbClr val="0E364F"/>
                </a:solidFill>
                <a:latin typeface="Tahoma"/>
                <a:cs typeface="Tahoma"/>
              </a:rPr>
              <a:t>/ENGINEERING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3F5F9224-0F0D-F60E-9D5C-04446C6A421A}"/>
              </a:ext>
            </a:extLst>
          </p:cNvPr>
          <p:cNvSpPr txBox="1"/>
          <p:nvPr/>
        </p:nvSpPr>
        <p:spPr>
          <a:xfrm>
            <a:off x="297628" y="263174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GRIFFINS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33A93A5-D2FB-3C92-26DB-F76FEAA669E5}"/>
              </a:ext>
            </a:extLst>
          </p:cNvPr>
          <p:cNvSpPr/>
          <p:nvPr/>
        </p:nvSpPr>
        <p:spPr>
          <a:xfrm>
            <a:off x="308020" y="406026"/>
            <a:ext cx="1470096" cy="56003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98212AF-2575-58E1-2744-186560C5BED3}"/>
              </a:ext>
            </a:extLst>
          </p:cNvPr>
          <p:cNvSpPr/>
          <p:nvPr/>
        </p:nvSpPr>
        <p:spPr>
          <a:xfrm>
            <a:off x="196013" y="187628"/>
            <a:ext cx="1568102" cy="84005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1787</Words>
  <Application>Microsoft Office PowerPoint</Application>
  <PresentationFormat>Widescreen</PresentationFormat>
  <Paragraphs>328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Arial MT</vt:lpstr>
      <vt:lpstr>Calibri</vt:lpstr>
      <vt:lpstr>Courier New</vt:lpstr>
      <vt:lpstr>Georgia</vt:lpstr>
      <vt:lpstr>Tahoma</vt:lpstr>
      <vt:lpstr>Times New Roman</vt:lpstr>
      <vt:lpstr>Trebuchet MS</vt:lpstr>
      <vt:lpstr>Office Theme</vt:lpstr>
      <vt:lpstr>SMART INDIA HACKATHON 2026</vt:lpstr>
      <vt:lpstr>Conversational Weather Intelligence for Smarter Decisions</vt:lpstr>
      <vt:lpstr>PowerPoint Presentation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roshna rithi</dc:creator>
  <cp:lastModifiedBy>Sadhana Shruthi</cp:lastModifiedBy>
  <cp:revision>329</cp:revision>
  <dcterms:created xsi:type="dcterms:W3CDTF">2026-09-12T08:52:23Z</dcterms:created>
  <dcterms:modified xsi:type="dcterms:W3CDTF">2026-09-13T15:34:42Z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2026-09-10T00:00:00Z</vt:filetime>
  </property>
  <property fmtid="{D5CDD505-2E9C-101B-9397-08002B2CF9AE}" pid="4" name="LastSaved">
    <vt:filetime>2026-09-12T00:00:00Z</vt:filetime>
  </property>
</Properties>
</file>